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x="18288000" cy="10287000"/>
  <p:notesSz cx="6858000" cy="9144000"/>
  <p:embeddedFontLst>
    <p:embeddedFont>
      <p:font typeface="Times New Roman Bold" charset="1" panose="02020803070505020304"/>
      <p:regular r:id="rId42"/>
    </p:embeddedFont>
    <p:embeddedFont>
      <p:font typeface="Times New Roman" charset="1" panose="02020603050405020304"/>
      <p:regular r:id="rId43"/>
    </p:embeddedFont>
    <p:embeddedFont>
      <p:font typeface="Canva Sans" charset="1" panose="020B0503030501040103"/>
      <p:regular r:id="rId44"/>
    </p:embeddedFont>
    <p:embeddedFont>
      <p:font typeface="Canva Sans Bold" charset="1" panose="020B0803030501040103"/>
      <p:regular r:id="rId4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 Id="rId6" Target="../media/image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14.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15.png" Type="http://schemas.openxmlformats.org/officeDocument/2006/relationships/image"/><Relationship Id="rId5" Target="../media/image16.png" Type="http://schemas.openxmlformats.org/officeDocument/2006/relationships/image"/><Relationship Id="rId6" Target="../media/image6.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17.jpeg" Type="http://schemas.openxmlformats.org/officeDocument/2006/relationships/image"/><Relationship Id="rId5" Target="../media/image18.jpeg" Type="http://schemas.openxmlformats.org/officeDocument/2006/relationships/image"/><Relationship Id="rId6" Target="../media/image19.jpeg" Type="http://schemas.openxmlformats.org/officeDocument/2006/relationships/image"/><Relationship Id="rId7" Target="../media/image6.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20.jpeg" Type="http://schemas.openxmlformats.org/officeDocument/2006/relationships/image"/><Relationship Id="rId5" Target="../media/image21.jpeg" Type="http://schemas.openxmlformats.org/officeDocument/2006/relationships/image"/><Relationship Id="rId6" Target="../media/image6.png" Type="http://schemas.openxmlformats.org/officeDocument/2006/relationships/image"/><Relationship Id="rId7" Target="../media/image22.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23.jpeg" Type="http://schemas.openxmlformats.org/officeDocument/2006/relationships/image"/><Relationship Id="rId5" Target="../media/image24.jpeg" Type="http://schemas.openxmlformats.org/officeDocument/2006/relationships/image"/><Relationship Id="rId6" Target="../media/image6.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25.png" Type="http://schemas.openxmlformats.org/officeDocument/2006/relationships/image"/><Relationship Id="rId5" Target="../media/image26.png" Type="http://schemas.openxmlformats.org/officeDocument/2006/relationships/image"/><Relationship Id="rId6" Target="../media/image6.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27.jpe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28.jpe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29.jpeg" Type="http://schemas.openxmlformats.org/officeDocument/2006/relationships/image"/><Relationship Id="rId5" Target="../media/image30.jpeg" Type="http://schemas.openxmlformats.org/officeDocument/2006/relationships/image"/><Relationship Id="rId6" Target="../media/image31.jpeg" Type="http://schemas.openxmlformats.org/officeDocument/2006/relationships/image"/><Relationship Id="rId7" Target="../media/image6.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32.jpeg" Type="http://schemas.openxmlformats.org/officeDocument/2006/relationships/image"/><Relationship Id="rId6" Target="../media/image33.jpe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jpeg" Type="http://schemas.openxmlformats.org/officeDocument/2006/relationships/image"/><Relationship Id="rId3" Target="../media/image35.jpeg" Type="http://schemas.openxmlformats.org/officeDocument/2006/relationships/image"/><Relationship Id="rId4" Target="../media/image36.jpe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7167183"/>
            <a:ext cx="18288000" cy="3119817"/>
          </a:xfrm>
          <a:custGeom>
            <a:avLst/>
            <a:gdLst/>
            <a:ahLst/>
            <a:cxnLst/>
            <a:rect r="r" b="b" t="t" l="l"/>
            <a:pathLst>
              <a:path h="3119817" w="18288000">
                <a:moveTo>
                  <a:pt x="0" y="0"/>
                </a:moveTo>
                <a:lnTo>
                  <a:pt x="18288000" y="0"/>
                </a:lnTo>
                <a:lnTo>
                  <a:pt x="18288000" y="3119817"/>
                </a:lnTo>
                <a:lnTo>
                  <a:pt x="0" y="3119817"/>
                </a:lnTo>
                <a:lnTo>
                  <a:pt x="0" y="0"/>
                </a:lnTo>
                <a:close/>
              </a:path>
            </a:pathLst>
          </a:custGeom>
          <a:blipFill>
            <a:blip r:embed="rId2"/>
            <a:stretch>
              <a:fillRect l="-665" t="-13923" r="0" b="-15158"/>
            </a:stretch>
          </a:blipFill>
        </p:spPr>
      </p:sp>
      <p:sp>
        <p:nvSpPr>
          <p:cNvPr name="Freeform 3" id="3"/>
          <p:cNvSpPr/>
          <p:nvPr/>
        </p:nvSpPr>
        <p:spPr>
          <a:xfrm flipH="false" flipV="false" rot="0">
            <a:off x="0" y="-9525"/>
            <a:ext cx="18288000" cy="7167183"/>
          </a:xfrm>
          <a:custGeom>
            <a:avLst/>
            <a:gdLst/>
            <a:ahLst/>
            <a:cxnLst/>
            <a:rect r="r" b="b" t="t" l="l"/>
            <a:pathLst>
              <a:path h="7167183" w="18288000">
                <a:moveTo>
                  <a:pt x="0" y="0"/>
                </a:moveTo>
                <a:lnTo>
                  <a:pt x="18288000" y="0"/>
                </a:lnTo>
                <a:lnTo>
                  <a:pt x="18288000" y="7167183"/>
                </a:lnTo>
                <a:lnTo>
                  <a:pt x="0" y="7167183"/>
                </a:lnTo>
                <a:lnTo>
                  <a:pt x="0" y="0"/>
                </a:lnTo>
                <a:close/>
              </a:path>
            </a:pathLst>
          </a:custGeom>
          <a:blipFill>
            <a:blip r:embed="rId3">
              <a:alphaModFix amt="67000"/>
            </a:blip>
            <a:stretch>
              <a:fillRect l="0" t="-33757" r="0" b="-57614"/>
            </a:stretch>
          </a:blipFill>
        </p:spPr>
      </p:sp>
      <p:sp>
        <p:nvSpPr>
          <p:cNvPr name="TextBox 4" id="4"/>
          <p:cNvSpPr txBox="true"/>
          <p:nvPr/>
        </p:nvSpPr>
        <p:spPr>
          <a:xfrm rot="0">
            <a:off x="2717290" y="1617581"/>
            <a:ext cx="12791891" cy="3195912"/>
          </a:xfrm>
          <a:prstGeom prst="rect">
            <a:avLst/>
          </a:prstGeom>
        </p:spPr>
        <p:txBody>
          <a:bodyPr anchor="t" rtlCol="false" tIns="0" lIns="0" bIns="0" rIns="0">
            <a:spAutoFit/>
          </a:bodyPr>
          <a:lstStyle/>
          <a:p>
            <a:pPr algn="ctr">
              <a:lnSpc>
                <a:spcPts val="8488"/>
              </a:lnSpc>
              <a:spcBef>
                <a:spcPct val="0"/>
              </a:spcBef>
            </a:pPr>
            <a:r>
              <a:rPr lang="en-US" b="true" sz="6063">
                <a:solidFill>
                  <a:srgbClr val="000000"/>
                </a:solidFill>
                <a:latin typeface="Times New Roman Bold"/>
                <a:ea typeface="Times New Roman Bold"/>
                <a:cs typeface="Times New Roman Bold"/>
                <a:sym typeface="Times New Roman Bold"/>
              </a:rPr>
              <a:t>Live in Labs II</a:t>
            </a:r>
          </a:p>
          <a:p>
            <a:pPr algn="ctr">
              <a:lnSpc>
                <a:spcPts val="8488"/>
              </a:lnSpc>
              <a:spcBef>
                <a:spcPct val="0"/>
              </a:spcBef>
            </a:pPr>
            <a:r>
              <a:rPr lang="en-US" b="true" sz="6063">
                <a:solidFill>
                  <a:srgbClr val="000000"/>
                </a:solidFill>
                <a:latin typeface="Times New Roman Bold"/>
                <a:ea typeface="Times New Roman Bold"/>
                <a:cs typeface="Times New Roman Bold"/>
                <a:sym typeface="Times New Roman Bold"/>
              </a:rPr>
              <a:t>Final Presentation</a:t>
            </a:r>
          </a:p>
          <a:p>
            <a:pPr algn="ctr">
              <a:lnSpc>
                <a:spcPts val="8488"/>
              </a:lnSpc>
              <a:spcBef>
                <a:spcPct val="0"/>
              </a:spcBef>
            </a:pPr>
            <a:r>
              <a:rPr lang="en-US" b="true" sz="6063">
                <a:solidFill>
                  <a:srgbClr val="000000"/>
                </a:solidFill>
                <a:latin typeface="Times New Roman Bold"/>
                <a:ea typeface="Times New Roman Bold"/>
                <a:cs typeface="Times New Roman Bold"/>
                <a:sym typeface="Times New Roman Bold"/>
              </a:rPr>
              <a:t>TEAM : ABHYUDAYA</a:t>
            </a:r>
          </a:p>
        </p:txBody>
      </p:sp>
      <p:sp>
        <p:nvSpPr>
          <p:cNvPr name="Freeform 5" id="5"/>
          <p:cNvSpPr/>
          <p:nvPr/>
        </p:nvSpPr>
        <p:spPr>
          <a:xfrm flipH="false" flipV="false" rot="0">
            <a:off x="6062928" y="-385793"/>
            <a:ext cx="6100615" cy="2600387"/>
          </a:xfrm>
          <a:custGeom>
            <a:avLst/>
            <a:gdLst/>
            <a:ahLst/>
            <a:cxnLst/>
            <a:rect r="r" b="b" t="t" l="l"/>
            <a:pathLst>
              <a:path h="2600387" w="6100615">
                <a:moveTo>
                  <a:pt x="0" y="0"/>
                </a:moveTo>
                <a:lnTo>
                  <a:pt x="6100614" y="0"/>
                </a:lnTo>
                <a:lnTo>
                  <a:pt x="6100614" y="2600386"/>
                </a:lnTo>
                <a:lnTo>
                  <a:pt x="0" y="2600386"/>
                </a:lnTo>
                <a:lnTo>
                  <a:pt x="0" y="0"/>
                </a:lnTo>
                <a:close/>
              </a:path>
            </a:pathLst>
          </a:custGeom>
          <a:blipFill>
            <a:blip r:embed="rId4"/>
            <a:stretch>
              <a:fillRect l="0" t="0" r="0" b="0"/>
            </a:stretch>
          </a:blipFill>
        </p:spPr>
      </p:sp>
      <p:sp>
        <p:nvSpPr>
          <p:cNvPr name="TextBox 6" id="6"/>
          <p:cNvSpPr txBox="true"/>
          <p:nvPr/>
        </p:nvSpPr>
        <p:spPr>
          <a:xfrm rot="0">
            <a:off x="12163542" y="4813493"/>
            <a:ext cx="5924655" cy="2287015"/>
          </a:xfrm>
          <a:prstGeom prst="rect">
            <a:avLst/>
          </a:prstGeom>
        </p:spPr>
        <p:txBody>
          <a:bodyPr anchor="t" rtlCol="false" tIns="0" lIns="0" bIns="0" rIns="0">
            <a:spAutoFit/>
          </a:bodyPr>
          <a:lstStyle/>
          <a:p>
            <a:pPr algn="ctr">
              <a:lnSpc>
                <a:spcPts val="3619"/>
              </a:lnSpc>
              <a:spcBef>
                <a:spcPct val="0"/>
              </a:spcBef>
            </a:pPr>
            <a:r>
              <a:rPr lang="en-US" sz="2585">
                <a:solidFill>
                  <a:srgbClr val="000000"/>
                </a:solidFill>
                <a:latin typeface="Times New Roman"/>
                <a:ea typeface="Times New Roman"/>
                <a:cs typeface="Times New Roman"/>
                <a:sym typeface="Times New Roman"/>
              </a:rPr>
              <a:t>Members : </a:t>
            </a:r>
          </a:p>
          <a:p>
            <a:pPr algn="ctr">
              <a:lnSpc>
                <a:spcPts val="3619"/>
              </a:lnSpc>
              <a:spcBef>
                <a:spcPct val="0"/>
              </a:spcBef>
            </a:pPr>
            <a:r>
              <a:rPr lang="en-US" sz="2585">
                <a:solidFill>
                  <a:srgbClr val="000000"/>
                </a:solidFill>
                <a:latin typeface="Times New Roman"/>
                <a:ea typeface="Times New Roman"/>
                <a:cs typeface="Times New Roman"/>
                <a:sym typeface="Times New Roman"/>
              </a:rPr>
              <a:t>Aditya Bhatt B – AM.EN.U4EEE23006</a:t>
            </a:r>
          </a:p>
          <a:p>
            <a:pPr algn="ctr">
              <a:lnSpc>
                <a:spcPts val="3619"/>
              </a:lnSpc>
              <a:spcBef>
                <a:spcPct val="0"/>
              </a:spcBef>
            </a:pPr>
            <a:r>
              <a:rPr lang="en-US" sz="2585">
                <a:solidFill>
                  <a:srgbClr val="000000"/>
                </a:solidFill>
                <a:latin typeface="Times New Roman"/>
                <a:ea typeface="Times New Roman"/>
                <a:cs typeface="Times New Roman"/>
                <a:sym typeface="Times New Roman"/>
              </a:rPr>
              <a:t>N Vivekananda – AM.EN.U4ECE22028</a:t>
            </a:r>
          </a:p>
          <a:p>
            <a:pPr algn="ctr">
              <a:lnSpc>
                <a:spcPts val="3619"/>
              </a:lnSpc>
              <a:spcBef>
                <a:spcPct val="0"/>
              </a:spcBef>
            </a:pPr>
            <a:r>
              <a:rPr lang="en-US" sz="2585">
                <a:solidFill>
                  <a:srgbClr val="000000"/>
                </a:solidFill>
                <a:latin typeface="Times New Roman"/>
                <a:ea typeface="Times New Roman"/>
                <a:cs typeface="Times New Roman"/>
                <a:sym typeface="Times New Roman"/>
              </a:rPr>
              <a:t>Krishnapriya V B – AM.EN.U4ECE22052</a:t>
            </a:r>
          </a:p>
          <a:p>
            <a:pPr algn="ctr">
              <a:lnSpc>
                <a:spcPts val="3619"/>
              </a:lnSpc>
              <a:spcBef>
                <a:spcPct val="0"/>
              </a:spcBef>
            </a:pPr>
            <a:r>
              <a:rPr lang="en-US" sz="2585">
                <a:solidFill>
                  <a:srgbClr val="000000"/>
                </a:solidFill>
                <a:latin typeface="Times New Roman"/>
                <a:ea typeface="Times New Roman"/>
                <a:cs typeface="Times New Roman"/>
                <a:sym typeface="Times New Roman"/>
              </a:rPr>
              <a:t>Vaishnav B Ajith – AM.EN.U4ELC23052</a:t>
            </a:r>
          </a:p>
        </p:txBody>
      </p:sp>
      <p:sp>
        <p:nvSpPr>
          <p:cNvPr name="TextBox 7" id="7"/>
          <p:cNvSpPr txBox="true"/>
          <p:nvPr/>
        </p:nvSpPr>
        <p:spPr>
          <a:xfrm rot="0">
            <a:off x="731401" y="9365816"/>
            <a:ext cx="152400" cy="228600"/>
          </a:xfrm>
          <a:prstGeom prst="rect">
            <a:avLst/>
          </a:prstGeom>
        </p:spPr>
        <p:txBody>
          <a:bodyPr anchor="t" rtlCol="false" tIns="0" lIns="0" bIns="0" rIns="0" wrap="none">
            <a:spAutoFit/>
          </a:bodyPr>
          <a:lstStyle/>
          <a:p>
            <a:pPr algn="ctr">
              <a:lnSpc>
                <a:spcPts val="5970"/>
              </a:lnSpc>
              <a:spcBef>
                <a:spcPct val="0"/>
              </a:spcBef>
            </a:pPr>
            <a:r>
              <a:rPr lang="en-US" sz="4264">
                <a:solidFill>
                  <a:srgbClr val="FFFFFF"/>
                </a:solidFill>
                <a:latin typeface="Canva Sans"/>
                <a:ea typeface="Canva Sans"/>
                <a:cs typeface="Canva Sans"/>
                <a:sym typeface="Canva Sans"/>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81628" y="282798"/>
            <a:ext cx="1470709" cy="1792426"/>
          </a:xfrm>
          <a:custGeom>
            <a:avLst/>
            <a:gdLst/>
            <a:ahLst/>
            <a:cxnLst/>
            <a:rect r="r" b="b" t="t" l="l"/>
            <a:pathLst>
              <a:path h="1792426" w="1470709">
                <a:moveTo>
                  <a:pt x="0" y="0"/>
                </a:moveTo>
                <a:lnTo>
                  <a:pt x="1470708" y="0"/>
                </a:lnTo>
                <a:lnTo>
                  <a:pt x="1470708" y="1792426"/>
                </a:lnTo>
                <a:lnTo>
                  <a:pt x="0" y="1792426"/>
                </a:lnTo>
                <a:lnTo>
                  <a:pt x="0" y="0"/>
                </a:lnTo>
                <a:close/>
              </a:path>
            </a:pathLst>
          </a:custGeom>
          <a:blipFill>
            <a:blip r:embed="rId2"/>
            <a:stretch>
              <a:fillRect l="0" t="0" r="0" b="0"/>
            </a:stretch>
          </a:blipFill>
        </p:spPr>
      </p:sp>
      <p:sp>
        <p:nvSpPr>
          <p:cNvPr name="Freeform 3" id="3"/>
          <p:cNvSpPr/>
          <p:nvPr/>
        </p:nvSpPr>
        <p:spPr>
          <a:xfrm flipH="false" flipV="false" rot="0">
            <a:off x="1028700" y="2432119"/>
            <a:ext cx="16230600" cy="142018"/>
          </a:xfrm>
          <a:custGeom>
            <a:avLst/>
            <a:gdLst/>
            <a:ahLst/>
            <a:cxnLst/>
            <a:rect r="r" b="b" t="t" l="l"/>
            <a:pathLst>
              <a:path h="142018" w="16230600">
                <a:moveTo>
                  <a:pt x="0" y="0"/>
                </a:moveTo>
                <a:lnTo>
                  <a:pt x="16230600" y="0"/>
                </a:lnTo>
                <a:lnTo>
                  <a:pt x="16230600" y="142017"/>
                </a:lnTo>
                <a:lnTo>
                  <a:pt x="0" y="142017"/>
                </a:lnTo>
                <a:lnTo>
                  <a:pt x="0" y="0"/>
                </a:lnTo>
                <a:close/>
              </a:path>
            </a:pathLst>
          </a:custGeom>
          <a:blipFill>
            <a:blip r:embed="rId3"/>
            <a:stretch>
              <a:fillRect l="0" t="0" r="0" b="0"/>
            </a:stretch>
          </a:blipFill>
        </p:spPr>
      </p:sp>
      <p:sp>
        <p:nvSpPr>
          <p:cNvPr name="TextBox 4" id="4"/>
          <p:cNvSpPr txBox="true"/>
          <p:nvPr/>
        </p:nvSpPr>
        <p:spPr>
          <a:xfrm rot="0">
            <a:off x="914400" y="2564611"/>
            <a:ext cx="16659794" cy="6965257"/>
          </a:xfrm>
          <a:prstGeom prst="rect">
            <a:avLst/>
          </a:prstGeom>
        </p:spPr>
        <p:txBody>
          <a:bodyPr anchor="t" rtlCol="false" tIns="0" lIns="0" bIns="0" rIns="0">
            <a:spAutoFit/>
          </a:bodyPr>
          <a:lstStyle/>
          <a:p>
            <a:pPr algn="l" marL="707562" indent="-353781" lvl="1">
              <a:lnSpc>
                <a:spcPts val="4588"/>
              </a:lnSpc>
              <a:buFont typeface="Arial"/>
              <a:buChar char="•"/>
            </a:pPr>
            <a:r>
              <a:rPr lang="en-US" b="true" sz="3277">
                <a:solidFill>
                  <a:srgbClr val="000000"/>
                </a:solidFill>
                <a:latin typeface="Times New Roman Bold"/>
                <a:ea typeface="Times New Roman Bold"/>
                <a:cs typeface="Times New Roman Bold"/>
                <a:sym typeface="Times New Roman Bold"/>
              </a:rPr>
              <a:t>Location:</a:t>
            </a:r>
            <a:r>
              <a:rPr lang="en-US" sz="3277">
                <a:solidFill>
                  <a:srgbClr val="000000"/>
                </a:solidFill>
                <a:latin typeface="Times New Roman"/>
                <a:ea typeface="Times New Roman"/>
                <a:cs typeface="Times New Roman"/>
                <a:sym typeface="Times New Roman"/>
              </a:rPr>
              <a:t> Naala is a small hilly village in Uttarakhand with around 30 households divided between upper and lower regions.</a:t>
            </a:r>
          </a:p>
          <a:p>
            <a:pPr algn="l" marL="707562" indent="-353781" lvl="1">
              <a:lnSpc>
                <a:spcPts val="4588"/>
              </a:lnSpc>
              <a:buFont typeface="Arial"/>
              <a:buChar char="•"/>
            </a:pPr>
            <a:r>
              <a:rPr lang="en-US" b="true" sz="3277">
                <a:solidFill>
                  <a:srgbClr val="000000"/>
                </a:solidFill>
                <a:latin typeface="Times New Roman Bold"/>
                <a:ea typeface="Times New Roman Bold"/>
                <a:cs typeface="Times New Roman Bold"/>
                <a:sym typeface="Times New Roman Bold"/>
              </a:rPr>
              <a:t>Livelihood: </a:t>
            </a:r>
            <a:r>
              <a:rPr lang="en-US" sz="3277">
                <a:solidFill>
                  <a:srgbClr val="000000"/>
                </a:solidFill>
                <a:latin typeface="Times New Roman"/>
                <a:ea typeface="Times New Roman"/>
                <a:cs typeface="Times New Roman"/>
                <a:sym typeface="Times New Roman"/>
              </a:rPr>
              <a:t>Most villagers depend on agriculture and daily wage work for their income.</a:t>
            </a:r>
          </a:p>
          <a:p>
            <a:pPr algn="l" marL="707562" indent="-353781" lvl="1">
              <a:lnSpc>
                <a:spcPts val="4588"/>
              </a:lnSpc>
              <a:buFont typeface="Arial"/>
              <a:buChar char="•"/>
            </a:pPr>
            <a:r>
              <a:rPr lang="en-US" b="true" sz="3277">
                <a:solidFill>
                  <a:srgbClr val="000000"/>
                </a:solidFill>
                <a:latin typeface="Times New Roman Bold"/>
                <a:ea typeface="Times New Roman Bold"/>
                <a:cs typeface="Times New Roman Bold"/>
                <a:sym typeface="Times New Roman Bold"/>
              </a:rPr>
              <a:t>Water Source: </a:t>
            </a:r>
            <a:r>
              <a:rPr lang="en-US" sz="3277">
                <a:solidFill>
                  <a:srgbClr val="000000"/>
                </a:solidFill>
                <a:latin typeface="Times New Roman"/>
                <a:ea typeface="Times New Roman"/>
                <a:cs typeface="Times New Roman"/>
                <a:sym typeface="Times New Roman"/>
              </a:rPr>
              <a:t>The main water sources are a natural spring (dhara) and a piped supply system connected to a community tank.</a:t>
            </a:r>
          </a:p>
          <a:p>
            <a:pPr algn="l" marL="707562" indent="-353781" lvl="1">
              <a:lnSpc>
                <a:spcPts val="4588"/>
              </a:lnSpc>
              <a:buFont typeface="Arial"/>
              <a:buChar char="•"/>
            </a:pPr>
            <a:r>
              <a:rPr lang="en-US" b="true" sz="3277">
                <a:solidFill>
                  <a:srgbClr val="000000"/>
                </a:solidFill>
                <a:latin typeface="Times New Roman Bold"/>
                <a:ea typeface="Times New Roman Bold"/>
                <a:cs typeface="Times New Roman Bold"/>
                <a:sym typeface="Times New Roman Bold"/>
              </a:rPr>
              <a:t>Problem: </a:t>
            </a:r>
            <a:r>
              <a:rPr lang="en-US" sz="3277">
                <a:solidFill>
                  <a:srgbClr val="000000"/>
                </a:solidFill>
                <a:latin typeface="Times New Roman"/>
                <a:ea typeface="Times New Roman"/>
                <a:cs typeface="Times New Roman"/>
                <a:sym typeface="Times New Roman"/>
              </a:rPr>
              <a:t>The piped water is often contaminated, with a foul smell and visible particles, making it unsafe for drinking.</a:t>
            </a:r>
          </a:p>
          <a:p>
            <a:pPr algn="l" marL="707562" indent="-353781" lvl="1">
              <a:lnSpc>
                <a:spcPts val="4588"/>
              </a:lnSpc>
              <a:buFont typeface="Arial"/>
              <a:buChar char="•"/>
            </a:pPr>
            <a:r>
              <a:rPr lang="en-US" b="true" sz="3277">
                <a:solidFill>
                  <a:srgbClr val="000000"/>
                </a:solidFill>
                <a:latin typeface="Times New Roman Bold"/>
                <a:ea typeface="Times New Roman Bold"/>
                <a:cs typeface="Times New Roman Bold"/>
                <a:sym typeface="Times New Roman Bold"/>
              </a:rPr>
              <a:t>Health Impact: </a:t>
            </a:r>
            <a:r>
              <a:rPr lang="en-US" sz="3277">
                <a:solidFill>
                  <a:srgbClr val="000000"/>
                </a:solidFill>
                <a:latin typeface="Times New Roman"/>
                <a:ea typeface="Times New Roman"/>
                <a:cs typeface="Times New Roman"/>
                <a:sym typeface="Times New Roman"/>
              </a:rPr>
              <a:t>Seasonal outbreaks of typhoid and diarrhea are commonly reported due to poor water quality.</a:t>
            </a:r>
          </a:p>
          <a:p>
            <a:pPr algn="l" marL="707562" indent="-353781" lvl="1">
              <a:lnSpc>
                <a:spcPts val="4588"/>
              </a:lnSpc>
              <a:buFont typeface="Arial"/>
              <a:buChar char="•"/>
            </a:pPr>
            <a:r>
              <a:rPr lang="en-US" b="true" sz="3277">
                <a:solidFill>
                  <a:srgbClr val="000000"/>
                </a:solidFill>
                <a:latin typeface="Times New Roman Bold"/>
                <a:ea typeface="Times New Roman Bold"/>
                <a:cs typeface="Times New Roman Bold"/>
                <a:sym typeface="Times New Roman Bold"/>
              </a:rPr>
              <a:t>Project Goal: </a:t>
            </a:r>
            <a:r>
              <a:rPr lang="en-US" sz="3277">
                <a:solidFill>
                  <a:srgbClr val="000000"/>
                </a:solidFill>
                <a:latin typeface="Times New Roman"/>
                <a:ea typeface="Times New Roman"/>
                <a:cs typeface="Times New Roman"/>
                <a:sym typeface="Times New Roman"/>
              </a:rPr>
              <a:t>To implement a sustainable water filtration system, ensure safe access for all households, and promote hygiene awareness through community participation.</a:t>
            </a:r>
          </a:p>
          <a:p>
            <a:pPr algn="l">
              <a:lnSpc>
                <a:spcPts val="4588"/>
              </a:lnSpc>
            </a:pPr>
          </a:p>
        </p:txBody>
      </p:sp>
      <p:sp>
        <p:nvSpPr>
          <p:cNvPr name="TextBox 5" id="5"/>
          <p:cNvSpPr txBox="true"/>
          <p:nvPr/>
        </p:nvSpPr>
        <p:spPr>
          <a:xfrm rot="0">
            <a:off x="3984326" y="460826"/>
            <a:ext cx="4962724" cy="1264920"/>
          </a:xfrm>
          <a:prstGeom prst="rect">
            <a:avLst/>
          </a:prstGeom>
        </p:spPr>
        <p:txBody>
          <a:bodyPr anchor="t" rtlCol="false" tIns="0" lIns="0" bIns="0" rIns="0">
            <a:spAutoFit/>
          </a:bodyPr>
          <a:lstStyle/>
          <a:p>
            <a:pPr algn="ctr">
              <a:lnSpc>
                <a:spcPts val="10080"/>
              </a:lnSpc>
              <a:spcBef>
                <a:spcPct val="0"/>
              </a:spcBef>
            </a:pPr>
            <a:r>
              <a:rPr lang="en-US" b="true" sz="7200">
                <a:solidFill>
                  <a:srgbClr val="000000"/>
                </a:solidFill>
                <a:latin typeface="Times New Roman Bold"/>
                <a:ea typeface="Times New Roman Bold"/>
                <a:cs typeface="Times New Roman Bold"/>
                <a:sym typeface="Times New Roman Bold"/>
              </a:rPr>
              <a:t>Introduction</a:t>
            </a:r>
          </a:p>
        </p:txBody>
      </p:sp>
      <p:sp>
        <p:nvSpPr>
          <p:cNvPr name="AutoShape 6" id="6"/>
          <p:cNvSpPr/>
          <p:nvPr/>
        </p:nvSpPr>
        <p:spPr>
          <a:xfrm>
            <a:off x="3469976" y="282798"/>
            <a:ext cx="0" cy="2084030"/>
          </a:xfrm>
          <a:prstGeom prst="line">
            <a:avLst/>
          </a:prstGeom>
          <a:ln cap="flat" w="38100">
            <a:solidFill>
              <a:srgbClr val="2E6417"/>
            </a:solidFill>
            <a:prstDash val="solid"/>
            <a:headEnd type="none" len="sm" w="sm"/>
            <a:tailEnd type="none" len="sm" w="sm"/>
          </a:ln>
        </p:spPr>
      </p:sp>
      <p:sp>
        <p:nvSpPr>
          <p:cNvPr name="Freeform 7" id="7"/>
          <p:cNvSpPr/>
          <p:nvPr/>
        </p:nvSpPr>
        <p:spPr>
          <a:xfrm flipH="false" flipV="false" rot="0">
            <a:off x="0" y="9258300"/>
            <a:ext cx="18288000" cy="1011582"/>
          </a:xfrm>
          <a:custGeom>
            <a:avLst/>
            <a:gdLst/>
            <a:ahLst/>
            <a:cxnLst/>
            <a:rect r="r" b="b" t="t" l="l"/>
            <a:pathLst>
              <a:path h="1011582" w="18288000">
                <a:moveTo>
                  <a:pt x="0" y="0"/>
                </a:moveTo>
                <a:lnTo>
                  <a:pt x="18288000" y="0"/>
                </a:lnTo>
                <a:lnTo>
                  <a:pt x="18288000" y="1011582"/>
                </a:lnTo>
                <a:lnTo>
                  <a:pt x="0" y="1011582"/>
                </a:lnTo>
                <a:lnTo>
                  <a:pt x="0" y="0"/>
                </a:lnTo>
                <a:close/>
              </a:path>
            </a:pathLst>
          </a:custGeom>
          <a:blipFill>
            <a:blip r:embed="rId4"/>
            <a:stretch>
              <a:fillRect l="-20856" t="0" r="-752" b="-1680"/>
            </a:stretch>
          </a:blipFill>
        </p:spPr>
      </p:sp>
      <p:sp>
        <p:nvSpPr>
          <p:cNvPr name="TextBox 8" id="8"/>
          <p:cNvSpPr txBox="true"/>
          <p:nvPr/>
        </p:nvSpPr>
        <p:spPr>
          <a:xfrm rot="0">
            <a:off x="731401" y="9365816"/>
            <a:ext cx="297248" cy="724225"/>
          </a:xfrm>
          <a:prstGeom prst="rect">
            <a:avLst/>
          </a:prstGeom>
        </p:spPr>
        <p:txBody>
          <a:bodyPr anchor="t" rtlCol="false" tIns="0" lIns="0" bIns="0" rIns="0" wrap="none">
            <a:spAutoFit/>
          </a:bodyPr>
          <a:lstStyle/>
          <a:p>
            <a:pPr algn="ctr">
              <a:lnSpc>
                <a:spcPts val="5970"/>
              </a:lnSpc>
              <a:spcBef>
                <a:spcPct val="0"/>
              </a:spcBef>
            </a:pPr>
            <a:r>
              <a:rPr lang="en-US" sz="4264">
                <a:solidFill>
                  <a:srgbClr val="FFFFFF"/>
                </a:solidFill>
                <a:latin typeface="Canva Sans"/>
                <a:ea typeface="Canva Sans"/>
                <a:cs typeface="Canva Sans"/>
                <a:sym typeface="Canva Sans"/>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81628" y="282798"/>
            <a:ext cx="1470709" cy="1792426"/>
          </a:xfrm>
          <a:custGeom>
            <a:avLst/>
            <a:gdLst/>
            <a:ahLst/>
            <a:cxnLst/>
            <a:rect r="r" b="b" t="t" l="l"/>
            <a:pathLst>
              <a:path h="1792426" w="1470709">
                <a:moveTo>
                  <a:pt x="0" y="0"/>
                </a:moveTo>
                <a:lnTo>
                  <a:pt x="1470708" y="0"/>
                </a:lnTo>
                <a:lnTo>
                  <a:pt x="1470708" y="1792426"/>
                </a:lnTo>
                <a:lnTo>
                  <a:pt x="0" y="1792426"/>
                </a:lnTo>
                <a:lnTo>
                  <a:pt x="0" y="0"/>
                </a:lnTo>
                <a:close/>
              </a:path>
            </a:pathLst>
          </a:custGeom>
          <a:blipFill>
            <a:blip r:embed="rId2"/>
            <a:stretch>
              <a:fillRect l="0" t="0" r="0" b="0"/>
            </a:stretch>
          </a:blipFill>
        </p:spPr>
      </p:sp>
      <p:sp>
        <p:nvSpPr>
          <p:cNvPr name="Freeform 3" id="3"/>
          <p:cNvSpPr/>
          <p:nvPr/>
        </p:nvSpPr>
        <p:spPr>
          <a:xfrm flipH="false" flipV="false" rot="0">
            <a:off x="1028700" y="2432119"/>
            <a:ext cx="16230600" cy="142018"/>
          </a:xfrm>
          <a:custGeom>
            <a:avLst/>
            <a:gdLst/>
            <a:ahLst/>
            <a:cxnLst/>
            <a:rect r="r" b="b" t="t" l="l"/>
            <a:pathLst>
              <a:path h="142018" w="16230600">
                <a:moveTo>
                  <a:pt x="0" y="0"/>
                </a:moveTo>
                <a:lnTo>
                  <a:pt x="16230600" y="0"/>
                </a:lnTo>
                <a:lnTo>
                  <a:pt x="16230600" y="142017"/>
                </a:lnTo>
                <a:lnTo>
                  <a:pt x="0" y="142017"/>
                </a:lnTo>
                <a:lnTo>
                  <a:pt x="0" y="0"/>
                </a:lnTo>
                <a:close/>
              </a:path>
            </a:pathLst>
          </a:custGeom>
          <a:blipFill>
            <a:blip r:embed="rId3"/>
            <a:stretch>
              <a:fillRect l="0" t="0" r="0" b="0"/>
            </a:stretch>
          </a:blipFill>
        </p:spPr>
      </p:sp>
      <p:sp>
        <p:nvSpPr>
          <p:cNvPr name="AutoShape 4" id="4"/>
          <p:cNvSpPr/>
          <p:nvPr/>
        </p:nvSpPr>
        <p:spPr>
          <a:xfrm>
            <a:off x="3469976" y="282798"/>
            <a:ext cx="0" cy="2084030"/>
          </a:xfrm>
          <a:prstGeom prst="line">
            <a:avLst/>
          </a:prstGeom>
          <a:ln cap="flat" w="38100">
            <a:solidFill>
              <a:srgbClr val="2E6417"/>
            </a:solidFill>
            <a:prstDash val="solid"/>
            <a:headEnd type="none" len="sm" w="sm"/>
            <a:tailEnd type="none" len="sm" w="sm"/>
          </a:ln>
        </p:spPr>
      </p:sp>
      <p:sp>
        <p:nvSpPr>
          <p:cNvPr name="Freeform 5" id="5"/>
          <p:cNvSpPr/>
          <p:nvPr/>
        </p:nvSpPr>
        <p:spPr>
          <a:xfrm flipH="false" flipV="false" rot="0">
            <a:off x="0" y="9258300"/>
            <a:ext cx="18288000" cy="1011582"/>
          </a:xfrm>
          <a:custGeom>
            <a:avLst/>
            <a:gdLst/>
            <a:ahLst/>
            <a:cxnLst/>
            <a:rect r="r" b="b" t="t" l="l"/>
            <a:pathLst>
              <a:path h="1011582" w="18288000">
                <a:moveTo>
                  <a:pt x="0" y="0"/>
                </a:moveTo>
                <a:lnTo>
                  <a:pt x="18288000" y="0"/>
                </a:lnTo>
                <a:lnTo>
                  <a:pt x="18288000" y="1011582"/>
                </a:lnTo>
                <a:lnTo>
                  <a:pt x="0" y="1011582"/>
                </a:lnTo>
                <a:lnTo>
                  <a:pt x="0" y="0"/>
                </a:lnTo>
                <a:close/>
              </a:path>
            </a:pathLst>
          </a:custGeom>
          <a:blipFill>
            <a:blip r:embed="rId4"/>
            <a:stretch>
              <a:fillRect l="-20856" t="0" r="-752" b="-1680"/>
            </a:stretch>
          </a:blipFill>
        </p:spPr>
      </p:sp>
      <p:grpSp>
        <p:nvGrpSpPr>
          <p:cNvPr name="Group 6" id="6"/>
          <p:cNvGrpSpPr/>
          <p:nvPr/>
        </p:nvGrpSpPr>
        <p:grpSpPr>
          <a:xfrm rot="0">
            <a:off x="3265845" y="2696490"/>
            <a:ext cx="10279271" cy="6439455"/>
            <a:chOff x="0" y="0"/>
            <a:chExt cx="1297469" cy="812800"/>
          </a:xfrm>
        </p:grpSpPr>
        <p:sp>
          <p:nvSpPr>
            <p:cNvPr name="Freeform 7" id="7"/>
            <p:cNvSpPr/>
            <p:nvPr/>
          </p:nvSpPr>
          <p:spPr>
            <a:xfrm flipH="false" flipV="false" rot="0">
              <a:off x="0" y="0"/>
              <a:ext cx="1297469" cy="812800"/>
            </a:xfrm>
            <a:custGeom>
              <a:avLst/>
              <a:gdLst/>
              <a:ahLst/>
              <a:cxnLst/>
              <a:rect r="r" b="b" t="t" l="l"/>
              <a:pathLst>
                <a:path h="812800" w="1297469">
                  <a:moveTo>
                    <a:pt x="0" y="0"/>
                  </a:moveTo>
                  <a:lnTo>
                    <a:pt x="1297469" y="0"/>
                  </a:lnTo>
                  <a:lnTo>
                    <a:pt x="1297469" y="812800"/>
                  </a:lnTo>
                  <a:lnTo>
                    <a:pt x="0" y="812800"/>
                  </a:lnTo>
                  <a:close/>
                </a:path>
              </a:pathLst>
            </a:custGeom>
            <a:blipFill>
              <a:blip r:embed="rId5"/>
              <a:stretch>
                <a:fillRect l="-116" t="0" r="-116" b="0"/>
              </a:stretch>
            </a:blipFill>
          </p:spPr>
        </p:sp>
      </p:grpSp>
      <p:sp>
        <p:nvSpPr>
          <p:cNvPr name="TextBox 8" id="8"/>
          <p:cNvSpPr txBox="true"/>
          <p:nvPr/>
        </p:nvSpPr>
        <p:spPr>
          <a:xfrm rot="0">
            <a:off x="3984326" y="648222"/>
            <a:ext cx="5290443" cy="1264920"/>
          </a:xfrm>
          <a:prstGeom prst="rect">
            <a:avLst/>
          </a:prstGeom>
        </p:spPr>
        <p:txBody>
          <a:bodyPr anchor="t" rtlCol="false" tIns="0" lIns="0" bIns="0" rIns="0">
            <a:spAutoFit/>
          </a:bodyPr>
          <a:lstStyle/>
          <a:p>
            <a:pPr algn="ctr">
              <a:lnSpc>
                <a:spcPts val="10080"/>
              </a:lnSpc>
              <a:spcBef>
                <a:spcPct val="0"/>
              </a:spcBef>
            </a:pPr>
            <a:r>
              <a:rPr lang="en-US" b="true" sz="7200">
                <a:solidFill>
                  <a:srgbClr val="000000"/>
                </a:solidFill>
                <a:latin typeface="Times New Roman Bold"/>
                <a:ea typeface="Times New Roman Bold"/>
                <a:cs typeface="Times New Roman Bold"/>
                <a:sym typeface="Times New Roman Bold"/>
              </a:rPr>
              <a:t>Problem Tree</a:t>
            </a:r>
          </a:p>
        </p:txBody>
      </p:sp>
      <p:sp>
        <p:nvSpPr>
          <p:cNvPr name="TextBox 9" id="9"/>
          <p:cNvSpPr txBox="true"/>
          <p:nvPr/>
        </p:nvSpPr>
        <p:spPr>
          <a:xfrm rot="0">
            <a:off x="731401" y="9365816"/>
            <a:ext cx="152400" cy="228600"/>
          </a:xfrm>
          <a:prstGeom prst="rect">
            <a:avLst/>
          </a:prstGeom>
        </p:spPr>
        <p:txBody>
          <a:bodyPr anchor="t" rtlCol="false" tIns="0" lIns="0" bIns="0" rIns="0" wrap="none">
            <a:spAutoFit/>
          </a:bodyPr>
          <a:lstStyle/>
          <a:p>
            <a:pPr algn="ctr">
              <a:lnSpc>
                <a:spcPts val="5970"/>
              </a:lnSpc>
              <a:spcBef>
                <a:spcPct val="0"/>
              </a:spcBef>
            </a:pPr>
            <a:r>
              <a:rPr lang="en-US" sz="4264">
                <a:solidFill>
                  <a:srgbClr val="FFFFFF"/>
                </a:solidFill>
                <a:latin typeface="Canva Sans"/>
                <a:ea typeface="Canva Sans"/>
                <a:cs typeface="Canva Sans"/>
                <a:sym typeface="Canva Sans"/>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81628" y="282798"/>
            <a:ext cx="1470709" cy="1792426"/>
          </a:xfrm>
          <a:custGeom>
            <a:avLst/>
            <a:gdLst/>
            <a:ahLst/>
            <a:cxnLst/>
            <a:rect r="r" b="b" t="t" l="l"/>
            <a:pathLst>
              <a:path h="1792426" w="1470709">
                <a:moveTo>
                  <a:pt x="0" y="0"/>
                </a:moveTo>
                <a:lnTo>
                  <a:pt x="1470708" y="0"/>
                </a:lnTo>
                <a:lnTo>
                  <a:pt x="1470708" y="1792426"/>
                </a:lnTo>
                <a:lnTo>
                  <a:pt x="0" y="1792426"/>
                </a:lnTo>
                <a:lnTo>
                  <a:pt x="0" y="0"/>
                </a:lnTo>
                <a:close/>
              </a:path>
            </a:pathLst>
          </a:custGeom>
          <a:blipFill>
            <a:blip r:embed="rId2"/>
            <a:stretch>
              <a:fillRect l="0" t="0" r="0" b="0"/>
            </a:stretch>
          </a:blipFill>
        </p:spPr>
      </p:sp>
      <p:sp>
        <p:nvSpPr>
          <p:cNvPr name="Freeform 3" id="3"/>
          <p:cNvSpPr/>
          <p:nvPr/>
        </p:nvSpPr>
        <p:spPr>
          <a:xfrm flipH="false" flipV="false" rot="0">
            <a:off x="1028700" y="2432119"/>
            <a:ext cx="16230600" cy="142018"/>
          </a:xfrm>
          <a:custGeom>
            <a:avLst/>
            <a:gdLst/>
            <a:ahLst/>
            <a:cxnLst/>
            <a:rect r="r" b="b" t="t" l="l"/>
            <a:pathLst>
              <a:path h="142018" w="16230600">
                <a:moveTo>
                  <a:pt x="0" y="0"/>
                </a:moveTo>
                <a:lnTo>
                  <a:pt x="16230600" y="0"/>
                </a:lnTo>
                <a:lnTo>
                  <a:pt x="16230600" y="142017"/>
                </a:lnTo>
                <a:lnTo>
                  <a:pt x="0" y="142017"/>
                </a:lnTo>
                <a:lnTo>
                  <a:pt x="0" y="0"/>
                </a:lnTo>
                <a:close/>
              </a:path>
            </a:pathLst>
          </a:custGeom>
          <a:blipFill>
            <a:blip r:embed="rId3"/>
            <a:stretch>
              <a:fillRect l="0" t="0" r="0" b="0"/>
            </a:stretch>
          </a:blipFill>
        </p:spPr>
      </p:sp>
      <p:sp>
        <p:nvSpPr>
          <p:cNvPr name="TextBox 4" id="4"/>
          <p:cNvSpPr txBox="true"/>
          <p:nvPr/>
        </p:nvSpPr>
        <p:spPr>
          <a:xfrm rot="0">
            <a:off x="1213067" y="2675813"/>
            <a:ext cx="15221484" cy="6385560"/>
          </a:xfrm>
          <a:prstGeom prst="rect">
            <a:avLst/>
          </a:prstGeom>
        </p:spPr>
        <p:txBody>
          <a:bodyPr anchor="t" rtlCol="false" tIns="0" lIns="0" bIns="0" rIns="0">
            <a:spAutoFit/>
          </a:bodyPr>
          <a:lstStyle/>
          <a:p>
            <a:pPr algn="l" marL="777240" indent="-388620" lvl="1">
              <a:lnSpc>
                <a:spcPts val="5040"/>
              </a:lnSpc>
              <a:buFont typeface="Arial"/>
              <a:buChar char="•"/>
            </a:pPr>
            <a:r>
              <a:rPr lang="en-US" sz="3600">
                <a:solidFill>
                  <a:srgbClr val="000000"/>
                </a:solidFill>
                <a:latin typeface="Times New Roman"/>
                <a:ea typeface="Times New Roman"/>
                <a:cs typeface="Times New Roman"/>
                <a:sym typeface="Times New Roman"/>
              </a:rPr>
              <a:t>Contaminated Piped Water:</a:t>
            </a:r>
          </a:p>
          <a:p>
            <a:pPr algn="l">
              <a:lnSpc>
                <a:spcPts val="5040"/>
              </a:lnSpc>
            </a:pPr>
            <a:r>
              <a:rPr lang="en-US" sz="3600">
                <a:solidFill>
                  <a:srgbClr val="000000"/>
                </a:solidFill>
                <a:latin typeface="Times New Roman"/>
                <a:ea typeface="Times New Roman"/>
                <a:cs typeface="Times New Roman"/>
                <a:sym typeface="Times New Roman"/>
              </a:rPr>
              <a:t> </a:t>
            </a:r>
            <a:r>
              <a:rPr lang="en-US" sz="3600">
                <a:solidFill>
                  <a:srgbClr val="000000"/>
                </a:solidFill>
                <a:latin typeface="Times New Roman"/>
                <a:ea typeface="Times New Roman"/>
                <a:cs typeface="Times New Roman"/>
                <a:sym typeface="Times New Roman"/>
              </a:rPr>
              <a:t>The village’s main piped water supply is often unsafe due to unclean storage tanks, pipeline leakages, and foul smell.</a:t>
            </a:r>
          </a:p>
          <a:p>
            <a:pPr algn="l" marL="777240" indent="-388620" lvl="1">
              <a:lnSpc>
                <a:spcPts val="5040"/>
              </a:lnSpc>
              <a:buFont typeface="Arial"/>
              <a:buChar char="•"/>
            </a:pPr>
            <a:r>
              <a:rPr lang="en-US" sz="3600">
                <a:solidFill>
                  <a:srgbClr val="000000"/>
                </a:solidFill>
                <a:latin typeface="Times New Roman"/>
                <a:ea typeface="Times New Roman"/>
                <a:cs typeface="Times New Roman"/>
                <a:sym typeface="Times New Roman"/>
              </a:rPr>
              <a:t>Dependence on Dhara (Natural Spring):</a:t>
            </a:r>
          </a:p>
          <a:p>
            <a:pPr algn="l">
              <a:lnSpc>
                <a:spcPts val="5040"/>
              </a:lnSpc>
            </a:pPr>
            <a:r>
              <a:rPr lang="en-US" sz="3600">
                <a:solidFill>
                  <a:srgbClr val="000000"/>
                </a:solidFill>
                <a:latin typeface="Times New Roman"/>
                <a:ea typeface="Times New Roman"/>
                <a:cs typeface="Times New Roman"/>
                <a:sym typeface="Times New Roman"/>
              </a:rPr>
              <a:t> Many households still rely on the dhara located downhill, but collecting water is physically tiring.</a:t>
            </a:r>
          </a:p>
          <a:p>
            <a:pPr algn="l" marL="777240" indent="-388620" lvl="1">
              <a:lnSpc>
                <a:spcPts val="5040"/>
              </a:lnSpc>
              <a:buFont typeface="Arial"/>
              <a:buChar char="•"/>
            </a:pPr>
            <a:r>
              <a:rPr lang="en-US" sz="3600">
                <a:solidFill>
                  <a:srgbClr val="000000"/>
                </a:solidFill>
                <a:latin typeface="Times New Roman"/>
                <a:ea typeface="Times New Roman"/>
                <a:cs typeface="Times New Roman"/>
                <a:sym typeface="Times New Roman"/>
              </a:rPr>
              <a:t>Health Impacts:</a:t>
            </a:r>
          </a:p>
          <a:p>
            <a:pPr algn="l">
              <a:lnSpc>
                <a:spcPts val="5040"/>
              </a:lnSpc>
            </a:pPr>
            <a:r>
              <a:rPr lang="en-US" sz="3600">
                <a:solidFill>
                  <a:srgbClr val="000000"/>
                </a:solidFill>
                <a:latin typeface="Times New Roman"/>
                <a:ea typeface="Times New Roman"/>
                <a:cs typeface="Times New Roman"/>
                <a:sym typeface="Times New Roman"/>
              </a:rPr>
              <a:t> Seasonal outbreaks of typhoid and diarrhoea are frequently reported and verified by PHC doctor</a:t>
            </a:r>
          </a:p>
          <a:p>
            <a:pPr algn="l">
              <a:lnSpc>
                <a:spcPts val="5040"/>
              </a:lnSpc>
            </a:pPr>
          </a:p>
        </p:txBody>
      </p:sp>
      <p:sp>
        <p:nvSpPr>
          <p:cNvPr name="TextBox 5" id="5"/>
          <p:cNvSpPr txBox="true"/>
          <p:nvPr/>
        </p:nvSpPr>
        <p:spPr>
          <a:xfrm rot="0">
            <a:off x="3984326" y="700474"/>
            <a:ext cx="6662043" cy="1264920"/>
          </a:xfrm>
          <a:prstGeom prst="rect">
            <a:avLst/>
          </a:prstGeom>
        </p:spPr>
        <p:txBody>
          <a:bodyPr anchor="t" rtlCol="false" tIns="0" lIns="0" bIns="0" rIns="0">
            <a:spAutoFit/>
          </a:bodyPr>
          <a:lstStyle/>
          <a:p>
            <a:pPr algn="ctr">
              <a:lnSpc>
                <a:spcPts val="10080"/>
              </a:lnSpc>
              <a:spcBef>
                <a:spcPct val="0"/>
              </a:spcBef>
            </a:pPr>
            <a:r>
              <a:rPr lang="en-US" b="true" sz="7200">
                <a:solidFill>
                  <a:srgbClr val="000000"/>
                </a:solidFill>
                <a:latin typeface="Times New Roman Bold"/>
                <a:ea typeface="Times New Roman Bold"/>
                <a:cs typeface="Times New Roman Bold"/>
                <a:sym typeface="Times New Roman Bold"/>
              </a:rPr>
              <a:t>Problem Context</a:t>
            </a:r>
          </a:p>
        </p:txBody>
      </p:sp>
      <p:sp>
        <p:nvSpPr>
          <p:cNvPr name="AutoShape 6" id="6"/>
          <p:cNvSpPr/>
          <p:nvPr/>
        </p:nvSpPr>
        <p:spPr>
          <a:xfrm>
            <a:off x="3469976" y="282798"/>
            <a:ext cx="0" cy="2084030"/>
          </a:xfrm>
          <a:prstGeom prst="line">
            <a:avLst/>
          </a:prstGeom>
          <a:ln cap="flat" w="38100">
            <a:solidFill>
              <a:srgbClr val="2E6417"/>
            </a:solidFill>
            <a:prstDash val="solid"/>
            <a:headEnd type="none" len="sm" w="sm"/>
            <a:tailEnd type="none" len="sm" w="sm"/>
          </a:ln>
        </p:spPr>
      </p:sp>
      <p:sp>
        <p:nvSpPr>
          <p:cNvPr name="Freeform 7" id="7"/>
          <p:cNvSpPr/>
          <p:nvPr/>
        </p:nvSpPr>
        <p:spPr>
          <a:xfrm flipH="false" flipV="false" rot="0">
            <a:off x="0" y="9258300"/>
            <a:ext cx="18288000" cy="1011582"/>
          </a:xfrm>
          <a:custGeom>
            <a:avLst/>
            <a:gdLst/>
            <a:ahLst/>
            <a:cxnLst/>
            <a:rect r="r" b="b" t="t" l="l"/>
            <a:pathLst>
              <a:path h="1011582" w="18288000">
                <a:moveTo>
                  <a:pt x="0" y="0"/>
                </a:moveTo>
                <a:lnTo>
                  <a:pt x="18288000" y="0"/>
                </a:lnTo>
                <a:lnTo>
                  <a:pt x="18288000" y="1011582"/>
                </a:lnTo>
                <a:lnTo>
                  <a:pt x="0" y="1011582"/>
                </a:lnTo>
                <a:lnTo>
                  <a:pt x="0" y="0"/>
                </a:lnTo>
                <a:close/>
              </a:path>
            </a:pathLst>
          </a:custGeom>
          <a:blipFill>
            <a:blip r:embed="rId4"/>
            <a:stretch>
              <a:fillRect l="-20856" t="0" r="-752" b="-1680"/>
            </a:stretch>
          </a:blipFill>
        </p:spPr>
      </p:sp>
      <p:sp>
        <p:nvSpPr>
          <p:cNvPr name="TextBox 8" id="8"/>
          <p:cNvSpPr txBox="true"/>
          <p:nvPr/>
        </p:nvSpPr>
        <p:spPr>
          <a:xfrm rot="0">
            <a:off x="731401" y="9365816"/>
            <a:ext cx="152400" cy="228600"/>
          </a:xfrm>
          <a:prstGeom prst="rect">
            <a:avLst/>
          </a:prstGeom>
        </p:spPr>
        <p:txBody>
          <a:bodyPr anchor="t" rtlCol="false" tIns="0" lIns="0" bIns="0" rIns="0" wrap="none">
            <a:spAutoFit/>
          </a:bodyPr>
          <a:lstStyle/>
          <a:p>
            <a:pPr algn="ctr">
              <a:lnSpc>
                <a:spcPts val="5970"/>
              </a:lnSpc>
              <a:spcBef>
                <a:spcPct val="0"/>
              </a:spcBef>
            </a:pPr>
            <a:r>
              <a:rPr lang="en-US" sz="4264">
                <a:solidFill>
                  <a:srgbClr val="FFFFFF"/>
                </a:solidFill>
                <a:latin typeface="Canva Sans"/>
                <a:ea typeface="Canva Sans"/>
                <a:cs typeface="Canva Sans"/>
                <a:sym typeface="Canva Sans"/>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81628" y="282798"/>
            <a:ext cx="1470709" cy="1792426"/>
          </a:xfrm>
          <a:custGeom>
            <a:avLst/>
            <a:gdLst/>
            <a:ahLst/>
            <a:cxnLst/>
            <a:rect r="r" b="b" t="t" l="l"/>
            <a:pathLst>
              <a:path h="1792426" w="1470709">
                <a:moveTo>
                  <a:pt x="0" y="0"/>
                </a:moveTo>
                <a:lnTo>
                  <a:pt x="1470708" y="0"/>
                </a:lnTo>
                <a:lnTo>
                  <a:pt x="1470708" y="1792426"/>
                </a:lnTo>
                <a:lnTo>
                  <a:pt x="0" y="1792426"/>
                </a:lnTo>
                <a:lnTo>
                  <a:pt x="0" y="0"/>
                </a:lnTo>
                <a:close/>
              </a:path>
            </a:pathLst>
          </a:custGeom>
          <a:blipFill>
            <a:blip r:embed="rId2"/>
            <a:stretch>
              <a:fillRect l="0" t="0" r="0" b="0"/>
            </a:stretch>
          </a:blipFill>
        </p:spPr>
      </p:sp>
      <p:sp>
        <p:nvSpPr>
          <p:cNvPr name="Freeform 3" id="3"/>
          <p:cNvSpPr/>
          <p:nvPr/>
        </p:nvSpPr>
        <p:spPr>
          <a:xfrm flipH="false" flipV="false" rot="0">
            <a:off x="1028700" y="2432119"/>
            <a:ext cx="16230600" cy="142018"/>
          </a:xfrm>
          <a:custGeom>
            <a:avLst/>
            <a:gdLst/>
            <a:ahLst/>
            <a:cxnLst/>
            <a:rect r="r" b="b" t="t" l="l"/>
            <a:pathLst>
              <a:path h="142018" w="16230600">
                <a:moveTo>
                  <a:pt x="0" y="0"/>
                </a:moveTo>
                <a:lnTo>
                  <a:pt x="16230600" y="0"/>
                </a:lnTo>
                <a:lnTo>
                  <a:pt x="16230600" y="142017"/>
                </a:lnTo>
                <a:lnTo>
                  <a:pt x="0" y="142017"/>
                </a:lnTo>
                <a:lnTo>
                  <a:pt x="0" y="0"/>
                </a:lnTo>
                <a:close/>
              </a:path>
            </a:pathLst>
          </a:custGeom>
          <a:blipFill>
            <a:blip r:embed="rId3"/>
            <a:stretch>
              <a:fillRect l="0" t="0" r="0" b="0"/>
            </a:stretch>
          </a:blipFill>
        </p:spPr>
      </p:sp>
      <p:sp>
        <p:nvSpPr>
          <p:cNvPr name="AutoShape 4" id="4"/>
          <p:cNvSpPr/>
          <p:nvPr/>
        </p:nvSpPr>
        <p:spPr>
          <a:xfrm>
            <a:off x="3469976" y="282798"/>
            <a:ext cx="0" cy="2084030"/>
          </a:xfrm>
          <a:prstGeom prst="line">
            <a:avLst/>
          </a:prstGeom>
          <a:ln cap="flat" w="38100">
            <a:solidFill>
              <a:srgbClr val="2E6417"/>
            </a:solidFill>
            <a:prstDash val="solid"/>
            <a:headEnd type="none" len="sm" w="sm"/>
            <a:tailEnd type="none" len="sm" w="sm"/>
          </a:ln>
        </p:spPr>
      </p:sp>
      <p:sp>
        <p:nvSpPr>
          <p:cNvPr name="Freeform 5" id="5"/>
          <p:cNvSpPr/>
          <p:nvPr/>
        </p:nvSpPr>
        <p:spPr>
          <a:xfrm flipH="false" flipV="false" rot="0">
            <a:off x="0" y="9258300"/>
            <a:ext cx="18288000" cy="1011582"/>
          </a:xfrm>
          <a:custGeom>
            <a:avLst/>
            <a:gdLst/>
            <a:ahLst/>
            <a:cxnLst/>
            <a:rect r="r" b="b" t="t" l="l"/>
            <a:pathLst>
              <a:path h="1011582" w="18288000">
                <a:moveTo>
                  <a:pt x="0" y="0"/>
                </a:moveTo>
                <a:lnTo>
                  <a:pt x="18288000" y="0"/>
                </a:lnTo>
                <a:lnTo>
                  <a:pt x="18288000" y="1011582"/>
                </a:lnTo>
                <a:lnTo>
                  <a:pt x="0" y="1011582"/>
                </a:lnTo>
                <a:lnTo>
                  <a:pt x="0" y="0"/>
                </a:lnTo>
                <a:close/>
              </a:path>
            </a:pathLst>
          </a:custGeom>
          <a:blipFill>
            <a:blip r:embed="rId4"/>
            <a:stretch>
              <a:fillRect l="-20856" t="0" r="-752" b="-1680"/>
            </a:stretch>
          </a:blipFill>
        </p:spPr>
      </p:sp>
      <p:sp>
        <p:nvSpPr>
          <p:cNvPr name="Freeform 6" id="6"/>
          <p:cNvSpPr/>
          <p:nvPr/>
        </p:nvSpPr>
        <p:spPr>
          <a:xfrm flipH="false" flipV="false" rot="0">
            <a:off x="1861916" y="2574136"/>
            <a:ext cx="6557480" cy="6532178"/>
          </a:xfrm>
          <a:custGeom>
            <a:avLst/>
            <a:gdLst/>
            <a:ahLst/>
            <a:cxnLst/>
            <a:rect r="r" b="b" t="t" l="l"/>
            <a:pathLst>
              <a:path h="6532178" w="6557480">
                <a:moveTo>
                  <a:pt x="0" y="0"/>
                </a:moveTo>
                <a:lnTo>
                  <a:pt x="6557479" y="0"/>
                </a:lnTo>
                <a:lnTo>
                  <a:pt x="6557479" y="6532178"/>
                </a:lnTo>
                <a:lnTo>
                  <a:pt x="0" y="6532178"/>
                </a:lnTo>
                <a:lnTo>
                  <a:pt x="0" y="0"/>
                </a:lnTo>
                <a:close/>
              </a:path>
            </a:pathLst>
          </a:custGeom>
          <a:blipFill>
            <a:blip r:embed="rId5"/>
            <a:stretch>
              <a:fillRect l="-1715" t="0" r="-8966" b="0"/>
            </a:stretch>
          </a:blipFill>
        </p:spPr>
      </p:sp>
      <p:sp>
        <p:nvSpPr>
          <p:cNvPr name="Freeform 7" id="7"/>
          <p:cNvSpPr/>
          <p:nvPr/>
        </p:nvSpPr>
        <p:spPr>
          <a:xfrm flipH="false" flipV="false" rot="0">
            <a:off x="9144000" y="2574136"/>
            <a:ext cx="7140766" cy="6532178"/>
          </a:xfrm>
          <a:custGeom>
            <a:avLst/>
            <a:gdLst/>
            <a:ahLst/>
            <a:cxnLst/>
            <a:rect r="r" b="b" t="t" l="l"/>
            <a:pathLst>
              <a:path h="6532178" w="7140766">
                <a:moveTo>
                  <a:pt x="0" y="0"/>
                </a:moveTo>
                <a:lnTo>
                  <a:pt x="7140766" y="0"/>
                </a:lnTo>
                <a:lnTo>
                  <a:pt x="7140766" y="6532178"/>
                </a:lnTo>
                <a:lnTo>
                  <a:pt x="0" y="6532178"/>
                </a:lnTo>
                <a:lnTo>
                  <a:pt x="0" y="0"/>
                </a:lnTo>
                <a:close/>
              </a:path>
            </a:pathLst>
          </a:custGeom>
          <a:blipFill>
            <a:blip r:embed="rId6"/>
            <a:stretch>
              <a:fillRect l="-1087" t="-2174" r="-1087" b="0"/>
            </a:stretch>
          </a:blipFill>
        </p:spPr>
      </p:sp>
      <p:sp>
        <p:nvSpPr>
          <p:cNvPr name="TextBox 8" id="8"/>
          <p:cNvSpPr txBox="true"/>
          <p:nvPr/>
        </p:nvSpPr>
        <p:spPr>
          <a:xfrm rot="0">
            <a:off x="4619417" y="484299"/>
            <a:ext cx="10053042" cy="1215119"/>
          </a:xfrm>
          <a:prstGeom prst="rect">
            <a:avLst/>
          </a:prstGeom>
        </p:spPr>
        <p:txBody>
          <a:bodyPr anchor="t" rtlCol="false" tIns="0" lIns="0" bIns="0" rIns="0">
            <a:spAutoFit/>
          </a:bodyPr>
          <a:lstStyle/>
          <a:p>
            <a:pPr algn="ctr">
              <a:lnSpc>
                <a:spcPts val="9674"/>
              </a:lnSpc>
              <a:spcBef>
                <a:spcPct val="0"/>
              </a:spcBef>
            </a:pPr>
            <a:r>
              <a:rPr lang="en-US" b="true" sz="6910">
                <a:solidFill>
                  <a:srgbClr val="000000"/>
                </a:solidFill>
                <a:latin typeface="Times New Roman Bold"/>
                <a:ea typeface="Times New Roman Bold"/>
                <a:cs typeface="Times New Roman Bold"/>
                <a:sym typeface="Times New Roman Bold"/>
              </a:rPr>
              <a:t>Water Quality Test Results</a:t>
            </a:r>
          </a:p>
        </p:txBody>
      </p:sp>
      <p:sp>
        <p:nvSpPr>
          <p:cNvPr name="TextBox 9" id="9"/>
          <p:cNvSpPr txBox="true"/>
          <p:nvPr/>
        </p:nvSpPr>
        <p:spPr>
          <a:xfrm rot="0">
            <a:off x="731401" y="9365816"/>
            <a:ext cx="152400" cy="228600"/>
          </a:xfrm>
          <a:prstGeom prst="rect">
            <a:avLst/>
          </a:prstGeom>
        </p:spPr>
        <p:txBody>
          <a:bodyPr anchor="t" rtlCol="false" tIns="0" lIns="0" bIns="0" rIns="0" wrap="none">
            <a:spAutoFit/>
          </a:bodyPr>
          <a:lstStyle/>
          <a:p>
            <a:pPr algn="ctr">
              <a:lnSpc>
                <a:spcPts val="5970"/>
              </a:lnSpc>
              <a:spcBef>
                <a:spcPct val="0"/>
              </a:spcBef>
            </a:pPr>
            <a:r>
              <a:rPr lang="en-US" sz="4264">
                <a:solidFill>
                  <a:srgbClr val="FFFFFF"/>
                </a:solidFill>
                <a:latin typeface="Canva Sans"/>
                <a:ea typeface="Canva Sans"/>
                <a:cs typeface="Canva Sans"/>
                <a:sym typeface="Canva Sans"/>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3542939"/>
            <a:ext cx="16230600" cy="4622571"/>
          </a:xfrm>
          <a:prstGeom prst="rect">
            <a:avLst/>
          </a:prstGeom>
        </p:spPr>
        <p:txBody>
          <a:bodyPr anchor="t" rtlCol="false" tIns="0" lIns="0" bIns="0" rIns="0">
            <a:spAutoFit/>
          </a:bodyPr>
          <a:lstStyle/>
          <a:p>
            <a:pPr algn="l" marL="946513" indent="-473257" lvl="1">
              <a:lnSpc>
                <a:spcPts val="6137"/>
              </a:lnSpc>
              <a:buFont typeface="Arial"/>
              <a:buChar char="•"/>
            </a:pPr>
            <a:r>
              <a:rPr lang="en-US" sz="4384">
                <a:solidFill>
                  <a:srgbClr val="000000"/>
                </a:solidFill>
                <a:latin typeface="Times New Roman"/>
                <a:ea typeface="Times New Roman"/>
                <a:cs typeface="Times New Roman"/>
                <a:sym typeface="Times New Roman"/>
              </a:rPr>
              <a:t>Presence of E. coli bacteria</a:t>
            </a:r>
          </a:p>
          <a:p>
            <a:pPr algn="l" marL="946513" indent="-473257" lvl="1">
              <a:lnSpc>
                <a:spcPts val="6137"/>
              </a:lnSpc>
              <a:buFont typeface="Arial"/>
              <a:buChar char="•"/>
            </a:pPr>
            <a:r>
              <a:rPr lang="en-US" sz="4384">
                <a:solidFill>
                  <a:srgbClr val="000000"/>
                </a:solidFill>
                <a:latin typeface="Times New Roman"/>
                <a:ea typeface="Times New Roman"/>
                <a:cs typeface="Times New Roman"/>
                <a:sym typeface="Times New Roman"/>
              </a:rPr>
              <a:t>Presence of total coliform bacteria</a:t>
            </a:r>
          </a:p>
          <a:p>
            <a:pPr algn="l" marL="946513" indent="-473257" lvl="1">
              <a:lnSpc>
                <a:spcPts val="6137"/>
              </a:lnSpc>
              <a:buFont typeface="Arial"/>
              <a:buChar char="•"/>
            </a:pPr>
            <a:r>
              <a:rPr lang="en-US" sz="4384">
                <a:solidFill>
                  <a:srgbClr val="000000"/>
                </a:solidFill>
                <a:latin typeface="Times New Roman"/>
                <a:ea typeface="Times New Roman"/>
                <a:cs typeface="Times New Roman"/>
                <a:sym typeface="Times New Roman"/>
              </a:rPr>
              <a:t>No physical or chemical contamination detected</a:t>
            </a:r>
          </a:p>
          <a:p>
            <a:pPr algn="l" marL="946513" indent="-473257" lvl="1">
              <a:lnSpc>
                <a:spcPts val="6137"/>
              </a:lnSpc>
              <a:buFont typeface="Arial"/>
              <a:buChar char="•"/>
            </a:pPr>
            <a:r>
              <a:rPr lang="en-US" sz="4384">
                <a:solidFill>
                  <a:srgbClr val="000000"/>
                </a:solidFill>
                <a:latin typeface="Times New Roman"/>
                <a:ea typeface="Times New Roman"/>
                <a:cs typeface="Times New Roman"/>
                <a:sym typeface="Times New Roman"/>
              </a:rPr>
              <a:t>The detection of coliforms in storage tanks indicated exposure to sources of microbial pollution, making the water unsafe for direct consumption</a:t>
            </a:r>
          </a:p>
        </p:txBody>
      </p:sp>
      <p:sp>
        <p:nvSpPr>
          <p:cNvPr name="Freeform 3" id="3"/>
          <p:cNvSpPr/>
          <p:nvPr/>
        </p:nvSpPr>
        <p:spPr>
          <a:xfrm flipH="false" flipV="false" rot="0">
            <a:off x="1481628" y="282798"/>
            <a:ext cx="1470709" cy="1792426"/>
          </a:xfrm>
          <a:custGeom>
            <a:avLst/>
            <a:gdLst/>
            <a:ahLst/>
            <a:cxnLst/>
            <a:rect r="r" b="b" t="t" l="l"/>
            <a:pathLst>
              <a:path h="1792426" w="1470709">
                <a:moveTo>
                  <a:pt x="0" y="0"/>
                </a:moveTo>
                <a:lnTo>
                  <a:pt x="1470708" y="0"/>
                </a:lnTo>
                <a:lnTo>
                  <a:pt x="1470708" y="1792426"/>
                </a:lnTo>
                <a:lnTo>
                  <a:pt x="0" y="1792426"/>
                </a:lnTo>
                <a:lnTo>
                  <a:pt x="0" y="0"/>
                </a:lnTo>
                <a:close/>
              </a:path>
            </a:pathLst>
          </a:custGeom>
          <a:blipFill>
            <a:blip r:embed="rId2"/>
            <a:stretch>
              <a:fillRect l="0" t="0" r="0" b="0"/>
            </a:stretch>
          </a:blipFill>
        </p:spPr>
      </p:sp>
      <p:sp>
        <p:nvSpPr>
          <p:cNvPr name="TextBox 4" id="4"/>
          <p:cNvSpPr txBox="true"/>
          <p:nvPr/>
        </p:nvSpPr>
        <p:spPr>
          <a:xfrm rot="0">
            <a:off x="4619466" y="484299"/>
            <a:ext cx="10052943" cy="1215119"/>
          </a:xfrm>
          <a:prstGeom prst="rect">
            <a:avLst/>
          </a:prstGeom>
        </p:spPr>
        <p:txBody>
          <a:bodyPr anchor="t" rtlCol="false" tIns="0" lIns="0" bIns="0" rIns="0">
            <a:spAutoFit/>
          </a:bodyPr>
          <a:lstStyle/>
          <a:p>
            <a:pPr algn="ctr">
              <a:lnSpc>
                <a:spcPts val="9674"/>
              </a:lnSpc>
              <a:spcBef>
                <a:spcPct val="0"/>
              </a:spcBef>
            </a:pPr>
            <a:r>
              <a:rPr lang="en-US" b="true" sz="6910">
                <a:solidFill>
                  <a:srgbClr val="000000"/>
                </a:solidFill>
                <a:latin typeface="Times New Roman Bold"/>
                <a:ea typeface="Times New Roman Bold"/>
                <a:cs typeface="Times New Roman Bold"/>
                <a:sym typeface="Times New Roman Bold"/>
              </a:rPr>
              <a:t>Water Quality Test Results</a:t>
            </a:r>
          </a:p>
        </p:txBody>
      </p:sp>
      <p:sp>
        <p:nvSpPr>
          <p:cNvPr name="Freeform 5" id="5"/>
          <p:cNvSpPr/>
          <p:nvPr/>
        </p:nvSpPr>
        <p:spPr>
          <a:xfrm flipH="false" flipV="false" rot="0">
            <a:off x="1028700" y="2432119"/>
            <a:ext cx="16230600" cy="142018"/>
          </a:xfrm>
          <a:custGeom>
            <a:avLst/>
            <a:gdLst/>
            <a:ahLst/>
            <a:cxnLst/>
            <a:rect r="r" b="b" t="t" l="l"/>
            <a:pathLst>
              <a:path h="142018" w="16230600">
                <a:moveTo>
                  <a:pt x="0" y="0"/>
                </a:moveTo>
                <a:lnTo>
                  <a:pt x="16230600" y="0"/>
                </a:lnTo>
                <a:lnTo>
                  <a:pt x="16230600" y="142017"/>
                </a:lnTo>
                <a:lnTo>
                  <a:pt x="0" y="142017"/>
                </a:lnTo>
                <a:lnTo>
                  <a:pt x="0" y="0"/>
                </a:lnTo>
                <a:close/>
              </a:path>
            </a:pathLst>
          </a:custGeom>
          <a:blipFill>
            <a:blip r:embed="rId3"/>
            <a:stretch>
              <a:fillRect l="0" t="0" r="0" b="0"/>
            </a:stretch>
          </a:blipFill>
        </p:spPr>
      </p:sp>
      <p:sp>
        <p:nvSpPr>
          <p:cNvPr name="AutoShape 6" id="6"/>
          <p:cNvSpPr/>
          <p:nvPr/>
        </p:nvSpPr>
        <p:spPr>
          <a:xfrm>
            <a:off x="3469976" y="282798"/>
            <a:ext cx="0" cy="2084030"/>
          </a:xfrm>
          <a:prstGeom prst="line">
            <a:avLst/>
          </a:prstGeom>
          <a:ln cap="flat" w="38100">
            <a:solidFill>
              <a:srgbClr val="2E6417"/>
            </a:solidFill>
            <a:prstDash val="solid"/>
            <a:headEnd type="none" len="sm" w="sm"/>
            <a:tailEnd type="none" len="sm" w="sm"/>
          </a:ln>
        </p:spPr>
      </p:sp>
      <p:sp>
        <p:nvSpPr>
          <p:cNvPr name="Freeform 7" id="7"/>
          <p:cNvSpPr/>
          <p:nvPr/>
        </p:nvSpPr>
        <p:spPr>
          <a:xfrm flipH="false" flipV="false" rot="0">
            <a:off x="0" y="9258300"/>
            <a:ext cx="18288000" cy="1011582"/>
          </a:xfrm>
          <a:custGeom>
            <a:avLst/>
            <a:gdLst/>
            <a:ahLst/>
            <a:cxnLst/>
            <a:rect r="r" b="b" t="t" l="l"/>
            <a:pathLst>
              <a:path h="1011582" w="18288000">
                <a:moveTo>
                  <a:pt x="0" y="0"/>
                </a:moveTo>
                <a:lnTo>
                  <a:pt x="18288000" y="0"/>
                </a:lnTo>
                <a:lnTo>
                  <a:pt x="18288000" y="1011582"/>
                </a:lnTo>
                <a:lnTo>
                  <a:pt x="0" y="1011582"/>
                </a:lnTo>
                <a:lnTo>
                  <a:pt x="0" y="0"/>
                </a:lnTo>
                <a:close/>
              </a:path>
            </a:pathLst>
          </a:custGeom>
          <a:blipFill>
            <a:blip r:embed="rId4"/>
            <a:stretch>
              <a:fillRect l="-20856" t="0" r="-752" b="-1680"/>
            </a:stretch>
          </a:blipFill>
        </p:spPr>
      </p:sp>
      <p:sp>
        <p:nvSpPr>
          <p:cNvPr name="TextBox 8" id="8"/>
          <p:cNvSpPr txBox="true"/>
          <p:nvPr/>
        </p:nvSpPr>
        <p:spPr>
          <a:xfrm rot="0">
            <a:off x="731401" y="9365816"/>
            <a:ext cx="152400" cy="228600"/>
          </a:xfrm>
          <a:prstGeom prst="rect">
            <a:avLst/>
          </a:prstGeom>
        </p:spPr>
        <p:txBody>
          <a:bodyPr anchor="t" rtlCol="false" tIns="0" lIns="0" bIns="0" rIns="0" wrap="none">
            <a:spAutoFit/>
          </a:bodyPr>
          <a:lstStyle/>
          <a:p>
            <a:pPr algn="ctr">
              <a:lnSpc>
                <a:spcPts val="5970"/>
              </a:lnSpc>
              <a:spcBef>
                <a:spcPct val="0"/>
              </a:spcBef>
            </a:pPr>
            <a:r>
              <a:rPr lang="en-US" sz="4264">
                <a:solidFill>
                  <a:srgbClr val="FFFFFF"/>
                </a:solidFill>
                <a:latin typeface="Canva Sans"/>
                <a:ea typeface="Canva Sans"/>
                <a:cs typeface="Canva Sans"/>
                <a:sym typeface="Canva Sans"/>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81628" y="282798"/>
            <a:ext cx="1470709" cy="1792426"/>
          </a:xfrm>
          <a:custGeom>
            <a:avLst/>
            <a:gdLst/>
            <a:ahLst/>
            <a:cxnLst/>
            <a:rect r="r" b="b" t="t" l="l"/>
            <a:pathLst>
              <a:path h="1792426" w="1470709">
                <a:moveTo>
                  <a:pt x="0" y="0"/>
                </a:moveTo>
                <a:lnTo>
                  <a:pt x="1470708" y="0"/>
                </a:lnTo>
                <a:lnTo>
                  <a:pt x="1470708" y="1792426"/>
                </a:lnTo>
                <a:lnTo>
                  <a:pt x="0" y="1792426"/>
                </a:lnTo>
                <a:lnTo>
                  <a:pt x="0" y="0"/>
                </a:lnTo>
                <a:close/>
              </a:path>
            </a:pathLst>
          </a:custGeom>
          <a:blipFill>
            <a:blip r:embed="rId2"/>
            <a:stretch>
              <a:fillRect l="0" t="0" r="0" b="0"/>
            </a:stretch>
          </a:blipFill>
        </p:spPr>
      </p:sp>
      <p:sp>
        <p:nvSpPr>
          <p:cNvPr name="Freeform 3" id="3"/>
          <p:cNvSpPr/>
          <p:nvPr/>
        </p:nvSpPr>
        <p:spPr>
          <a:xfrm flipH="false" flipV="false" rot="0">
            <a:off x="1028700" y="2432119"/>
            <a:ext cx="16230600" cy="142018"/>
          </a:xfrm>
          <a:custGeom>
            <a:avLst/>
            <a:gdLst/>
            <a:ahLst/>
            <a:cxnLst/>
            <a:rect r="r" b="b" t="t" l="l"/>
            <a:pathLst>
              <a:path h="142018" w="16230600">
                <a:moveTo>
                  <a:pt x="0" y="0"/>
                </a:moveTo>
                <a:lnTo>
                  <a:pt x="16230600" y="0"/>
                </a:lnTo>
                <a:lnTo>
                  <a:pt x="16230600" y="142017"/>
                </a:lnTo>
                <a:lnTo>
                  <a:pt x="0" y="142017"/>
                </a:lnTo>
                <a:lnTo>
                  <a:pt x="0" y="0"/>
                </a:lnTo>
                <a:close/>
              </a:path>
            </a:pathLst>
          </a:custGeom>
          <a:blipFill>
            <a:blip r:embed="rId3"/>
            <a:stretch>
              <a:fillRect l="0" t="0" r="0" b="0"/>
            </a:stretch>
          </a:blipFill>
        </p:spPr>
      </p:sp>
      <p:sp>
        <p:nvSpPr>
          <p:cNvPr name="TextBox 4" id="4"/>
          <p:cNvSpPr txBox="true"/>
          <p:nvPr/>
        </p:nvSpPr>
        <p:spPr>
          <a:xfrm rot="0">
            <a:off x="1481628" y="2710934"/>
            <a:ext cx="14217872" cy="6310980"/>
          </a:xfrm>
          <a:prstGeom prst="rect">
            <a:avLst/>
          </a:prstGeom>
        </p:spPr>
        <p:txBody>
          <a:bodyPr anchor="t" rtlCol="false" tIns="0" lIns="0" bIns="0" rIns="0">
            <a:spAutoFit/>
          </a:bodyPr>
          <a:lstStyle/>
          <a:p>
            <a:pPr algn="l">
              <a:lnSpc>
                <a:spcPts val="5534"/>
              </a:lnSpc>
              <a:spcBef>
                <a:spcPct val="0"/>
              </a:spcBef>
            </a:pPr>
            <a:r>
              <a:rPr lang="en-US" b="true" sz="3952">
                <a:solidFill>
                  <a:srgbClr val="000000"/>
                </a:solidFill>
                <a:latin typeface="Times New Roman Bold"/>
                <a:ea typeface="Times New Roman Bold"/>
                <a:cs typeface="Times New Roman Bold"/>
                <a:sym typeface="Times New Roman Bold"/>
              </a:rPr>
              <a:t>Direct causes:</a:t>
            </a:r>
          </a:p>
          <a:p>
            <a:pPr algn="l" marL="853432" indent="-426716" lvl="1">
              <a:lnSpc>
                <a:spcPts val="5534"/>
              </a:lnSpc>
              <a:buFont typeface="Arial"/>
              <a:buChar char="•"/>
            </a:pPr>
            <a:r>
              <a:rPr lang="en-US" sz="3952">
                <a:solidFill>
                  <a:srgbClr val="000000"/>
                </a:solidFill>
                <a:latin typeface="Times New Roman"/>
                <a:ea typeface="Times New Roman"/>
                <a:cs typeface="Times New Roman"/>
                <a:sym typeface="Times New Roman"/>
              </a:rPr>
              <a:t>Poorly maintained storage tanks</a:t>
            </a:r>
          </a:p>
          <a:p>
            <a:pPr algn="l" marL="853432" indent="-426716" lvl="1">
              <a:lnSpc>
                <a:spcPts val="5534"/>
              </a:lnSpc>
              <a:buFont typeface="Arial"/>
              <a:buChar char="•"/>
            </a:pPr>
            <a:r>
              <a:rPr lang="en-US" sz="3952">
                <a:solidFill>
                  <a:srgbClr val="000000"/>
                </a:solidFill>
                <a:latin typeface="Times New Roman"/>
                <a:ea typeface="Times New Roman"/>
                <a:cs typeface="Times New Roman"/>
                <a:sym typeface="Times New Roman"/>
              </a:rPr>
              <a:t>Leakages in pipelines</a:t>
            </a:r>
          </a:p>
          <a:p>
            <a:pPr algn="l" marL="853432" indent="-426716" lvl="1">
              <a:lnSpc>
                <a:spcPts val="5534"/>
              </a:lnSpc>
              <a:buFont typeface="Arial"/>
              <a:buChar char="•"/>
            </a:pPr>
            <a:r>
              <a:rPr lang="en-US" sz="3952">
                <a:solidFill>
                  <a:srgbClr val="000000"/>
                </a:solidFill>
                <a:latin typeface="Times New Roman"/>
                <a:ea typeface="Times New Roman"/>
                <a:cs typeface="Times New Roman"/>
                <a:sym typeface="Times New Roman"/>
              </a:rPr>
              <a:t>Absence of any treatment or filtration system</a:t>
            </a:r>
          </a:p>
          <a:p>
            <a:pPr algn="l">
              <a:lnSpc>
                <a:spcPts val="5534"/>
              </a:lnSpc>
              <a:spcBef>
                <a:spcPct val="0"/>
              </a:spcBef>
            </a:pPr>
            <a:r>
              <a:rPr lang="en-US" b="true" sz="3952">
                <a:solidFill>
                  <a:srgbClr val="000000"/>
                </a:solidFill>
                <a:latin typeface="Times New Roman Bold"/>
                <a:ea typeface="Times New Roman Bold"/>
                <a:cs typeface="Times New Roman Bold"/>
                <a:sym typeface="Times New Roman Bold"/>
              </a:rPr>
              <a:t>Indirect causes:</a:t>
            </a:r>
          </a:p>
          <a:p>
            <a:pPr algn="l" marL="853432" indent="-426716" lvl="1">
              <a:lnSpc>
                <a:spcPts val="5534"/>
              </a:lnSpc>
              <a:buFont typeface="Arial"/>
              <a:buChar char="•"/>
            </a:pPr>
            <a:r>
              <a:rPr lang="en-US" sz="3952">
                <a:solidFill>
                  <a:srgbClr val="000000"/>
                </a:solidFill>
                <a:latin typeface="Times New Roman"/>
                <a:ea typeface="Times New Roman"/>
                <a:cs typeface="Times New Roman"/>
                <a:sym typeface="Times New Roman"/>
              </a:rPr>
              <a:t>Low awareness about safe water practices</a:t>
            </a:r>
          </a:p>
          <a:p>
            <a:pPr algn="l" marL="853432" indent="-426716" lvl="1">
              <a:lnSpc>
                <a:spcPts val="5534"/>
              </a:lnSpc>
              <a:buFont typeface="Arial"/>
              <a:buChar char="•"/>
            </a:pPr>
            <a:r>
              <a:rPr lang="en-US" sz="3952">
                <a:solidFill>
                  <a:srgbClr val="000000"/>
                </a:solidFill>
                <a:latin typeface="Times New Roman"/>
                <a:ea typeface="Times New Roman"/>
                <a:cs typeface="Times New Roman"/>
                <a:sym typeface="Times New Roman"/>
              </a:rPr>
              <a:t>Reliance on traditional beliefs in the purity of spring water</a:t>
            </a:r>
          </a:p>
          <a:p>
            <a:pPr algn="l" marL="853432" indent="-426716" lvl="1">
              <a:lnSpc>
                <a:spcPts val="5534"/>
              </a:lnSpc>
              <a:buFont typeface="Arial"/>
              <a:buChar char="•"/>
            </a:pPr>
            <a:r>
              <a:rPr lang="en-US" sz="3952">
                <a:solidFill>
                  <a:srgbClr val="000000"/>
                </a:solidFill>
                <a:latin typeface="Times New Roman"/>
                <a:ea typeface="Times New Roman"/>
                <a:cs typeface="Times New Roman"/>
                <a:sym typeface="Times New Roman"/>
              </a:rPr>
              <a:t>Irregular maintenance schedules</a:t>
            </a:r>
          </a:p>
          <a:p>
            <a:pPr algn="l" marL="853432" indent="-426716" lvl="1">
              <a:lnSpc>
                <a:spcPts val="5534"/>
              </a:lnSpc>
              <a:buFont typeface="Arial"/>
              <a:buChar char="•"/>
            </a:pPr>
            <a:r>
              <a:rPr lang="en-US" sz="3952">
                <a:solidFill>
                  <a:srgbClr val="000000"/>
                </a:solidFill>
                <a:latin typeface="Times New Roman"/>
                <a:ea typeface="Times New Roman"/>
                <a:cs typeface="Times New Roman"/>
                <a:sym typeface="Times New Roman"/>
              </a:rPr>
              <a:t>Limited accountability for upkeep</a:t>
            </a:r>
          </a:p>
        </p:txBody>
      </p:sp>
      <p:sp>
        <p:nvSpPr>
          <p:cNvPr name="TextBox 5" id="5"/>
          <p:cNvSpPr txBox="true"/>
          <p:nvPr/>
        </p:nvSpPr>
        <p:spPr>
          <a:xfrm rot="0">
            <a:off x="3907084" y="700474"/>
            <a:ext cx="6816527" cy="1264920"/>
          </a:xfrm>
          <a:prstGeom prst="rect">
            <a:avLst/>
          </a:prstGeom>
        </p:spPr>
        <p:txBody>
          <a:bodyPr anchor="t" rtlCol="false" tIns="0" lIns="0" bIns="0" rIns="0">
            <a:spAutoFit/>
          </a:bodyPr>
          <a:lstStyle/>
          <a:p>
            <a:pPr algn="ctr">
              <a:lnSpc>
                <a:spcPts val="10080"/>
              </a:lnSpc>
              <a:spcBef>
                <a:spcPct val="0"/>
              </a:spcBef>
            </a:pPr>
            <a:r>
              <a:rPr lang="en-US" b="true" sz="7200">
                <a:solidFill>
                  <a:srgbClr val="000000"/>
                </a:solidFill>
                <a:latin typeface="Times New Roman Bold"/>
                <a:ea typeface="Times New Roman Bold"/>
                <a:cs typeface="Times New Roman Bold"/>
                <a:sym typeface="Times New Roman Bold"/>
              </a:rPr>
              <a:t>Problem Analysis</a:t>
            </a:r>
          </a:p>
        </p:txBody>
      </p:sp>
      <p:sp>
        <p:nvSpPr>
          <p:cNvPr name="AutoShape 6" id="6"/>
          <p:cNvSpPr/>
          <p:nvPr/>
        </p:nvSpPr>
        <p:spPr>
          <a:xfrm>
            <a:off x="3469976" y="282798"/>
            <a:ext cx="0" cy="2084030"/>
          </a:xfrm>
          <a:prstGeom prst="line">
            <a:avLst/>
          </a:prstGeom>
          <a:ln cap="flat" w="38100">
            <a:solidFill>
              <a:srgbClr val="2E6417"/>
            </a:solidFill>
            <a:prstDash val="solid"/>
            <a:headEnd type="none" len="sm" w="sm"/>
            <a:tailEnd type="none" len="sm" w="sm"/>
          </a:ln>
        </p:spPr>
      </p:sp>
      <p:sp>
        <p:nvSpPr>
          <p:cNvPr name="Freeform 7" id="7"/>
          <p:cNvSpPr/>
          <p:nvPr/>
        </p:nvSpPr>
        <p:spPr>
          <a:xfrm flipH="false" flipV="false" rot="0">
            <a:off x="0" y="9258300"/>
            <a:ext cx="18288000" cy="1011582"/>
          </a:xfrm>
          <a:custGeom>
            <a:avLst/>
            <a:gdLst/>
            <a:ahLst/>
            <a:cxnLst/>
            <a:rect r="r" b="b" t="t" l="l"/>
            <a:pathLst>
              <a:path h="1011582" w="18288000">
                <a:moveTo>
                  <a:pt x="0" y="0"/>
                </a:moveTo>
                <a:lnTo>
                  <a:pt x="18288000" y="0"/>
                </a:lnTo>
                <a:lnTo>
                  <a:pt x="18288000" y="1011582"/>
                </a:lnTo>
                <a:lnTo>
                  <a:pt x="0" y="1011582"/>
                </a:lnTo>
                <a:lnTo>
                  <a:pt x="0" y="0"/>
                </a:lnTo>
                <a:close/>
              </a:path>
            </a:pathLst>
          </a:custGeom>
          <a:blipFill>
            <a:blip r:embed="rId4"/>
            <a:stretch>
              <a:fillRect l="-20856" t="0" r="-752" b="-1680"/>
            </a:stretch>
          </a:blipFill>
        </p:spPr>
      </p:sp>
      <p:sp>
        <p:nvSpPr>
          <p:cNvPr name="TextBox 8" id="8"/>
          <p:cNvSpPr txBox="true"/>
          <p:nvPr/>
        </p:nvSpPr>
        <p:spPr>
          <a:xfrm rot="0">
            <a:off x="731401" y="9365816"/>
            <a:ext cx="152400" cy="228600"/>
          </a:xfrm>
          <a:prstGeom prst="rect">
            <a:avLst/>
          </a:prstGeom>
        </p:spPr>
        <p:txBody>
          <a:bodyPr anchor="t" rtlCol="false" tIns="0" lIns="0" bIns="0" rIns="0" wrap="none">
            <a:spAutoFit/>
          </a:bodyPr>
          <a:lstStyle/>
          <a:p>
            <a:pPr algn="ctr">
              <a:lnSpc>
                <a:spcPts val="5970"/>
              </a:lnSpc>
              <a:spcBef>
                <a:spcPct val="0"/>
              </a:spcBef>
            </a:pPr>
            <a:r>
              <a:rPr lang="en-US" sz="4264">
                <a:solidFill>
                  <a:srgbClr val="FFFFFF"/>
                </a:solidFill>
                <a:latin typeface="Canva Sans"/>
                <a:ea typeface="Canva Sans"/>
                <a:cs typeface="Canva Sans"/>
                <a:sym typeface="Canva Sans"/>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84328" y="102647"/>
            <a:ext cx="1470709" cy="1792426"/>
          </a:xfrm>
          <a:custGeom>
            <a:avLst/>
            <a:gdLst/>
            <a:ahLst/>
            <a:cxnLst/>
            <a:rect r="r" b="b" t="t" l="l"/>
            <a:pathLst>
              <a:path h="1792426" w="1470709">
                <a:moveTo>
                  <a:pt x="0" y="0"/>
                </a:moveTo>
                <a:lnTo>
                  <a:pt x="1470709" y="0"/>
                </a:lnTo>
                <a:lnTo>
                  <a:pt x="1470709" y="1792426"/>
                </a:lnTo>
                <a:lnTo>
                  <a:pt x="0" y="1792426"/>
                </a:lnTo>
                <a:lnTo>
                  <a:pt x="0" y="0"/>
                </a:lnTo>
                <a:close/>
              </a:path>
            </a:pathLst>
          </a:custGeom>
          <a:blipFill>
            <a:blip r:embed="rId2"/>
            <a:stretch>
              <a:fillRect l="0" t="0" r="0" b="0"/>
            </a:stretch>
          </a:blipFill>
        </p:spPr>
      </p:sp>
      <p:sp>
        <p:nvSpPr>
          <p:cNvPr name="Freeform 3" id="3"/>
          <p:cNvSpPr/>
          <p:nvPr/>
        </p:nvSpPr>
        <p:spPr>
          <a:xfrm flipH="false" flipV="false" rot="0">
            <a:off x="731401" y="2251967"/>
            <a:ext cx="16230600" cy="142018"/>
          </a:xfrm>
          <a:custGeom>
            <a:avLst/>
            <a:gdLst/>
            <a:ahLst/>
            <a:cxnLst/>
            <a:rect r="r" b="b" t="t" l="l"/>
            <a:pathLst>
              <a:path h="142018" w="16230600">
                <a:moveTo>
                  <a:pt x="0" y="0"/>
                </a:moveTo>
                <a:lnTo>
                  <a:pt x="16230600" y="0"/>
                </a:lnTo>
                <a:lnTo>
                  <a:pt x="16230600" y="142018"/>
                </a:lnTo>
                <a:lnTo>
                  <a:pt x="0" y="142018"/>
                </a:lnTo>
                <a:lnTo>
                  <a:pt x="0" y="0"/>
                </a:lnTo>
                <a:close/>
              </a:path>
            </a:pathLst>
          </a:custGeom>
          <a:blipFill>
            <a:blip r:embed="rId3"/>
            <a:stretch>
              <a:fillRect l="0" t="0" r="0" b="0"/>
            </a:stretch>
          </a:blipFill>
        </p:spPr>
      </p:sp>
      <p:sp>
        <p:nvSpPr>
          <p:cNvPr name="AutoShape 4" id="4"/>
          <p:cNvSpPr/>
          <p:nvPr/>
        </p:nvSpPr>
        <p:spPr>
          <a:xfrm>
            <a:off x="3172677" y="102647"/>
            <a:ext cx="0" cy="2084030"/>
          </a:xfrm>
          <a:prstGeom prst="line">
            <a:avLst/>
          </a:prstGeom>
          <a:ln cap="flat" w="38100">
            <a:solidFill>
              <a:srgbClr val="2E6417"/>
            </a:solidFill>
            <a:prstDash val="solid"/>
            <a:headEnd type="none" len="sm" w="sm"/>
            <a:tailEnd type="none" len="sm" w="sm"/>
          </a:ln>
        </p:spPr>
      </p:sp>
      <p:sp>
        <p:nvSpPr>
          <p:cNvPr name="Freeform 5" id="5"/>
          <p:cNvSpPr/>
          <p:nvPr/>
        </p:nvSpPr>
        <p:spPr>
          <a:xfrm flipH="false" flipV="false" rot="0">
            <a:off x="0" y="9258300"/>
            <a:ext cx="18288000" cy="1011582"/>
          </a:xfrm>
          <a:custGeom>
            <a:avLst/>
            <a:gdLst/>
            <a:ahLst/>
            <a:cxnLst/>
            <a:rect r="r" b="b" t="t" l="l"/>
            <a:pathLst>
              <a:path h="1011582" w="18288000">
                <a:moveTo>
                  <a:pt x="0" y="0"/>
                </a:moveTo>
                <a:lnTo>
                  <a:pt x="18288000" y="0"/>
                </a:lnTo>
                <a:lnTo>
                  <a:pt x="18288000" y="1011582"/>
                </a:lnTo>
                <a:lnTo>
                  <a:pt x="0" y="1011582"/>
                </a:lnTo>
                <a:lnTo>
                  <a:pt x="0" y="0"/>
                </a:lnTo>
                <a:close/>
              </a:path>
            </a:pathLst>
          </a:custGeom>
          <a:blipFill>
            <a:blip r:embed="rId4"/>
            <a:stretch>
              <a:fillRect l="-20856" t="0" r="-752" b="-1680"/>
            </a:stretch>
          </a:blipFill>
        </p:spPr>
      </p:sp>
      <p:sp>
        <p:nvSpPr>
          <p:cNvPr name="TextBox 6" id="6"/>
          <p:cNvSpPr txBox="true"/>
          <p:nvPr/>
        </p:nvSpPr>
        <p:spPr>
          <a:xfrm rot="0">
            <a:off x="3687027" y="630153"/>
            <a:ext cx="7291586" cy="1264920"/>
          </a:xfrm>
          <a:prstGeom prst="rect">
            <a:avLst/>
          </a:prstGeom>
        </p:spPr>
        <p:txBody>
          <a:bodyPr anchor="t" rtlCol="false" tIns="0" lIns="0" bIns="0" rIns="0">
            <a:spAutoFit/>
          </a:bodyPr>
          <a:lstStyle/>
          <a:p>
            <a:pPr algn="ctr">
              <a:lnSpc>
                <a:spcPts val="10080"/>
              </a:lnSpc>
              <a:spcBef>
                <a:spcPct val="0"/>
              </a:spcBef>
            </a:pPr>
            <a:r>
              <a:rPr lang="en-US" b="true" sz="7200">
                <a:solidFill>
                  <a:srgbClr val="000000"/>
                </a:solidFill>
                <a:latin typeface="Times New Roman Bold"/>
                <a:ea typeface="Times New Roman Bold"/>
                <a:cs typeface="Times New Roman Bold"/>
                <a:sym typeface="Times New Roman Bold"/>
              </a:rPr>
              <a:t>Identified Solution</a:t>
            </a:r>
          </a:p>
        </p:txBody>
      </p:sp>
      <p:sp>
        <p:nvSpPr>
          <p:cNvPr name="TextBox 7" id="7"/>
          <p:cNvSpPr txBox="true"/>
          <p:nvPr/>
        </p:nvSpPr>
        <p:spPr>
          <a:xfrm rot="0">
            <a:off x="731401" y="9365816"/>
            <a:ext cx="152400" cy="228600"/>
          </a:xfrm>
          <a:prstGeom prst="rect">
            <a:avLst/>
          </a:prstGeom>
        </p:spPr>
        <p:txBody>
          <a:bodyPr anchor="t" rtlCol="false" tIns="0" lIns="0" bIns="0" rIns="0" wrap="none">
            <a:spAutoFit/>
          </a:bodyPr>
          <a:lstStyle/>
          <a:p>
            <a:pPr algn="ctr">
              <a:lnSpc>
                <a:spcPts val="5970"/>
              </a:lnSpc>
              <a:spcBef>
                <a:spcPct val="0"/>
              </a:spcBef>
            </a:pPr>
            <a:r>
              <a:rPr lang="en-US" sz="4264">
                <a:solidFill>
                  <a:srgbClr val="FFFFFF"/>
                </a:solidFill>
                <a:latin typeface="Canva Sans"/>
                <a:ea typeface="Canva Sans"/>
                <a:cs typeface="Canva Sans"/>
                <a:sym typeface="Canva Sans"/>
              </a:rPr>
              <a:t>8</a:t>
            </a:r>
          </a:p>
        </p:txBody>
      </p:sp>
      <p:sp>
        <p:nvSpPr>
          <p:cNvPr name="TextBox 8" id="8"/>
          <p:cNvSpPr txBox="true"/>
          <p:nvPr/>
        </p:nvSpPr>
        <p:spPr>
          <a:xfrm rot="0">
            <a:off x="731401" y="2463496"/>
            <a:ext cx="17095092" cy="6754957"/>
          </a:xfrm>
          <a:prstGeom prst="rect">
            <a:avLst/>
          </a:prstGeom>
        </p:spPr>
        <p:txBody>
          <a:bodyPr anchor="t" rtlCol="false" tIns="0" lIns="0" bIns="0" rIns="0">
            <a:spAutoFit/>
          </a:bodyPr>
          <a:lstStyle/>
          <a:p>
            <a:pPr algn="just">
              <a:lnSpc>
                <a:spcPts val="4141"/>
              </a:lnSpc>
              <a:spcBef>
                <a:spcPct val="0"/>
              </a:spcBef>
            </a:pPr>
            <a:r>
              <a:rPr lang="en-US" sz="2958">
                <a:solidFill>
                  <a:srgbClr val="000000"/>
                </a:solidFill>
                <a:latin typeface="Times New Roman"/>
                <a:ea typeface="Times New Roman"/>
                <a:cs typeface="Times New Roman"/>
                <a:sym typeface="Times New Roman"/>
              </a:rPr>
              <a:t>After reviewing community needs and water test results, the Jivamritam filtration system was identified as the most suitable solution.</a:t>
            </a:r>
          </a:p>
          <a:p>
            <a:pPr algn="just">
              <a:lnSpc>
                <a:spcPts val="4141"/>
              </a:lnSpc>
              <a:spcBef>
                <a:spcPct val="0"/>
              </a:spcBef>
            </a:pPr>
            <a:r>
              <a:rPr lang="en-US" sz="2958">
                <a:solidFill>
                  <a:srgbClr val="000000"/>
                </a:solidFill>
                <a:latin typeface="Times New Roman"/>
                <a:ea typeface="Times New Roman"/>
                <a:cs typeface="Times New Roman"/>
                <a:sym typeface="Times New Roman"/>
              </a:rPr>
              <a:t>Reason for Selection:</a:t>
            </a:r>
          </a:p>
          <a:p>
            <a:pPr algn="just" marL="638700" indent="-319350" lvl="1">
              <a:lnSpc>
                <a:spcPts val="4141"/>
              </a:lnSpc>
              <a:buFont typeface="Arial"/>
              <a:buChar char="•"/>
            </a:pPr>
            <a:r>
              <a:rPr lang="en-US" sz="2958">
                <a:solidFill>
                  <a:srgbClr val="000000"/>
                </a:solidFill>
                <a:latin typeface="Times New Roman"/>
                <a:ea typeface="Times New Roman"/>
                <a:cs typeface="Times New Roman"/>
                <a:sym typeface="Times New Roman"/>
              </a:rPr>
              <a:t>Effective against biological contamination (main issue in Naala).</a:t>
            </a:r>
          </a:p>
          <a:p>
            <a:pPr algn="just" marL="638700" indent="-319350" lvl="1">
              <a:lnSpc>
                <a:spcPts val="4141"/>
              </a:lnSpc>
              <a:buFont typeface="Arial"/>
              <a:buChar char="•"/>
            </a:pPr>
            <a:r>
              <a:rPr lang="en-US" sz="2958">
                <a:solidFill>
                  <a:srgbClr val="000000"/>
                </a:solidFill>
                <a:latin typeface="Times New Roman"/>
                <a:ea typeface="Times New Roman"/>
                <a:cs typeface="Times New Roman"/>
                <a:sym typeface="Times New Roman"/>
              </a:rPr>
              <a:t>Culturally acceptable and easy for local management.</a:t>
            </a:r>
          </a:p>
          <a:p>
            <a:pPr algn="just" marL="638700" indent="-319350" lvl="1">
              <a:lnSpc>
                <a:spcPts val="4141"/>
              </a:lnSpc>
              <a:buFont typeface="Arial"/>
              <a:buChar char="•"/>
            </a:pPr>
            <a:r>
              <a:rPr lang="en-US" sz="2958">
                <a:solidFill>
                  <a:srgbClr val="000000"/>
                </a:solidFill>
                <a:latin typeface="Times New Roman"/>
                <a:ea typeface="Times New Roman"/>
                <a:cs typeface="Times New Roman"/>
                <a:sym typeface="Times New Roman"/>
              </a:rPr>
              <a:t>Low-maintenance and cost-effective compared to RO systems.</a:t>
            </a:r>
          </a:p>
          <a:p>
            <a:pPr algn="just">
              <a:lnSpc>
                <a:spcPts val="4141"/>
              </a:lnSpc>
              <a:spcBef>
                <a:spcPct val="0"/>
              </a:spcBef>
            </a:pPr>
            <a:r>
              <a:rPr lang="en-US" sz="2958">
                <a:solidFill>
                  <a:srgbClr val="000000"/>
                </a:solidFill>
                <a:latin typeface="Times New Roman"/>
                <a:ea typeface="Times New Roman"/>
                <a:cs typeface="Times New Roman"/>
                <a:sym typeface="Times New Roman"/>
              </a:rPr>
              <a:t>Filtration Design (3-Stage Process):</a:t>
            </a:r>
          </a:p>
          <a:p>
            <a:pPr algn="just" marL="638700" indent="-319350" lvl="1">
              <a:lnSpc>
                <a:spcPts val="4141"/>
              </a:lnSpc>
              <a:buFont typeface="Arial"/>
              <a:buChar char="•"/>
            </a:pPr>
            <a:r>
              <a:rPr lang="en-US" sz="2958">
                <a:solidFill>
                  <a:srgbClr val="000000"/>
                </a:solidFill>
                <a:latin typeface="Times New Roman"/>
                <a:ea typeface="Times New Roman"/>
                <a:cs typeface="Times New Roman"/>
                <a:sym typeface="Times New Roman"/>
              </a:rPr>
              <a:t>Pre-sediment filter – removes large particles and debris.</a:t>
            </a:r>
          </a:p>
          <a:p>
            <a:pPr algn="just" marL="638700" indent="-319350" lvl="1">
              <a:lnSpc>
                <a:spcPts val="4141"/>
              </a:lnSpc>
              <a:buFont typeface="Arial"/>
              <a:buChar char="•"/>
            </a:pPr>
            <a:r>
              <a:rPr lang="en-US" sz="2958">
                <a:solidFill>
                  <a:srgbClr val="000000"/>
                </a:solidFill>
                <a:latin typeface="Times New Roman"/>
                <a:ea typeface="Times New Roman"/>
                <a:cs typeface="Times New Roman"/>
                <a:sym typeface="Times New Roman"/>
              </a:rPr>
              <a:t>Micron filter – eliminates finer dust and suspended impurities.</a:t>
            </a:r>
          </a:p>
          <a:p>
            <a:pPr algn="just" marL="638700" indent="-319350" lvl="1">
              <a:lnSpc>
                <a:spcPts val="4141"/>
              </a:lnSpc>
              <a:buFont typeface="Arial"/>
              <a:buChar char="•"/>
            </a:pPr>
            <a:r>
              <a:rPr lang="en-US" sz="2958">
                <a:solidFill>
                  <a:srgbClr val="000000"/>
                </a:solidFill>
                <a:latin typeface="Times New Roman"/>
                <a:ea typeface="Times New Roman"/>
                <a:cs typeface="Times New Roman"/>
                <a:sym typeface="Times New Roman"/>
              </a:rPr>
              <a:t>UV filter – kills bacteria, viruses, and biological contaminants.</a:t>
            </a:r>
          </a:p>
          <a:p>
            <a:pPr algn="just">
              <a:lnSpc>
                <a:spcPts val="4141"/>
              </a:lnSpc>
              <a:spcBef>
                <a:spcPct val="0"/>
              </a:spcBef>
            </a:pPr>
            <a:r>
              <a:rPr lang="en-US" sz="2958">
                <a:solidFill>
                  <a:srgbClr val="000000"/>
                </a:solidFill>
                <a:latin typeface="Times New Roman"/>
                <a:ea typeface="Times New Roman"/>
                <a:cs typeface="Times New Roman"/>
                <a:sym typeface="Times New Roman"/>
              </a:rPr>
              <a:t>System Capacity:</a:t>
            </a:r>
          </a:p>
          <a:p>
            <a:pPr algn="just" marL="638700" indent="-319350" lvl="1">
              <a:lnSpc>
                <a:spcPts val="4141"/>
              </a:lnSpc>
              <a:buFont typeface="Arial"/>
              <a:buChar char="•"/>
            </a:pPr>
            <a:r>
              <a:rPr lang="en-US" sz="2958">
                <a:solidFill>
                  <a:srgbClr val="000000"/>
                </a:solidFill>
                <a:latin typeface="Times New Roman"/>
                <a:ea typeface="Times New Roman"/>
                <a:cs typeface="Times New Roman"/>
                <a:sym typeface="Times New Roman"/>
              </a:rPr>
              <a:t>Storage tank: 1000 litres (sourced from dhara).</a:t>
            </a:r>
          </a:p>
          <a:p>
            <a:pPr algn="just" marL="638700" indent="-319350" lvl="1">
              <a:lnSpc>
                <a:spcPts val="4141"/>
              </a:lnSpc>
              <a:buFont typeface="Arial"/>
              <a:buChar char="•"/>
            </a:pPr>
            <a:r>
              <a:rPr lang="en-US" sz="2958">
                <a:solidFill>
                  <a:srgbClr val="000000"/>
                </a:solidFill>
                <a:latin typeface="Times New Roman"/>
                <a:ea typeface="Times New Roman"/>
                <a:cs typeface="Times New Roman"/>
                <a:sym typeface="Times New Roman"/>
              </a:rPr>
              <a:t>Daily refill cycle based on community water demand.</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84328" y="102647"/>
            <a:ext cx="1470709" cy="1792426"/>
          </a:xfrm>
          <a:custGeom>
            <a:avLst/>
            <a:gdLst/>
            <a:ahLst/>
            <a:cxnLst/>
            <a:rect r="r" b="b" t="t" l="l"/>
            <a:pathLst>
              <a:path h="1792426" w="1470709">
                <a:moveTo>
                  <a:pt x="0" y="0"/>
                </a:moveTo>
                <a:lnTo>
                  <a:pt x="1470709" y="0"/>
                </a:lnTo>
                <a:lnTo>
                  <a:pt x="1470709" y="1792426"/>
                </a:lnTo>
                <a:lnTo>
                  <a:pt x="0" y="1792426"/>
                </a:lnTo>
                <a:lnTo>
                  <a:pt x="0" y="0"/>
                </a:lnTo>
                <a:close/>
              </a:path>
            </a:pathLst>
          </a:custGeom>
          <a:blipFill>
            <a:blip r:embed="rId2"/>
            <a:stretch>
              <a:fillRect l="0" t="0" r="0" b="0"/>
            </a:stretch>
          </a:blipFill>
        </p:spPr>
      </p:sp>
      <p:sp>
        <p:nvSpPr>
          <p:cNvPr name="Freeform 3" id="3"/>
          <p:cNvSpPr/>
          <p:nvPr/>
        </p:nvSpPr>
        <p:spPr>
          <a:xfrm flipH="false" flipV="false" rot="0">
            <a:off x="731401" y="2251967"/>
            <a:ext cx="16230600" cy="142018"/>
          </a:xfrm>
          <a:custGeom>
            <a:avLst/>
            <a:gdLst/>
            <a:ahLst/>
            <a:cxnLst/>
            <a:rect r="r" b="b" t="t" l="l"/>
            <a:pathLst>
              <a:path h="142018" w="16230600">
                <a:moveTo>
                  <a:pt x="0" y="0"/>
                </a:moveTo>
                <a:lnTo>
                  <a:pt x="16230600" y="0"/>
                </a:lnTo>
                <a:lnTo>
                  <a:pt x="16230600" y="142018"/>
                </a:lnTo>
                <a:lnTo>
                  <a:pt x="0" y="142018"/>
                </a:lnTo>
                <a:lnTo>
                  <a:pt x="0" y="0"/>
                </a:lnTo>
                <a:close/>
              </a:path>
            </a:pathLst>
          </a:custGeom>
          <a:blipFill>
            <a:blip r:embed="rId3"/>
            <a:stretch>
              <a:fillRect l="0" t="0" r="0" b="0"/>
            </a:stretch>
          </a:blipFill>
        </p:spPr>
      </p:sp>
      <p:sp>
        <p:nvSpPr>
          <p:cNvPr name="AutoShape 4" id="4"/>
          <p:cNvSpPr/>
          <p:nvPr/>
        </p:nvSpPr>
        <p:spPr>
          <a:xfrm>
            <a:off x="3172677" y="102647"/>
            <a:ext cx="0" cy="2084030"/>
          </a:xfrm>
          <a:prstGeom prst="line">
            <a:avLst/>
          </a:prstGeom>
          <a:ln cap="flat" w="38100">
            <a:solidFill>
              <a:srgbClr val="2E6417"/>
            </a:solidFill>
            <a:prstDash val="solid"/>
            <a:headEnd type="none" len="sm" w="sm"/>
            <a:tailEnd type="none" len="sm" w="sm"/>
          </a:ln>
        </p:spPr>
      </p:sp>
      <p:sp>
        <p:nvSpPr>
          <p:cNvPr name="Freeform 5" id="5"/>
          <p:cNvSpPr/>
          <p:nvPr/>
        </p:nvSpPr>
        <p:spPr>
          <a:xfrm flipH="false" flipV="false" rot="0">
            <a:off x="0" y="9258300"/>
            <a:ext cx="18288000" cy="1011582"/>
          </a:xfrm>
          <a:custGeom>
            <a:avLst/>
            <a:gdLst/>
            <a:ahLst/>
            <a:cxnLst/>
            <a:rect r="r" b="b" t="t" l="l"/>
            <a:pathLst>
              <a:path h="1011582" w="18288000">
                <a:moveTo>
                  <a:pt x="0" y="0"/>
                </a:moveTo>
                <a:lnTo>
                  <a:pt x="18288000" y="0"/>
                </a:lnTo>
                <a:lnTo>
                  <a:pt x="18288000" y="1011582"/>
                </a:lnTo>
                <a:lnTo>
                  <a:pt x="0" y="1011582"/>
                </a:lnTo>
                <a:lnTo>
                  <a:pt x="0" y="0"/>
                </a:lnTo>
                <a:close/>
              </a:path>
            </a:pathLst>
          </a:custGeom>
          <a:blipFill>
            <a:blip r:embed="rId4"/>
            <a:stretch>
              <a:fillRect l="-20856" t="0" r="-752" b="-1680"/>
            </a:stretch>
          </a:blipFill>
        </p:spPr>
      </p:sp>
      <p:sp>
        <p:nvSpPr>
          <p:cNvPr name="TextBox 6" id="6"/>
          <p:cNvSpPr txBox="true"/>
          <p:nvPr/>
        </p:nvSpPr>
        <p:spPr>
          <a:xfrm rot="0">
            <a:off x="3494146" y="630153"/>
            <a:ext cx="7677349" cy="1264920"/>
          </a:xfrm>
          <a:prstGeom prst="rect">
            <a:avLst/>
          </a:prstGeom>
        </p:spPr>
        <p:txBody>
          <a:bodyPr anchor="t" rtlCol="false" tIns="0" lIns="0" bIns="0" rIns="0">
            <a:spAutoFit/>
          </a:bodyPr>
          <a:lstStyle/>
          <a:p>
            <a:pPr algn="ctr">
              <a:lnSpc>
                <a:spcPts val="10080"/>
              </a:lnSpc>
              <a:spcBef>
                <a:spcPct val="0"/>
              </a:spcBef>
            </a:pPr>
            <a:r>
              <a:rPr lang="en-US" b="true" sz="7200">
                <a:solidFill>
                  <a:srgbClr val="000000"/>
                </a:solidFill>
                <a:latin typeface="Times New Roman Bold"/>
                <a:ea typeface="Times New Roman Bold"/>
                <a:cs typeface="Times New Roman Bold"/>
                <a:sym typeface="Times New Roman Bold"/>
              </a:rPr>
              <a:t>Problem Objectives</a:t>
            </a:r>
          </a:p>
        </p:txBody>
      </p:sp>
      <p:sp>
        <p:nvSpPr>
          <p:cNvPr name="TextBox 7" id="7"/>
          <p:cNvSpPr txBox="true"/>
          <p:nvPr/>
        </p:nvSpPr>
        <p:spPr>
          <a:xfrm rot="0">
            <a:off x="731401" y="9365816"/>
            <a:ext cx="152400" cy="228600"/>
          </a:xfrm>
          <a:prstGeom prst="rect">
            <a:avLst/>
          </a:prstGeom>
        </p:spPr>
        <p:txBody>
          <a:bodyPr anchor="t" rtlCol="false" tIns="0" lIns="0" bIns="0" rIns="0" wrap="none">
            <a:spAutoFit/>
          </a:bodyPr>
          <a:lstStyle/>
          <a:p>
            <a:pPr algn="ctr">
              <a:lnSpc>
                <a:spcPts val="5970"/>
              </a:lnSpc>
              <a:spcBef>
                <a:spcPct val="0"/>
              </a:spcBef>
            </a:pPr>
            <a:r>
              <a:rPr lang="en-US" sz="4264">
                <a:solidFill>
                  <a:srgbClr val="FFFFFF"/>
                </a:solidFill>
                <a:latin typeface="Canva Sans"/>
                <a:ea typeface="Canva Sans"/>
                <a:cs typeface="Canva Sans"/>
                <a:sym typeface="Canva Sans"/>
              </a:rPr>
              <a:t>9</a:t>
            </a:r>
          </a:p>
        </p:txBody>
      </p:sp>
      <p:sp>
        <p:nvSpPr>
          <p:cNvPr name="TextBox 8" id="8"/>
          <p:cNvSpPr txBox="true"/>
          <p:nvPr/>
        </p:nvSpPr>
        <p:spPr>
          <a:xfrm rot="0">
            <a:off x="457140" y="2503343"/>
            <a:ext cx="17373719" cy="6754957"/>
          </a:xfrm>
          <a:prstGeom prst="rect">
            <a:avLst/>
          </a:prstGeom>
        </p:spPr>
        <p:txBody>
          <a:bodyPr anchor="t" rtlCol="false" tIns="0" lIns="0" bIns="0" rIns="0">
            <a:spAutoFit/>
          </a:bodyPr>
          <a:lstStyle/>
          <a:p>
            <a:pPr algn="just" marL="638700" indent="-319350" lvl="1">
              <a:lnSpc>
                <a:spcPts val="4141"/>
              </a:lnSpc>
              <a:buFont typeface="Arial"/>
              <a:buChar char="•"/>
            </a:pPr>
            <a:r>
              <a:rPr lang="en-US" sz="2958">
                <a:solidFill>
                  <a:srgbClr val="000000"/>
                </a:solidFill>
                <a:latin typeface="Times New Roman"/>
                <a:ea typeface="Times New Roman"/>
                <a:cs typeface="Times New Roman"/>
                <a:sym typeface="Times New Roman"/>
              </a:rPr>
              <a:t>Ensure Safe and Reliable Drinking Water</a:t>
            </a:r>
          </a:p>
          <a:p>
            <a:pPr algn="just">
              <a:lnSpc>
                <a:spcPts val="4141"/>
              </a:lnSpc>
            </a:pPr>
            <a:r>
              <a:rPr lang="en-US" sz="2958">
                <a:solidFill>
                  <a:srgbClr val="000000"/>
                </a:solidFill>
                <a:latin typeface="Times New Roman"/>
                <a:ea typeface="Times New Roman"/>
                <a:cs typeface="Times New Roman"/>
                <a:sym typeface="Times New Roman"/>
              </a:rPr>
              <a:t>Implement a community-level filtration system to provide clean, odor-free, and biologically safe water for all households.</a:t>
            </a:r>
          </a:p>
          <a:p>
            <a:pPr algn="just" marL="638700" indent="-319350" lvl="1">
              <a:lnSpc>
                <a:spcPts val="4141"/>
              </a:lnSpc>
              <a:buFont typeface="Arial"/>
              <a:buChar char="•"/>
            </a:pPr>
            <a:r>
              <a:rPr lang="en-US" sz="2958">
                <a:solidFill>
                  <a:srgbClr val="000000"/>
                </a:solidFill>
                <a:latin typeface="Times New Roman"/>
                <a:ea typeface="Times New Roman"/>
                <a:cs typeface="Times New Roman"/>
                <a:sym typeface="Times New Roman"/>
              </a:rPr>
              <a:t>Promote Equitable Access for All Groups</a:t>
            </a:r>
          </a:p>
          <a:p>
            <a:pPr algn="just">
              <a:lnSpc>
                <a:spcPts val="4141"/>
              </a:lnSpc>
            </a:pPr>
            <a:r>
              <a:rPr lang="en-US" sz="2958">
                <a:solidFill>
                  <a:srgbClr val="000000"/>
                </a:solidFill>
                <a:latin typeface="Times New Roman"/>
                <a:ea typeface="Times New Roman"/>
                <a:cs typeface="Times New Roman"/>
                <a:sym typeface="Times New Roman"/>
              </a:rPr>
              <a:t> Design the system layout and pipeline structure to ensure inclusive access, addressing social sensitivities and ensuring fairness.</a:t>
            </a:r>
          </a:p>
          <a:p>
            <a:pPr algn="just" marL="638700" indent="-319350" lvl="1">
              <a:lnSpc>
                <a:spcPts val="4141"/>
              </a:lnSpc>
              <a:buFont typeface="Arial"/>
              <a:buChar char="•"/>
            </a:pPr>
            <a:r>
              <a:rPr lang="en-US" sz="2958">
                <a:solidFill>
                  <a:srgbClr val="000000"/>
                </a:solidFill>
                <a:latin typeface="Times New Roman"/>
                <a:ea typeface="Times New Roman"/>
                <a:cs typeface="Times New Roman"/>
                <a:sym typeface="Times New Roman"/>
              </a:rPr>
              <a:t>Increase Awareness on Water Hygiene</a:t>
            </a:r>
          </a:p>
          <a:p>
            <a:pPr algn="just">
              <a:lnSpc>
                <a:spcPts val="4141"/>
              </a:lnSpc>
            </a:pPr>
            <a:r>
              <a:rPr lang="en-US" sz="2958">
                <a:solidFill>
                  <a:srgbClr val="000000"/>
                </a:solidFill>
                <a:latin typeface="Times New Roman"/>
                <a:ea typeface="Times New Roman"/>
                <a:cs typeface="Times New Roman"/>
                <a:sym typeface="Times New Roman"/>
              </a:rPr>
              <a:t> Conduct awareness sessions, install educational posters, and engage children and women to encourage safe water practices.</a:t>
            </a:r>
          </a:p>
          <a:p>
            <a:pPr algn="just" marL="638700" indent="-319350" lvl="1">
              <a:lnSpc>
                <a:spcPts val="4141"/>
              </a:lnSpc>
              <a:buFont typeface="Arial"/>
              <a:buChar char="•"/>
            </a:pPr>
            <a:r>
              <a:rPr lang="en-US" sz="2958">
                <a:solidFill>
                  <a:srgbClr val="000000"/>
                </a:solidFill>
                <a:latin typeface="Times New Roman"/>
                <a:ea typeface="Times New Roman"/>
                <a:cs typeface="Times New Roman"/>
                <a:sym typeface="Times New Roman"/>
              </a:rPr>
              <a:t>Build Local Capacity and Ownership</a:t>
            </a:r>
          </a:p>
          <a:p>
            <a:pPr algn="just">
              <a:lnSpc>
                <a:spcPts val="4141"/>
              </a:lnSpc>
            </a:pPr>
            <a:r>
              <a:rPr lang="en-US" sz="2958">
                <a:solidFill>
                  <a:srgbClr val="000000"/>
                </a:solidFill>
                <a:latin typeface="Times New Roman"/>
                <a:ea typeface="Times New Roman"/>
                <a:cs typeface="Times New Roman"/>
                <a:sym typeface="Times New Roman"/>
              </a:rPr>
              <a:t> Form and train a Water Management Committee responsible for daily operation, maintenance, and long-term monitoring.</a:t>
            </a:r>
          </a:p>
          <a:p>
            <a:pPr algn="just">
              <a:lnSpc>
                <a:spcPts val="4141"/>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81628" y="282798"/>
            <a:ext cx="1470709" cy="1792426"/>
          </a:xfrm>
          <a:custGeom>
            <a:avLst/>
            <a:gdLst/>
            <a:ahLst/>
            <a:cxnLst/>
            <a:rect r="r" b="b" t="t" l="l"/>
            <a:pathLst>
              <a:path h="1792426" w="1470709">
                <a:moveTo>
                  <a:pt x="0" y="0"/>
                </a:moveTo>
                <a:lnTo>
                  <a:pt x="1470708" y="0"/>
                </a:lnTo>
                <a:lnTo>
                  <a:pt x="1470708" y="1792426"/>
                </a:lnTo>
                <a:lnTo>
                  <a:pt x="0" y="1792426"/>
                </a:lnTo>
                <a:lnTo>
                  <a:pt x="0" y="0"/>
                </a:lnTo>
                <a:close/>
              </a:path>
            </a:pathLst>
          </a:custGeom>
          <a:blipFill>
            <a:blip r:embed="rId2"/>
            <a:stretch>
              <a:fillRect l="0" t="0" r="0" b="0"/>
            </a:stretch>
          </a:blipFill>
        </p:spPr>
      </p:sp>
      <p:sp>
        <p:nvSpPr>
          <p:cNvPr name="TextBox 3" id="3"/>
          <p:cNvSpPr txBox="true"/>
          <p:nvPr/>
        </p:nvSpPr>
        <p:spPr>
          <a:xfrm rot="0">
            <a:off x="4145000" y="810304"/>
            <a:ext cx="5359202" cy="1264920"/>
          </a:xfrm>
          <a:prstGeom prst="rect">
            <a:avLst/>
          </a:prstGeom>
        </p:spPr>
        <p:txBody>
          <a:bodyPr anchor="t" rtlCol="false" tIns="0" lIns="0" bIns="0" rIns="0">
            <a:spAutoFit/>
          </a:bodyPr>
          <a:lstStyle/>
          <a:p>
            <a:pPr algn="ctr">
              <a:lnSpc>
                <a:spcPts val="10080"/>
              </a:lnSpc>
              <a:spcBef>
                <a:spcPct val="0"/>
              </a:spcBef>
            </a:pPr>
            <a:r>
              <a:rPr lang="en-US" b="true" sz="7200">
                <a:solidFill>
                  <a:srgbClr val="000000"/>
                </a:solidFill>
                <a:latin typeface="Times New Roman Bold"/>
                <a:ea typeface="Times New Roman Bold"/>
                <a:cs typeface="Times New Roman Bold"/>
                <a:sym typeface="Times New Roman Bold"/>
              </a:rPr>
              <a:t> Methodology</a:t>
            </a:r>
          </a:p>
        </p:txBody>
      </p:sp>
      <p:sp>
        <p:nvSpPr>
          <p:cNvPr name="Freeform 4" id="4"/>
          <p:cNvSpPr/>
          <p:nvPr/>
        </p:nvSpPr>
        <p:spPr>
          <a:xfrm flipH="false" flipV="false" rot="0">
            <a:off x="1028700" y="2432119"/>
            <a:ext cx="16230600" cy="142018"/>
          </a:xfrm>
          <a:custGeom>
            <a:avLst/>
            <a:gdLst/>
            <a:ahLst/>
            <a:cxnLst/>
            <a:rect r="r" b="b" t="t" l="l"/>
            <a:pathLst>
              <a:path h="142018" w="16230600">
                <a:moveTo>
                  <a:pt x="0" y="0"/>
                </a:moveTo>
                <a:lnTo>
                  <a:pt x="16230600" y="0"/>
                </a:lnTo>
                <a:lnTo>
                  <a:pt x="16230600" y="142017"/>
                </a:lnTo>
                <a:lnTo>
                  <a:pt x="0" y="142017"/>
                </a:lnTo>
                <a:lnTo>
                  <a:pt x="0" y="0"/>
                </a:lnTo>
                <a:close/>
              </a:path>
            </a:pathLst>
          </a:custGeom>
          <a:blipFill>
            <a:blip r:embed="rId3"/>
            <a:stretch>
              <a:fillRect l="0" t="0" r="0" b="0"/>
            </a:stretch>
          </a:blipFill>
        </p:spPr>
      </p:sp>
      <p:sp>
        <p:nvSpPr>
          <p:cNvPr name="AutoShape 5" id="5"/>
          <p:cNvSpPr/>
          <p:nvPr/>
        </p:nvSpPr>
        <p:spPr>
          <a:xfrm>
            <a:off x="3469976" y="282798"/>
            <a:ext cx="0" cy="2084030"/>
          </a:xfrm>
          <a:prstGeom prst="line">
            <a:avLst/>
          </a:prstGeom>
          <a:ln cap="flat" w="38100">
            <a:solidFill>
              <a:srgbClr val="2E6417"/>
            </a:solidFill>
            <a:prstDash val="solid"/>
            <a:headEnd type="none" len="sm" w="sm"/>
            <a:tailEnd type="none" len="sm" w="sm"/>
          </a:ln>
        </p:spPr>
      </p:sp>
      <p:sp>
        <p:nvSpPr>
          <p:cNvPr name="TextBox 6" id="6"/>
          <p:cNvSpPr txBox="true"/>
          <p:nvPr/>
        </p:nvSpPr>
        <p:spPr>
          <a:xfrm rot="0">
            <a:off x="514350" y="2738266"/>
            <a:ext cx="17259300" cy="6851205"/>
          </a:xfrm>
          <a:prstGeom prst="rect">
            <a:avLst/>
          </a:prstGeom>
        </p:spPr>
        <p:txBody>
          <a:bodyPr anchor="t" rtlCol="false" tIns="0" lIns="0" bIns="0" rIns="0">
            <a:spAutoFit/>
          </a:bodyPr>
          <a:lstStyle/>
          <a:p>
            <a:pPr algn="just">
              <a:lnSpc>
                <a:spcPts val="4574"/>
              </a:lnSpc>
            </a:pPr>
            <a:r>
              <a:rPr lang="en-US" sz="3267">
                <a:solidFill>
                  <a:srgbClr val="000000"/>
                </a:solidFill>
                <a:latin typeface="Times New Roman"/>
                <a:ea typeface="Times New Roman"/>
                <a:cs typeface="Times New Roman"/>
                <a:sym typeface="Times New Roman"/>
              </a:rPr>
              <a:t>The project followed a Human-Centered Design (HCD) approach, ensuring that community members were involved at every stage </a:t>
            </a:r>
          </a:p>
          <a:p>
            <a:pPr algn="just">
              <a:lnSpc>
                <a:spcPts val="4574"/>
              </a:lnSpc>
            </a:pPr>
            <a:r>
              <a:rPr lang="en-US" sz="3267">
                <a:solidFill>
                  <a:srgbClr val="000000"/>
                </a:solidFill>
                <a:latin typeface="Times New Roman"/>
                <a:ea typeface="Times New Roman"/>
                <a:cs typeface="Times New Roman"/>
                <a:sym typeface="Times New Roman"/>
              </a:rPr>
              <a:t>                                              </a:t>
            </a:r>
            <a:r>
              <a:rPr lang="en-US" sz="3267" b="true">
                <a:solidFill>
                  <a:srgbClr val="000000"/>
                </a:solidFill>
                <a:latin typeface="Times New Roman Bold"/>
                <a:ea typeface="Times New Roman Bold"/>
                <a:cs typeface="Times New Roman Bold"/>
                <a:sym typeface="Times New Roman Bold"/>
              </a:rPr>
              <a:t>Participatory Co-Design Tools Used:</a:t>
            </a:r>
          </a:p>
          <a:p>
            <a:pPr algn="just" marL="705460" indent="-352730" lvl="1">
              <a:lnSpc>
                <a:spcPts val="4574"/>
              </a:lnSpc>
              <a:buFont typeface="Arial"/>
              <a:buChar char="•"/>
            </a:pPr>
            <a:r>
              <a:rPr lang="en-US" b="true" sz="3267">
                <a:solidFill>
                  <a:srgbClr val="000000"/>
                </a:solidFill>
                <a:latin typeface="Times New Roman Bold"/>
                <a:ea typeface="Times New Roman Bold"/>
                <a:cs typeface="Times New Roman Bold"/>
                <a:sym typeface="Times New Roman Bold"/>
              </a:rPr>
              <a:t>Focus Group Discussions:</a:t>
            </a:r>
            <a:r>
              <a:rPr lang="en-US" sz="3267">
                <a:solidFill>
                  <a:srgbClr val="000000"/>
                </a:solidFill>
                <a:latin typeface="Times New Roman"/>
                <a:ea typeface="Times New Roman"/>
                <a:cs typeface="Times New Roman"/>
                <a:sym typeface="Times New Roman"/>
              </a:rPr>
              <a:t> To understand challenges, expectations, and concerns from different community groups.</a:t>
            </a:r>
          </a:p>
          <a:p>
            <a:pPr algn="just" marL="705460" indent="-352730" lvl="1">
              <a:lnSpc>
                <a:spcPts val="4574"/>
              </a:lnSpc>
              <a:buFont typeface="Arial"/>
              <a:buChar char="•"/>
            </a:pPr>
            <a:r>
              <a:rPr lang="en-US" b="true" sz="3267">
                <a:solidFill>
                  <a:srgbClr val="000000"/>
                </a:solidFill>
                <a:latin typeface="Times New Roman Bold"/>
                <a:ea typeface="Times New Roman Bold"/>
                <a:cs typeface="Times New Roman Bold"/>
                <a:sym typeface="Times New Roman Bold"/>
              </a:rPr>
              <a:t>Poster Cards &amp; Storytelling:</a:t>
            </a:r>
            <a:r>
              <a:rPr lang="en-US" sz="3267">
                <a:solidFill>
                  <a:srgbClr val="000000"/>
                </a:solidFill>
                <a:latin typeface="Times New Roman"/>
                <a:ea typeface="Times New Roman"/>
                <a:cs typeface="Times New Roman"/>
                <a:sym typeface="Times New Roman"/>
              </a:rPr>
              <a:t> To communicate ideas visually and collect villagers’ preferences for awareness content.</a:t>
            </a:r>
          </a:p>
          <a:p>
            <a:pPr algn="just" marL="705460" indent="-352730" lvl="1">
              <a:lnSpc>
                <a:spcPts val="4574"/>
              </a:lnSpc>
              <a:buFont typeface="Arial"/>
              <a:buChar char="•"/>
            </a:pPr>
            <a:r>
              <a:rPr lang="en-US" b="true" sz="3267">
                <a:solidFill>
                  <a:srgbClr val="000000"/>
                </a:solidFill>
                <a:latin typeface="Times New Roman Bold"/>
                <a:ea typeface="Times New Roman Bold"/>
                <a:cs typeface="Times New Roman Bold"/>
                <a:sym typeface="Times New Roman Bold"/>
              </a:rPr>
              <a:t>Group Sketching:</a:t>
            </a:r>
            <a:r>
              <a:rPr lang="en-US" sz="3267">
                <a:solidFill>
                  <a:srgbClr val="000000"/>
                </a:solidFill>
                <a:latin typeface="Times New Roman"/>
                <a:ea typeface="Times New Roman"/>
                <a:cs typeface="Times New Roman"/>
                <a:sym typeface="Times New Roman"/>
              </a:rPr>
              <a:t> To visualize how the surroundings of the filter and pipelines should look.</a:t>
            </a:r>
          </a:p>
          <a:p>
            <a:pPr algn="just" marL="705460" indent="-352730" lvl="1">
              <a:lnSpc>
                <a:spcPts val="4574"/>
              </a:lnSpc>
              <a:buFont typeface="Arial"/>
              <a:buChar char="•"/>
            </a:pPr>
            <a:r>
              <a:rPr lang="en-US" b="true" sz="3267">
                <a:solidFill>
                  <a:srgbClr val="000000"/>
                </a:solidFill>
                <a:latin typeface="Times New Roman Bold"/>
                <a:ea typeface="Times New Roman Bold"/>
                <a:cs typeface="Times New Roman Bold"/>
                <a:sym typeface="Times New Roman Bold"/>
              </a:rPr>
              <a:t>Timeline Mapping:</a:t>
            </a:r>
            <a:r>
              <a:rPr lang="en-US" sz="3267">
                <a:solidFill>
                  <a:srgbClr val="000000"/>
                </a:solidFill>
                <a:latin typeface="Times New Roman"/>
                <a:ea typeface="Times New Roman"/>
                <a:cs typeface="Times New Roman"/>
                <a:sym typeface="Times New Roman"/>
              </a:rPr>
              <a:t> To co-decide filter operating hours and maintenance schedules.</a:t>
            </a:r>
          </a:p>
          <a:p>
            <a:pPr algn="just" marL="705460" indent="-352730" lvl="1">
              <a:lnSpc>
                <a:spcPts val="4574"/>
              </a:lnSpc>
              <a:buFont typeface="Arial"/>
              <a:buChar char="•"/>
            </a:pPr>
            <a:r>
              <a:rPr lang="en-US" b="true" sz="3267">
                <a:solidFill>
                  <a:srgbClr val="000000"/>
                </a:solidFill>
                <a:latin typeface="Times New Roman Bold"/>
                <a:ea typeface="Times New Roman Bold"/>
                <a:cs typeface="Times New Roman Bold"/>
                <a:sym typeface="Times New Roman Bold"/>
              </a:rPr>
              <a:t>Demonstrations</a:t>
            </a:r>
            <a:r>
              <a:rPr lang="en-US" sz="3267">
                <a:solidFill>
                  <a:srgbClr val="000000"/>
                </a:solidFill>
                <a:latin typeface="Times New Roman"/>
                <a:ea typeface="Times New Roman"/>
                <a:cs typeface="Times New Roman"/>
                <a:sym typeface="Times New Roman"/>
              </a:rPr>
              <a:t>: To explain filter functionality and promote understanding of its usage and upkeep.</a:t>
            </a:r>
          </a:p>
          <a:p>
            <a:pPr algn="just">
              <a:lnSpc>
                <a:spcPts val="4574"/>
              </a:lnSpc>
              <a:spcBef>
                <a:spcPct val="0"/>
              </a:spcBef>
            </a:pPr>
          </a:p>
        </p:txBody>
      </p:sp>
      <p:sp>
        <p:nvSpPr>
          <p:cNvPr name="Freeform 7" id="7"/>
          <p:cNvSpPr/>
          <p:nvPr/>
        </p:nvSpPr>
        <p:spPr>
          <a:xfrm flipH="false" flipV="false" rot="0">
            <a:off x="0" y="9258300"/>
            <a:ext cx="18288000" cy="1011582"/>
          </a:xfrm>
          <a:custGeom>
            <a:avLst/>
            <a:gdLst/>
            <a:ahLst/>
            <a:cxnLst/>
            <a:rect r="r" b="b" t="t" l="l"/>
            <a:pathLst>
              <a:path h="1011582" w="18288000">
                <a:moveTo>
                  <a:pt x="0" y="0"/>
                </a:moveTo>
                <a:lnTo>
                  <a:pt x="18288000" y="0"/>
                </a:lnTo>
                <a:lnTo>
                  <a:pt x="18288000" y="1011582"/>
                </a:lnTo>
                <a:lnTo>
                  <a:pt x="0" y="1011582"/>
                </a:lnTo>
                <a:lnTo>
                  <a:pt x="0" y="0"/>
                </a:lnTo>
                <a:close/>
              </a:path>
            </a:pathLst>
          </a:custGeom>
          <a:blipFill>
            <a:blip r:embed="rId4"/>
            <a:stretch>
              <a:fillRect l="-20856" t="0" r="-752" b="-1680"/>
            </a:stretch>
          </a:blipFill>
        </p:spPr>
      </p:sp>
      <p:sp>
        <p:nvSpPr>
          <p:cNvPr name="TextBox 8" id="8"/>
          <p:cNvSpPr txBox="true"/>
          <p:nvPr/>
        </p:nvSpPr>
        <p:spPr>
          <a:xfrm rot="0">
            <a:off x="731401" y="9365816"/>
            <a:ext cx="152400" cy="228600"/>
          </a:xfrm>
          <a:prstGeom prst="rect">
            <a:avLst/>
          </a:prstGeom>
        </p:spPr>
        <p:txBody>
          <a:bodyPr anchor="t" rtlCol="false" tIns="0" lIns="0" bIns="0" rIns="0" wrap="none">
            <a:spAutoFit/>
          </a:bodyPr>
          <a:lstStyle/>
          <a:p>
            <a:pPr algn="ctr">
              <a:lnSpc>
                <a:spcPts val="5970"/>
              </a:lnSpc>
              <a:spcBef>
                <a:spcPct val="0"/>
              </a:spcBef>
            </a:pPr>
            <a:r>
              <a:rPr lang="en-US" sz="4264">
                <a:solidFill>
                  <a:srgbClr val="FFFFFF"/>
                </a:solidFill>
                <a:latin typeface="Canva Sans"/>
                <a:ea typeface="Canva Sans"/>
                <a:cs typeface="Canva Sans"/>
                <a:sym typeface="Canva Sans"/>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81628" y="282798"/>
            <a:ext cx="1470709" cy="1792426"/>
          </a:xfrm>
          <a:custGeom>
            <a:avLst/>
            <a:gdLst/>
            <a:ahLst/>
            <a:cxnLst/>
            <a:rect r="r" b="b" t="t" l="l"/>
            <a:pathLst>
              <a:path h="1792426" w="1470709">
                <a:moveTo>
                  <a:pt x="0" y="0"/>
                </a:moveTo>
                <a:lnTo>
                  <a:pt x="1470708" y="0"/>
                </a:lnTo>
                <a:lnTo>
                  <a:pt x="1470708" y="1792426"/>
                </a:lnTo>
                <a:lnTo>
                  <a:pt x="0" y="1792426"/>
                </a:lnTo>
                <a:lnTo>
                  <a:pt x="0" y="0"/>
                </a:lnTo>
                <a:close/>
              </a:path>
            </a:pathLst>
          </a:custGeom>
          <a:blipFill>
            <a:blip r:embed="rId2"/>
            <a:stretch>
              <a:fillRect l="0" t="0" r="0" b="0"/>
            </a:stretch>
          </a:blipFill>
        </p:spPr>
      </p:sp>
      <p:sp>
        <p:nvSpPr>
          <p:cNvPr name="Freeform 3" id="3"/>
          <p:cNvSpPr/>
          <p:nvPr/>
        </p:nvSpPr>
        <p:spPr>
          <a:xfrm flipH="false" flipV="false" rot="0">
            <a:off x="1028700" y="2432119"/>
            <a:ext cx="16230600" cy="142018"/>
          </a:xfrm>
          <a:custGeom>
            <a:avLst/>
            <a:gdLst/>
            <a:ahLst/>
            <a:cxnLst/>
            <a:rect r="r" b="b" t="t" l="l"/>
            <a:pathLst>
              <a:path h="142018" w="16230600">
                <a:moveTo>
                  <a:pt x="0" y="0"/>
                </a:moveTo>
                <a:lnTo>
                  <a:pt x="16230600" y="0"/>
                </a:lnTo>
                <a:lnTo>
                  <a:pt x="16230600" y="142017"/>
                </a:lnTo>
                <a:lnTo>
                  <a:pt x="0" y="142017"/>
                </a:lnTo>
                <a:lnTo>
                  <a:pt x="0" y="0"/>
                </a:lnTo>
                <a:close/>
              </a:path>
            </a:pathLst>
          </a:custGeom>
          <a:blipFill>
            <a:blip r:embed="rId3"/>
            <a:stretch>
              <a:fillRect l="0" t="0" r="0" b="0"/>
            </a:stretch>
          </a:blipFill>
        </p:spPr>
      </p:sp>
      <p:sp>
        <p:nvSpPr>
          <p:cNvPr name="AutoShape 4" id="4"/>
          <p:cNvSpPr/>
          <p:nvPr/>
        </p:nvSpPr>
        <p:spPr>
          <a:xfrm>
            <a:off x="3469976" y="282798"/>
            <a:ext cx="0" cy="2084030"/>
          </a:xfrm>
          <a:prstGeom prst="line">
            <a:avLst/>
          </a:prstGeom>
          <a:ln cap="flat" w="38100">
            <a:solidFill>
              <a:srgbClr val="2E6417"/>
            </a:solidFill>
            <a:prstDash val="solid"/>
            <a:headEnd type="none" len="sm" w="sm"/>
            <a:tailEnd type="none" len="sm" w="sm"/>
          </a:ln>
        </p:spPr>
      </p:sp>
      <p:sp>
        <p:nvSpPr>
          <p:cNvPr name="TextBox 5" id="5"/>
          <p:cNvSpPr txBox="true"/>
          <p:nvPr/>
        </p:nvSpPr>
        <p:spPr>
          <a:xfrm rot="0">
            <a:off x="4302937" y="857250"/>
            <a:ext cx="7546082" cy="1264920"/>
          </a:xfrm>
          <a:prstGeom prst="rect">
            <a:avLst/>
          </a:prstGeom>
        </p:spPr>
        <p:txBody>
          <a:bodyPr anchor="t" rtlCol="false" tIns="0" lIns="0" bIns="0" rIns="0">
            <a:spAutoFit/>
          </a:bodyPr>
          <a:lstStyle/>
          <a:p>
            <a:pPr algn="ctr">
              <a:lnSpc>
                <a:spcPts val="10080"/>
              </a:lnSpc>
              <a:spcBef>
                <a:spcPct val="0"/>
              </a:spcBef>
            </a:pPr>
            <a:r>
              <a:rPr lang="en-US" b="true" sz="7200">
                <a:solidFill>
                  <a:srgbClr val="000000"/>
                </a:solidFill>
                <a:latin typeface="Times New Roman Bold"/>
                <a:ea typeface="Times New Roman Bold"/>
                <a:cs typeface="Times New Roman Bold"/>
                <a:sym typeface="Times New Roman Bold"/>
              </a:rPr>
              <a:t>Co-design Findings</a:t>
            </a:r>
          </a:p>
        </p:txBody>
      </p:sp>
      <p:sp>
        <p:nvSpPr>
          <p:cNvPr name="TextBox 6" id="6"/>
          <p:cNvSpPr txBox="true"/>
          <p:nvPr/>
        </p:nvSpPr>
        <p:spPr>
          <a:xfrm rot="0">
            <a:off x="731401" y="3191356"/>
            <a:ext cx="17043023" cy="6748145"/>
          </a:xfrm>
          <a:prstGeom prst="rect">
            <a:avLst/>
          </a:prstGeom>
        </p:spPr>
        <p:txBody>
          <a:bodyPr anchor="t" rtlCol="false" tIns="0" lIns="0" bIns="0" rIns="0">
            <a:spAutoFit/>
          </a:bodyPr>
          <a:lstStyle/>
          <a:p>
            <a:pPr algn="just"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Pre-identified potential sites were evaluated for accessibility, saf</a:t>
            </a:r>
            <a:r>
              <a:rPr lang="en-US" sz="3200">
                <a:solidFill>
                  <a:srgbClr val="000000"/>
                </a:solidFill>
                <a:latin typeface="Times New Roman"/>
                <a:ea typeface="Times New Roman"/>
                <a:cs typeface="Times New Roman"/>
                <a:sym typeface="Times New Roman"/>
              </a:rPr>
              <a:t>ety, cleanliness, water source proximity, and electricity availability.</a:t>
            </a:r>
          </a:p>
          <a:p>
            <a:pPr algn="just"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We used the poster card tool to present pre-identified filter sites in an engaging, visual format, making it easy for all community members to participate in the selection process.</a:t>
            </a:r>
          </a:p>
          <a:p>
            <a:pPr algn="just">
              <a:lnSpc>
                <a:spcPts val="4480"/>
              </a:lnSpc>
            </a:pPr>
          </a:p>
          <a:p>
            <a:pPr algn="just">
              <a:lnSpc>
                <a:spcPts val="4480"/>
              </a:lnSpc>
            </a:pPr>
            <a:r>
              <a:rPr lang="en-US" b="true" sz="3200">
                <a:solidFill>
                  <a:srgbClr val="000000"/>
                </a:solidFill>
                <a:latin typeface="Times New Roman Bold"/>
                <a:ea typeface="Times New Roman Bold"/>
                <a:cs typeface="Times New Roman Bold"/>
                <a:sym typeface="Times New Roman Bold"/>
              </a:rPr>
              <a:t>Site Selected </a:t>
            </a:r>
            <a:r>
              <a:rPr lang="en-US" sz="3200">
                <a:solidFill>
                  <a:srgbClr val="000000"/>
                </a:solidFill>
                <a:latin typeface="Times New Roman"/>
                <a:ea typeface="Times New Roman"/>
                <a:cs typeface="Times New Roman"/>
                <a:sym typeface="Times New Roman"/>
              </a:rPr>
              <a:t>:  Maa Tripura Sundari Temple was chosen as the installation site because it is centrally located, easily accessible, and already had an existing water connection, ensuring convenience for all households.</a:t>
            </a:r>
          </a:p>
          <a:p>
            <a:pPr algn="just"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The area provides a clean, flat, and secure terrain, free from animal intrusion, making it ideal for safe installation, maintenance</a:t>
            </a:r>
          </a:p>
          <a:p>
            <a:pPr algn="just">
              <a:lnSpc>
                <a:spcPts val="4480"/>
              </a:lnSpc>
            </a:pPr>
          </a:p>
          <a:p>
            <a:pPr algn="just">
              <a:lnSpc>
                <a:spcPts val="4480"/>
              </a:lnSpc>
            </a:pPr>
          </a:p>
        </p:txBody>
      </p:sp>
      <p:sp>
        <p:nvSpPr>
          <p:cNvPr name="Freeform 7" id="7"/>
          <p:cNvSpPr/>
          <p:nvPr/>
        </p:nvSpPr>
        <p:spPr>
          <a:xfrm flipH="false" flipV="false" rot="0">
            <a:off x="0" y="9258300"/>
            <a:ext cx="18288000" cy="1011582"/>
          </a:xfrm>
          <a:custGeom>
            <a:avLst/>
            <a:gdLst/>
            <a:ahLst/>
            <a:cxnLst/>
            <a:rect r="r" b="b" t="t" l="l"/>
            <a:pathLst>
              <a:path h="1011582" w="18288000">
                <a:moveTo>
                  <a:pt x="0" y="0"/>
                </a:moveTo>
                <a:lnTo>
                  <a:pt x="18288000" y="0"/>
                </a:lnTo>
                <a:lnTo>
                  <a:pt x="18288000" y="1011582"/>
                </a:lnTo>
                <a:lnTo>
                  <a:pt x="0" y="1011582"/>
                </a:lnTo>
                <a:lnTo>
                  <a:pt x="0" y="0"/>
                </a:lnTo>
                <a:close/>
              </a:path>
            </a:pathLst>
          </a:custGeom>
          <a:blipFill>
            <a:blip r:embed="rId4"/>
            <a:stretch>
              <a:fillRect l="-20856" t="0" r="-752" b="-1680"/>
            </a:stretch>
          </a:blipFill>
        </p:spPr>
      </p:sp>
      <p:sp>
        <p:nvSpPr>
          <p:cNvPr name="TextBox 8" id="8"/>
          <p:cNvSpPr txBox="true"/>
          <p:nvPr/>
        </p:nvSpPr>
        <p:spPr>
          <a:xfrm rot="0">
            <a:off x="731401" y="9365816"/>
            <a:ext cx="152400" cy="228600"/>
          </a:xfrm>
          <a:prstGeom prst="rect">
            <a:avLst/>
          </a:prstGeom>
        </p:spPr>
        <p:txBody>
          <a:bodyPr anchor="t" rtlCol="false" tIns="0" lIns="0" bIns="0" rIns="0" wrap="none">
            <a:spAutoFit/>
          </a:bodyPr>
          <a:lstStyle/>
          <a:p>
            <a:pPr algn="ctr">
              <a:lnSpc>
                <a:spcPts val="5970"/>
              </a:lnSpc>
              <a:spcBef>
                <a:spcPct val="0"/>
              </a:spcBef>
            </a:pPr>
            <a:r>
              <a:rPr lang="en-US" sz="4264">
                <a:solidFill>
                  <a:srgbClr val="FFFFFF"/>
                </a:solidFill>
                <a:latin typeface="Canva Sans"/>
                <a:ea typeface="Canva Sans"/>
                <a:cs typeface="Canva Sans"/>
                <a:sym typeface="Canva Sans"/>
              </a:rPr>
              <a:t>11</a:t>
            </a:r>
          </a:p>
        </p:txBody>
      </p:sp>
      <p:sp>
        <p:nvSpPr>
          <p:cNvPr name="TextBox 9" id="9"/>
          <p:cNvSpPr txBox="true"/>
          <p:nvPr/>
        </p:nvSpPr>
        <p:spPr>
          <a:xfrm rot="0">
            <a:off x="1019681" y="2497936"/>
            <a:ext cx="5390954" cy="712470"/>
          </a:xfrm>
          <a:prstGeom prst="rect">
            <a:avLst/>
          </a:prstGeom>
        </p:spPr>
        <p:txBody>
          <a:bodyPr anchor="t" rtlCol="false" tIns="0" lIns="0" bIns="0" rIns="0">
            <a:spAutoFit/>
          </a:bodyPr>
          <a:lstStyle/>
          <a:p>
            <a:pPr algn="ctr" marL="906780" indent="-453390" lvl="1">
              <a:lnSpc>
                <a:spcPts val="5880"/>
              </a:lnSpc>
              <a:buFont typeface="Arial"/>
              <a:buChar char="•"/>
            </a:pPr>
            <a:r>
              <a:rPr lang="en-US" b="true" sz="4200">
                <a:solidFill>
                  <a:srgbClr val="000000"/>
                </a:solidFill>
                <a:latin typeface="Canva Sans Bold"/>
                <a:ea typeface="Canva Sans Bold"/>
                <a:cs typeface="Canva Sans Bold"/>
                <a:sym typeface="Canva Sans Bold"/>
              </a:rPr>
              <a:t>Site selection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81628" y="282798"/>
            <a:ext cx="1470709" cy="1792426"/>
          </a:xfrm>
          <a:custGeom>
            <a:avLst/>
            <a:gdLst/>
            <a:ahLst/>
            <a:cxnLst/>
            <a:rect r="r" b="b" t="t" l="l"/>
            <a:pathLst>
              <a:path h="1792426" w="1470709">
                <a:moveTo>
                  <a:pt x="0" y="0"/>
                </a:moveTo>
                <a:lnTo>
                  <a:pt x="1470708" y="0"/>
                </a:lnTo>
                <a:lnTo>
                  <a:pt x="1470708" y="1792426"/>
                </a:lnTo>
                <a:lnTo>
                  <a:pt x="0" y="1792426"/>
                </a:lnTo>
                <a:lnTo>
                  <a:pt x="0" y="0"/>
                </a:lnTo>
                <a:close/>
              </a:path>
            </a:pathLst>
          </a:custGeom>
          <a:blipFill>
            <a:blip r:embed="rId2"/>
            <a:stretch>
              <a:fillRect l="0" t="0" r="0" b="0"/>
            </a:stretch>
          </a:blipFill>
        </p:spPr>
      </p:sp>
      <p:sp>
        <p:nvSpPr>
          <p:cNvPr name="Freeform 3" id="3"/>
          <p:cNvSpPr/>
          <p:nvPr/>
        </p:nvSpPr>
        <p:spPr>
          <a:xfrm flipH="false" flipV="false" rot="0">
            <a:off x="1028700" y="2432119"/>
            <a:ext cx="16230600" cy="142018"/>
          </a:xfrm>
          <a:custGeom>
            <a:avLst/>
            <a:gdLst/>
            <a:ahLst/>
            <a:cxnLst/>
            <a:rect r="r" b="b" t="t" l="l"/>
            <a:pathLst>
              <a:path h="142018" w="16230600">
                <a:moveTo>
                  <a:pt x="0" y="0"/>
                </a:moveTo>
                <a:lnTo>
                  <a:pt x="16230600" y="0"/>
                </a:lnTo>
                <a:lnTo>
                  <a:pt x="16230600" y="142017"/>
                </a:lnTo>
                <a:lnTo>
                  <a:pt x="0" y="142017"/>
                </a:lnTo>
                <a:lnTo>
                  <a:pt x="0" y="0"/>
                </a:lnTo>
                <a:close/>
              </a:path>
            </a:pathLst>
          </a:custGeom>
          <a:blipFill>
            <a:blip r:embed="rId3"/>
            <a:stretch>
              <a:fillRect l="0" t="0" r="0" b="0"/>
            </a:stretch>
          </a:blipFill>
        </p:spPr>
      </p:sp>
      <p:sp>
        <p:nvSpPr>
          <p:cNvPr name="AutoShape 4" id="4"/>
          <p:cNvSpPr/>
          <p:nvPr/>
        </p:nvSpPr>
        <p:spPr>
          <a:xfrm>
            <a:off x="3469976" y="282798"/>
            <a:ext cx="0" cy="2084030"/>
          </a:xfrm>
          <a:prstGeom prst="line">
            <a:avLst/>
          </a:prstGeom>
          <a:ln cap="flat" w="38100">
            <a:solidFill>
              <a:srgbClr val="2E6417"/>
            </a:solidFill>
            <a:prstDash val="solid"/>
            <a:headEnd type="none" len="sm" w="sm"/>
            <a:tailEnd type="none" len="sm" w="sm"/>
          </a:ln>
        </p:spPr>
      </p:sp>
      <p:sp>
        <p:nvSpPr>
          <p:cNvPr name="Freeform 5" id="5"/>
          <p:cNvSpPr/>
          <p:nvPr/>
        </p:nvSpPr>
        <p:spPr>
          <a:xfrm flipH="false" flipV="false" rot="0">
            <a:off x="1244316" y="2926561"/>
            <a:ext cx="7361754" cy="5448605"/>
          </a:xfrm>
          <a:custGeom>
            <a:avLst/>
            <a:gdLst/>
            <a:ahLst/>
            <a:cxnLst/>
            <a:rect r="r" b="b" t="t" l="l"/>
            <a:pathLst>
              <a:path h="5448605" w="7361754">
                <a:moveTo>
                  <a:pt x="0" y="0"/>
                </a:moveTo>
                <a:lnTo>
                  <a:pt x="7361754" y="0"/>
                </a:lnTo>
                <a:lnTo>
                  <a:pt x="7361754" y="5448606"/>
                </a:lnTo>
                <a:lnTo>
                  <a:pt x="0" y="5448606"/>
                </a:lnTo>
                <a:lnTo>
                  <a:pt x="0" y="0"/>
                </a:lnTo>
                <a:close/>
              </a:path>
            </a:pathLst>
          </a:custGeom>
          <a:blipFill>
            <a:blip r:embed="rId4"/>
            <a:stretch>
              <a:fillRect l="-2128" t="0" r="-1202" b="-46204"/>
            </a:stretch>
          </a:blipFill>
        </p:spPr>
      </p:sp>
      <p:sp>
        <p:nvSpPr>
          <p:cNvPr name="Freeform 6" id="6"/>
          <p:cNvSpPr/>
          <p:nvPr/>
        </p:nvSpPr>
        <p:spPr>
          <a:xfrm flipH="false" flipV="false" rot="0">
            <a:off x="9497259" y="2926561"/>
            <a:ext cx="7898123" cy="5585252"/>
          </a:xfrm>
          <a:custGeom>
            <a:avLst/>
            <a:gdLst/>
            <a:ahLst/>
            <a:cxnLst/>
            <a:rect r="r" b="b" t="t" l="l"/>
            <a:pathLst>
              <a:path h="5585252" w="7898123">
                <a:moveTo>
                  <a:pt x="0" y="0"/>
                </a:moveTo>
                <a:lnTo>
                  <a:pt x="7898124" y="0"/>
                </a:lnTo>
                <a:lnTo>
                  <a:pt x="7898124" y="5585253"/>
                </a:lnTo>
                <a:lnTo>
                  <a:pt x="0" y="5585253"/>
                </a:lnTo>
                <a:lnTo>
                  <a:pt x="0" y="0"/>
                </a:lnTo>
                <a:close/>
              </a:path>
            </a:pathLst>
          </a:custGeom>
          <a:blipFill>
            <a:blip r:embed="rId5"/>
            <a:stretch>
              <a:fillRect l="-5804" t="0" r="-2902" b="0"/>
            </a:stretch>
          </a:blipFill>
        </p:spPr>
      </p:sp>
      <p:sp>
        <p:nvSpPr>
          <p:cNvPr name="TextBox 7" id="7"/>
          <p:cNvSpPr txBox="true"/>
          <p:nvPr/>
        </p:nvSpPr>
        <p:spPr>
          <a:xfrm rot="0">
            <a:off x="3984326" y="810304"/>
            <a:ext cx="7546082" cy="1264920"/>
          </a:xfrm>
          <a:prstGeom prst="rect">
            <a:avLst/>
          </a:prstGeom>
        </p:spPr>
        <p:txBody>
          <a:bodyPr anchor="t" rtlCol="false" tIns="0" lIns="0" bIns="0" rIns="0">
            <a:spAutoFit/>
          </a:bodyPr>
          <a:lstStyle/>
          <a:p>
            <a:pPr algn="ctr">
              <a:lnSpc>
                <a:spcPts val="10080"/>
              </a:lnSpc>
              <a:spcBef>
                <a:spcPct val="0"/>
              </a:spcBef>
            </a:pPr>
            <a:r>
              <a:rPr lang="en-US" b="true" sz="7200">
                <a:solidFill>
                  <a:srgbClr val="000000"/>
                </a:solidFill>
                <a:latin typeface="Times New Roman Bold"/>
                <a:ea typeface="Times New Roman Bold"/>
                <a:cs typeface="Times New Roman Bold"/>
                <a:sym typeface="Times New Roman Bold"/>
              </a:rPr>
              <a:t>Co-design Findings</a:t>
            </a:r>
          </a:p>
        </p:txBody>
      </p:sp>
      <p:sp>
        <p:nvSpPr>
          <p:cNvPr name="TextBox 8" id="8"/>
          <p:cNvSpPr txBox="true"/>
          <p:nvPr/>
        </p:nvSpPr>
        <p:spPr>
          <a:xfrm rot="0">
            <a:off x="1945070" y="8426089"/>
            <a:ext cx="5131270" cy="572648"/>
          </a:xfrm>
          <a:prstGeom prst="rect">
            <a:avLst/>
          </a:prstGeom>
        </p:spPr>
        <p:txBody>
          <a:bodyPr anchor="t" rtlCol="false" tIns="0" lIns="0" bIns="0" rIns="0">
            <a:spAutoFit/>
          </a:bodyPr>
          <a:lstStyle/>
          <a:p>
            <a:pPr algn="ctr">
              <a:lnSpc>
                <a:spcPts val="4478"/>
              </a:lnSpc>
              <a:spcBef>
                <a:spcPct val="0"/>
              </a:spcBef>
            </a:pPr>
            <a:r>
              <a:rPr lang="en-US" b="true" sz="3199">
                <a:solidFill>
                  <a:srgbClr val="000000"/>
                </a:solidFill>
                <a:latin typeface="Times New Roman Bold"/>
                <a:ea typeface="Times New Roman Bold"/>
                <a:cs typeface="Times New Roman Bold"/>
                <a:sym typeface="Times New Roman Bold"/>
              </a:rPr>
              <a:t>Maa Tripura Sundari temple </a:t>
            </a:r>
          </a:p>
        </p:txBody>
      </p:sp>
      <p:sp>
        <p:nvSpPr>
          <p:cNvPr name="TextBox 9" id="9"/>
          <p:cNvSpPr txBox="true"/>
          <p:nvPr/>
        </p:nvSpPr>
        <p:spPr>
          <a:xfrm rot="0">
            <a:off x="11405057" y="8432317"/>
            <a:ext cx="3889296" cy="566420"/>
          </a:xfrm>
          <a:prstGeom prst="rect">
            <a:avLst/>
          </a:prstGeom>
        </p:spPr>
        <p:txBody>
          <a:bodyPr anchor="t" rtlCol="false" tIns="0" lIns="0" bIns="0" rIns="0">
            <a:spAutoFit/>
          </a:bodyPr>
          <a:lstStyle/>
          <a:p>
            <a:pPr algn="ctr">
              <a:lnSpc>
                <a:spcPts val="4480"/>
              </a:lnSpc>
              <a:spcBef>
                <a:spcPct val="0"/>
              </a:spcBef>
            </a:pPr>
            <a:r>
              <a:rPr lang="en-US" b="true" sz="3200">
                <a:solidFill>
                  <a:srgbClr val="000000"/>
                </a:solidFill>
                <a:latin typeface="Times New Roman Bold"/>
                <a:ea typeface="Times New Roman Bold"/>
                <a:cs typeface="Times New Roman Bold"/>
                <a:sym typeface="Times New Roman Bold"/>
              </a:rPr>
              <a:t>Site selected for Filter </a:t>
            </a:r>
          </a:p>
        </p:txBody>
      </p:sp>
      <p:sp>
        <p:nvSpPr>
          <p:cNvPr name="Freeform 10" id="10"/>
          <p:cNvSpPr/>
          <p:nvPr/>
        </p:nvSpPr>
        <p:spPr>
          <a:xfrm flipH="false" flipV="false" rot="0">
            <a:off x="0" y="9258300"/>
            <a:ext cx="18288000" cy="1011582"/>
          </a:xfrm>
          <a:custGeom>
            <a:avLst/>
            <a:gdLst/>
            <a:ahLst/>
            <a:cxnLst/>
            <a:rect r="r" b="b" t="t" l="l"/>
            <a:pathLst>
              <a:path h="1011582" w="18288000">
                <a:moveTo>
                  <a:pt x="0" y="0"/>
                </a:moveTo>
                <a:lnTo>
                  <a:pt x="18288000" y="0"/>
                </a:lnTo>
                <a:lnTo>
                  <a:pt x="18288000" y="1011582"/>
                </a:lnTo>
                <a:lnTo>
                  <a:pt x="0" y="1011582"/>
                </a:lnTo>
                <a:lnTo>
                  <a:pt x="0" y="0"/>
                </a:lnTo>
                <a:close/>
              </a:path>
            </a:pathLst>
          </a:custGeom>
          <a:blipFill>
            <a:blip r:embed="rId6"/>
            <a:stretch>
              <a:fillRect l="-20856" t="0" r="-752" b="-1680"/>
            </a:stretch>
          </a:blipFill>
        </p:spPr>
      </p:sp>
      <p:sp>
        <p:nvSpPr>
          <p:cNvPr name="TextBox 11" id="11"/>
          <p:cNvSpPr txBox="true"/>
          <p:nvPr/>
        </p:nvSpPr>
        <p:spPr>
          <a:xfrm rot="0">
            <a:off x="731401" y="9365816"/>
            <a:ext cx="152400" cy="228600"/>
          </a:xfrm>
          <a:prstGeom prst="rect">
            <a:avLst/>
          </a:prstGeom>
        </p:spPr>
        <p:txBody>
          <a:bodyPr anchor="t" rtlCol="false" tIns="0" lIns="0" bIns="0" rIns="0" wrap="none">
            <a:spAutoFit/>
          </a:bodyPr>
          <a:lstStyle/>
          <a:p>
            <a:pPr algn="ctr">
              <a:lnSpc>
                <a:spcPts val="5970"/>
              </a:lnSpc>
              <a:spcBef>
                <a:spcPct val="0"/>
              </a:spcBef>
            </a:pPr>
            <a:r>
              <a:rPr lang="en-US" sz="4264">
                <a:solidFill>
                  <a:srgbClr val="FFFFFF"/>
                </a:solidFill>
                <a:latin typeface="Canva Sans"/>
                <a:ea typeface="Canva Sans"/>
                <a:cs typeface="Canva Sans"/>
                <a:sym typeface="Canva Sans"/>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81628" y="282798"/>
            <a:ext cx="1470709" cy="1792426"/>
          </a:xfrm>
          <a:custGeom>
            <a:avLst/>
            <a:gdLst/>
            <a:ahLst/>
            <a:cxnLst/>
            <a:rect r="r" b="b" t="t" l="l"/>
            <a:pathLst>
              <a:path h="1792426" w="1470709">
                <a:moveTo>
                  <a:pt x="0" y="0"/>
                </a:moveTo>
                <a:lnTo>
                  <a:pt x="1470708" y="0"/>
                </a:lnTo>
                <a:lnTo>
                  <a:pt x="1470708" y="1792426"/>
                </a:lnTo>
                <a:lnTo>
                  <a:pt x="0" y="1792426"/>
                </a:lnTo>
                <a:lnTo>
                  <a:pt x="0" y="0"/>
                </a:lnTo>
                <a:close/>
              </a:path>
            </a:pathLst>
          </a:custGeom>
          <a:blipFill>
            <a:blip r:embed="rId2"/>
            <a:stretch>
              <a:fillRect l="0" t="0" r="0" b="0"/>
            </a:stretch>
          </a:blipFill>
        </p:spPr>
      </p:sp>
      <p:sp>
        <p:nvSpPr>
          <p:cNvPr name="Freeform 3" id="3"/>
          <p:cNvSpPr/>
          <p:nvPr/>
        </p:nvSpPr>
        <p:spPr>
          <a:xfrm flipH="false" flipV="false" rot="0">
            <a:off x="1028700" y="2432119"/>
            <a:ext cx="16230600" cy="142018"/>
          </a:xfrm>
          <a:custGeom>
            <a:avLst/>
            <a:gdLst/>
            <a:ahLst/>
            <a:cxnLst/>
            <a:rect r="r" b="b" t="t" l="l"/>
            <a:pathLst>
              <a:path h="142018" w="16230600">
                <a:moveTo>
                  <a:pt x="0" y="0"/>
                </a:moveTo>
                <a:lnTo>
                  <a:pt x="16230600" y="0"/>
                </a:lnTo>
                <a:lnTo>
                  <a:pt x="16230600" y="142017"/>
                </a:lnTo>
                <a:lnTo>
                  <a:pt x="0" y="142017"/>
                </a:lnTo>
                <a:lnTo>
                  <a:pt x="0" y="0"/>
                </a:lnTo>
                <a:close/>
              </a:path>
            </a:pathLst>
          </a:custGeom>
          <a:blipFill>
            <a:blip r:embed="rId3"/>
            <a:stretch>
              <a:fillRect l="0" t="0" r="0" b="0"/>
            </a:stretch>
          </a:blipFill>
        </p:spPr>
      </p:sp>
      <p:sp>
        <p:nvSpPr>
          <p:cNvPr name="AutoShape 4" id="4"/>
          <p:cNvSpPr/>
          <p:nvPr/>
        </p:nvSpPr>
        <p:spPr>
          <a:xfrm>
            <a:off x="3469976" y="282798"/>
            <a:ext cx="0" cy="2084030"/>
          </a:xfrm>
          <a:prstGeom prst="line">
            <a:avLst/>
          </a:prstGeom>
          <a:ln cap="flat" w="38100">
            <a:solidFill>
              <a:srgbClr val="2E6417"/>
            </a:solidFill>
            <a:prstDash val="solid"/>
            <a:headEnd type="none" len="sm" w="sm"/>
            <a:tailEnd type="none" len="sm" w="sm"/>
          </a:ln>
        </p:spPr>
      </p:sp>
      <p:sp>
        <p:nvSpPr>
          <p:cNvPr name="TextBox 5" id="5"/>
          <p:cNvSpPr txBox="true"/>
          <p:nvPr/>
        </p:nvSpPr>
        <p:spPr>
          <a:xfrm rot="0">
            <a:off x="4302937" y="857250"/>
            <a:ext cx="7546082" cy="1264920"/>
          </a:xfrm>
          <a:prstGeom prst="rect">
            <a:avLst/>
          </a:prstGeom>
        </p:spPr>
        <p:txBody>
          <a:bodyPr anchor="t" rtlCol="false" tIns="0" lIns="0" bIns="0" rIns="0">
            <a:spAutoFit/>
          </a:bodyPr>
          <a:lstStyle/>
          <a:p>
            <a:pPr algn="ctr">
              <a:lnSpc>
                <a:spcPts val="10080"/>
              </a:lnSpc>
              <a:spcBef>
                <a:spcPct val="0"/>
              </a:spcBef>
            </a:pPr>
            <a:r>
              <a:rPr lang="en-US" b="true" sz="7200">
                <a:solidFill>
                  <a:srgbClr val="000000"/>
                </a:solidFill>
                <a:latin typeface="Times New Roman Bold"/>
                <a:ea typeface="Times New Roman Bold"/>
                <a:cs typeface="Times New Roman Bold"/>
                <a:sym typeface="Times New Roman Bold"/>
              </a:rPr>
              <a:t>Co-design Findings</a:t>
            </a:r>
          </a:p>
        </p:txBody>
      </p:sp>
      <p:sp>
        <p:nvSpPr>
          <p:cNvPr name="TextBox 6" id="6"/>
          <p:cNvSpPr txBox="true"/>
          <p:nvPr/>
        </p:nvSpPr>
        <p:spPr>
          <a:xfrm rot="0">
            <a:off x="731401" y="3572356"/>
            <a:ext cx="17043023" cy="4500245"/>
          </a:xfrm>
          <a:prstGeom prst="rect">
            <a:avLst/>
          </a:prstGeom>
        </p:spPr>
        <p:txBody>
          <a:bodyPr anchor="t" rtlCol="false" tIns="0" lIns="0" bIns="0" rIns="0">
            <a:spAutoFit/>
          </a:bodyPr>
          <a:lstStyle/>
          <a:p>
            <a:pPr algn="just"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A six-member Water Management Committee was established to ensure the smooth daily operation, maintenance, and monitoring of the filtration system.</a:t>
            </a:r>
          </a:p>
          <a:p>
            <a:pPr algn="just"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The committee includes three women and three men. </a:t>
            </a:r>
          </a:p>
          <a:p>
            <a:pPr algn="just"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The team maintains a balanced representation of three women and three men, encouraging shared responsibility, inclusivity, and community ownership.</a:t>
            </a:r>
          </a:p>
          <a:p>
            <a:pPr algn="just"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Members were given hands-on training by the Jivamritham team to operate, clean, and maintain the filtration system, ensuring local capacity building.</a:t>
            </a:r>
          </a:p>
          <a:p>
            <a:pPr algn="just">
              <a:lnSpc>
                <a:spcPts val="4480"/>
              </a:lnSpc>
            </a:pPr>
          </a:p>
        </p:txBody>
      </p:sp>
      <p:sp>
        <p:nvSpPr>
          <p:cNvPr name="Freeform 7" id="7"/>
          <p:cNvSpPr/>
          <p:nvPr/>
        </p:nvSpPr>
        <p:spPr>
          <a:xfrm flipH="false" flipV="false" rot="0">
            <a:off x="0" y="9258300"/>
            <a:ext cx="18288000" cy="1011582"/>
          </a:xfrm>
          <a:custGeom>
            <a:avLst/>
            <a:gdLst/>
            <a:ahLst/>
            <a:cxnLst/>
            <a:rect r="r" b="b" t="t" l="l"/>
            <a:pathLst>
              <a:path h="1011582" w="18288000">
                <a:moveTo>
                  <a:pt x="0" y="0"/>
                </a:moveTo>
                <a:lnTo>
                  <a:pt x="18288000" y="0"/>
                </a:lnTo>
                <a:lnTo>
                  <a:pt x="18288000" y="1011582"/>
                </a:lnTo>
                <a:lnTo>
                  <a:pt x="0" y="1011582"/>
                </a:lnTo>
                <a:lnTo>
                  <a:pt x="0" y="0"/>
                </a:lnTo>
                <a:close/>
              </a:path>
            </a:pathLst>
          </a:custGeom>
          <a:blipFill>
            <a:blip r:embed="rId4"/>
            <a:stretch>
              <a:fillRect l="-20856" t="0" r="-752" b="-1680"/>
            </a:stretch>
          </a:blipFill>
        </p:spPr>
      </p:sp>
      <p:sp>
        <p:nvSpPr>
          <p:cNvPr name="TextBox 8" id="8"/>
          <p:cNvSpPr txBox="true"/>
          <p:nvPr/>
        </p:nvSpPr>
        <p:spPr>
          <a:xfrm rot="0">
            <a:off x="731401" y="9365816"/>
            <a:ext cx="152400" cy="228600"/>
          </a:xfrm>
          <a:prstGeom prst="rect">
            <a:avLst/>
          </a:prstGeom>
        </p:spPr>
        <p:txBody>
          <a:bodyPr anchor="t" rtlCol="false" tIns="0" lIns="0" bIns="0" rIns="0" wrap="none">
            <a:spAutoFit/>
          </a:bodyPr>
          <a:lstStyle/>
          <a:p>
            <a:pPr algn="ctr">
              <a:lnSpc>
                <a:spcPts val="5970"/>
              </a:lnSpc>
              <a:spcBef>
                <a:spcPct val="0"/>
              </a:spcBef>
            </a:pPr>
            <a:r>
              <a:rPr lang="en-US" sz="4264">
                <a:solidFill>
                  <a:srgbClr val="FFFFFF"/>
                </a:solidFill>
                <a:latin typeface="Canva Sans"/>
                <a:ea typeface="Canva Sans"/>
                <a:cs typeface="Canva Sans"/>
                <a:sym typeface="Canva Sans"/>
              </a:rPr>
              <a:t>13</a:t>
            </a:r>
          </a:p>
        </p:txBody>
      </p:sp>
      <p:sp>
        <p:nvSpPr>
          <p:cNvPr name="TextBox 9" id="9"/>
          <p:cNvSpPr txBox="true"/>
          <p:nvPr/>
        </p:nvSpPr>
        <p:spPr>
          <a:xfrm rot="0">
            <a:off x="1019681" y="2497936"/>
            <a:ext cx="13881811" cy="712470"/>
          </a:xfrm>
          <a:prstGeom prst="rect">
            <a:avLst/>
          </a:prstGeom>
        </p:spPr>
        <p:txBody>
          <a:bodyPr anchor="t" rtlCol="false" tIns="0" lIns="0" bIns="0" rIns="0">
            <a:spAutoFit/>
          </a:bodyPr>
          <a:lstStyle/>
          <a:p>
            <a:pPr algn="ctr" marL="906780" indent="-453390" lvl="1">
              <a:lnSpc>
                <a:spcPts val="5880"/>
              </a:lnSpc>
              <a:buFont typeface="Arial"/>
              <a:buChar char="•"/>
            </a:pPr>
            <a:r>
              <a:rPr lang="en-US" b="true" sz="4200">
                <a:solidFill>
                  <a:srgbClr val="000000"/>
                </a:solidFill>
                <a:latin typeface="Canva Sans Bold"/>
                <a:ea typeface="Canva Sans Bold"/>
                <a:cs typeface="Canva Sans Bold"/>
                <a:sym typeface="Canva Sans Bold"/>
              </a:rPr>
              <a:t>Formation of Water Management Committee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81628" y="282798"/>
            <a:ext cx="1470709" cy="1792426"/>
          </a:xfrm>
          <a:custGeom>
            <a:avLst/>
            <a:gdLst/>
            <a:ahLst/>
            <a:cxnLst/>
            <a:rect r="r" b="b" t="t" l="l"/>
            <a:pathLst>
              <a:path h="1792426" w="1470709">
                <a:moveTo>
                  <a:pt x="0" y="0"/>
                </a:moveTo>
                <a:lnTo>
                  <a:pt x="1470708" y="0"/>
                </a:lnTo>
                <a:lnTo>
                  <a:pt x="1470708" y="1792426"/>
                </a:lnTo>
                <a:lnTo>
                  <a:pt x="0" y="1792426"/>
                </a:lnTo>
                <a:lnTo>
                  <a:pt x="0" y="0"/>
                </a:lnTo>
                <a:close/>
              </a:path>
            </a:pathLst>
          </a:custGeom>
          <a:blipFill>
            <a:blip r:embed="rId2"/>
            <a:stretch>
              <a:fillRect l="0" t="0" r="0" b="0"/>
            </a:stretch>
          </a:blipFill>
        </p:spPr>
      </p:sp>
      <p:sp>
        <p:nvSpPr>
          <p:cNvPr name="Freeform 3" id="3"/>
          <p:cNvSpPr/>
          <p:nvPr/>
        </p:nvSpPr>
        <p:spPr>
          <a:xfrm flipH="false" flipV="false" rot="0">
            <a:off x="1028700" y="2432119"/>
            <a:ext cx="16230600" cy="142018"/>
          </a:xfrm>
          <a:custGeom>
            <a:avLst/>
            <a:gdLst/>
            <a:ahLst/>
            <a:cxnLst/>
            <a:rect r="r" b="b" t="t" l="l"/>
            <a:pathLst>
              <a:path h="142018" w="16230600">
                <a:moveTo>
                  <a:pt x="0" y="0"/>
                </a:moveTo>
                <a:lnTo>
                  <a:pt x="16230600" y="0"/>
                </a:lnTo>
                <a:lnTo>
                  <a:pt x="16230600" y="142017"/>
                </a:lnTo>
                <a:lnTo>
                  <a:pt x="0" y="142017"/>
                </a:lnTo>
                <a:lnTo>
                  <a:pt x="0" y="0"/>
                </a:lnTo>
                <a:close/>
              </a:path>
            </a:pathLst>
          </a:custGeom>
          <a:blipFill>
            <a:blip r:embed="rId3"/>
            <a:stretch>
              <a:fillRect l="0" t="0" r="0" b="0"/>
            </a:stretch>
          </a:blipFill>
        </p:spPr>
      </p:sp>
      <p:sp>
        <p:nvSpPr>
          <p:cNvPr name="AutoShape 4" id="4"/>
          <p:cNvSpPr/>
          <p:nvPr/>
        </p:nvSpPr>
        <p:spPr>
          <a:xfrm>
            <a:off x="3469976" y="282798"/>
            <a:ext cx="0" cy="2084030"/>
          </a:xfrm>
          <a:prstGeom prst="line">
            <a:avLst/>
          </a:prstGeom>
          <a:ln cap="flat" w="38100">
            <a:solidFill>
              <a:srgbClr val="2E6417"/>
            </a:solidFill>
            <a:prstDash val="solid"/>
            <a:headEnd type="none" len="sm" w="sm"/>
            <a:tailEnd type="none" len="sm" w="sm"/>
          </a:ln>
        </p:spPr>
      </p:sp>
      <p:sp>
        <p:nvSpPr>
          <p:cNvPr name="Freeform 5" id="5"/>
          <p:cNvSpPr/>
          <p:nvPr/>
        </p:nvSpPr>
        <p:spPr>
          <a:xfrm flipH="false" flipV="false" rot="0">
            <a:off x="876300" y="3166369"/>
            <a:ext cx="8115300" cy="4693058"/>
          </a:xfrm>
          <a:custGeom>
            <a:avLst/>
            <a:gdLst/>
            <a:ahLst/>
            <a:cxnLst/>
            <a:rect r="r" b="b" t="t" l="l"/>
            <a:pathLst>
              <a:path h="4693058" w="8115300">
                <a:moveTo>
                  <a:pt x="0" y="0"/>
                </a:moveTo>
                <a:lnTo>
                  <a:pt x="8115300" y="0"/>
                </a:lnTo>
                <a:lnTo>
                  <a:pt x="8115300" y="4693058"/>
                </a:lnTo>
                <a:lnTo>
                  <a:pt x="0" y="4693058"/>
                </a:lnTo>
                <a:lnTo>
                  <a:pt x="0" y="0"/>
                </a:lnTo>
                <a:close/>
              </a:path>
            </a:pathLst>
          </a:custGeom>
          <a:blipFill>
            <a:blip r:embed="rId4"/>
            <a:stretch>
              <a:fillRect l="-2560" t="0" r="-2560" b="0"/>
            </a:stretch>
          </a:blipFill>
        </p:spPr>
      </p:sp>
      <p:sp>
        <p:nvSpPr>
          <p:cNvPr name="Freeform 6" id="6"/>
          <p:cNvSpPr/>
          <p:nvPr/>
        </p:nvSpPr>
        <p:spPr>
          <a:xfrm flipH="false" flipV="false" rot="0">
            <a:off x="9572710" y="3166369"/>
            <a:ext cx="7887073" cy="4693058"/>
          </a:xfrm>
          <a:custGeom>
            <a:avLst/>
            <a:gdLst/>
            <a:ahLst/>
            <a:cxnLst/>
            <a:rect r="r" b="b" t="t" l="l"/>
            <a:pathLst>
              <a:path h="4693058" w="7887073">
                <a:moveTo>
                  <a:pt x="0" y="0"/>
                </a:moveTo>
                <a:lnTo>
                  <a:pt x="7887074" y="0"/>
                </a:lnTo>
                <a:lnTo>
                  <a:pt x="7887074" y="4693058"/>
                </a:lnTo>
                <a:lnTo>
                  <a:pt x="0" y="4693058"/>
                </a:lnTo>
                <a:lnTo>
                  <a:pt x="0" y="0"/>
                </a:lnTo>
                <a:close/>
              </a:path>
            </a:pathLst>
          </a:custGeom>
          <a:blipFill>
            <a:blip r:embed="rId5"/>
            <a:stretch>
              <a:fillRect l="-2721" t="-4832" r="-3041" b="-5297"/>
            </a:stretch>
          </a:blipFill>
        </p:spPr>
      </p:sp>
      <p:sp>
        <p:nvSpPr>
          <p:cNvPr name="TextBox 7" id="7"/>
          <p:cNvSpPr txBox="true"/>
          <p:nvPr/>
        </p:nvSpPr>
        <p:spPr>
          <a:xfrm rot="0">
            <a:off x="11093089" y="7992777"/>
            <a:ext cx="5100876" cy="582930"/>
          </a:xfrm>
          <a:prstGeom prst="rect">
            <a:avLst/>
          </a:prstGeom>
        </p:spPr>
        <p:txBody>
          <a:bodyPr anchor="t" rtlCol="false" tIns="0" lIns="0" bIns="0" rIns="0">
            <a:spAutoFit/>
          </a:bodyPr>
          <a:lstStyle/>
          <a:p>
            <a:pPr algn="ctr">
              <a:lnSpc>
                <a:spcPts val="4620"/>
              </a:lnSpc>
              <a:spcBef>
                <a:spcPct val="0"/>
              </a:spcBef>
            </a:pPr>
            <a:r>
              <a:rPr lang="en-US" b="true" sz="3300">
                <a:solidFill>
                  <a:srgbClr val="000000"/>
                </a:solidFill>
                <a:latin typeface="Times New Roman Bold"/>
                <a:ea typeface="Times New Roman Bold"/>
                <a:cs typeface="Times New Roman Bold"/>
                <a:sym typeface="Times New Roman Bold"/>
              </a:rPr>
              <a:t>Water Committee Members </a:t>
            </a:r>
          </a:p>
        </p:txBody>
      </p:sp>
      <p:sp>
        <p:nvSpPr>
          <p:cNvPr name="TextBox 8" id="8"/>
          <p:cNvSpPr txBox="true"/>
          <p:nvPr/>
        </p:nvSpPr>
        <p:spPr>
          <a:xfrm rot="0">
            <a:off x="3043237" y="7992777"/>
            <a:ext cx="4086225" cy="582930"/>
          </a:xfrm>
          <a:prstGeom prst="rect">
            <a:avLst/>
          </a:prstGeom>
        </p:spPr>
        <p:txBody>
          <a:bodyPr anchor="t" rtlCol="false" tIns="0" lIns="0" bIns="0" rIns="0">
            <a:spAutoFit/>
          </a:bodyPr>
          <a:lstStyle/>
          <a:p>
            <a:pPr algn="ctr">
              <a:lnSpc>
                <a:spcPts val="4620"/>
              </a:lnSpc>
              <a:spcBef>
                <a:spcPct val="0"/>
              </a:spcBef>
            </a:pPr>
            <a:r>
              <a:rPr lang="en-US" b="true" sz="3300">
                <a:solidFill>
                  <a:srgbClr val="000000"/>
                </a:solidFill>
                <a:latin typeface="Times New Roman Bold"/>
                <a:ea typeface="Times New Roman Bold"/>
                <a:cs typeface="Times New Roman Bold"/>
                <a:sym typeface="Times New Roman Bold"/>
              </a:rPr>
              <a:t>Community Gathering</a:t>
            </a:r>
          </a:p>
        </p:txBody>
      </p:sp>
      <p:sp>
        <p:nvSpPr>
          <p:cNvPr name="Freeform 9" id="9"/>
          <p:cNvSpPr/>
          <p:nvPr/>
        </p:nvSpPr>
        <p:spPr>
          <a:xfrm flipH="false" flipV="false" rot="0">
            <a:off x="0" y="9258300"/>
            <a:ext cx="18288000" cy="1011582"/>
          </a:xfrm>
          <a:custGeom>
            <a:avLst/>
            <a:gdLst/>
            <a:ahLst/>
            <a:cxnLst/>
            <a:rect r="r" b="b" t="t" l="l"/>
            <a:pathLst>
              <a:path h="1011582" w="18288000">
                <a:moveTo>
                  <a:pt x="0" y="0"/>
                </a:moveTo>
                <a:lnTo>
                  <a:pt x="18288000" y="0"/>
                </a:lnTo>
                <a:lnTo>
                  <a:pt x="18288000" y="1011582"/>
                </a:lnTo>
                <a:lnTo>
                  <a:pt x="0" y="1011582"/>
                </a:lnTo>
                <a:lnTo>
                  <a:pt x="0" y="0"/>
                </a:lnTo>
                <a:close/>
              </a:path>
            </a:pathLst>
          </a:custGeom>
          <a:blipFill>
            <a:blip r:embed="rId6"/>
            <a:stretch>
              <a:fillRect l="-20856" t="0" r="-752" b="-1680"/>
            </a:stretch>
          </a:blipFill>
        </p:spPr>
      </p:sp>
      <p:sp>
        <p:nvSpPr>
          <p:cNvPr name="TextBox 10" id="10"/>
          <p:cNvSpPr txBox="true"/>
          <p:nvPr/>
        </p:nvSpPr>
        <p:spPr>
          <a:xfrm rot="0">
            <a:off x="731401" y="9365816"/>
            <a:ext cx="152400" cy="228600"/>
          </a:xfrm>
          <a:prstGeom prst="rect">
            <a:avLst/>
          </a:prstGeom>
        </p:spPr>
        <p:txBody>
          <a:bodyPr anchor="t" rtlCol="false" tIns="0" lIns="0" bIns="0" rIns="0" wrap="none">
            <a:spAutoFit/>
          </a:bodyPr>
          <a:lstStyle/>
          <a:p>
            <a:pPr algn="ctr">
              <a:lnSpc>
                <a:spcPts val="5970"/>
              </a:lnSpc>
              <a:spcBef>
                <a:spcPct val="0"/>
              </a:spcBef>
            </a:pPr>
            <a:r>
              <a:rPr lang="en-US" sz="4264">
                <a:solidFill>
                  <a:srgbClr val="FFFFFF"/>
                </a:solidFill>
                <a:latin typeface="Canva Sans"/>
                <a:ea typeface="Canva Sans"/>
                <a:cs typeface="Canva Sans"/>
                <a:sym typeface="Canva Sans"/>
              </a:rPr>
              <a:t>14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81628" y="282798"/>
            <a:ext cx="1470709" cy="1792426"/>
          </a:xfrm>
          <a:custGeom>
            <a:avLst/>
            <a:gdLst/>
            <a:ahLst/>
            <a:cxnLst/>
            <a:rect r="r" b="b" t="t" l="l"/>
            <a:pathLst>
              <a:path h="1792426" w="1470709">
                <a:moveTo>
                  <a:pt x="0" y="0"/>
                </a:moveTo>
                <a:lnTo>
                  <a:pt x="1470708" y="0"/>
                </a:lnTo>
                <a:lnTo>
                  <a:pt x="1470708" y="1792426"/>
                </a:lnTo>
                <a:lnTo>
                  <a:pt x="0" y="1792426"/>
                </a:lnTo>
                <a:lnTo>
                  <a:pt x="0" y="0"/>
                </a:lnTo>
                <a:close/>
              </a:path>
            </a:pathLst>
          </a:custGeom>
          <a:blipFill>
            <a:blip r:embed="rId2"/>
            <a:stretch>
              <a:fillRect l="0" t="0" r="0" b="0"/>
            </a:stretch>
          </a:blipFill>
        </p:spPr>
      </p:sp>
      <p:sp>
        <p:nvSpPr>
          <p:cNvPr name="TextBox 3" id="3"/>
          <p:cNvSpPr txBox="true"/>
          <p:nvPr/>
        </p:nvSpPr>
        <p:spPr>
          <a:xfrm rot="0">
            <a:off x="3984326" y="810304"/>
            <a:ext cx="7223224" cy="1264920"/>
          </a:xfrm>
          <a:prstGeom prst="rect">
            <a:avLst/>
          </a:prstGeom>
        </p:spPr>
        <p:txBody>
          <a:bodyPr anchor="t" rtlCol="false" tIns="0" lIns="0" bIns="0" rIns="0">
            <a:spAutoFit/>
          </a:bodyPr>
          <a:lstStyle/>
          <a:p>
            <a:pPr algn="ctr">
              <a:lnSpc>
                <a:spcPts val="10080"/>
              </a:lnSpc>
              <a:spcBef>
                <a:spcPct val="0"/>
              </a:spcBef>
            </a:pPr>
            <a:r>
              <a:rPr lang="en-US" b="true" sz="7200">
                <a:solidFill>
                  <a:srgbClr val="000000"/>
                </a:solidFill>
                <a:latin typeface="Times New Roman Bold"/>
                <a:ea typeface="Times New Roman Bold"/>
                <a:cs typeface="Times New Roman Bold"/>
                <a:sym typeface="Times New Roman Bold"/>
              </a:rPr>
              <a:t>Tim</a:t>
            </a:r>
            <a:r>
              <a:rPr lang="en-US" b="true" sz="7200">
                <a:solidFill>
                  <a:srgbClr val="000000"/>
                </a:solidFill>
                <a:latin typeface="Times New Roman Bold"/>
                <a:ea typeface="Times New Roman Bold"/>
                <a:cs typeface="Times New Roman Bold"/>
                <a:sym typeface="Times New Roman Bold"/>
              </a:rPr>
              <a:t>eline Mapping</a:t>
            </a:r>
          </a:p>
        </p:txBody>
      </p:sp>
      <p:sp>
        <p:nvSpPr>
          <p:cNvPr name="Freeform 4" id="4"/>
          <p:cNvSpPr/>
          <p:nvPr/>
        </p:nvSpPr>
        <p:spPr>
          <a:xfrm flipH="false" flipV="false" rot="0">
            <a:off x="1028700" y="2432119"/>
            <a:ext cx="16230600" cy="142018"/>
          </a:xfrm>
          <a:custGeom>
            <a:avLst/>
            <a:gdLst/>
            <a:ahLst/>
            <a:cxnLst/>
            <a:rect r="r" b="b" t="t" l="l"/>
            <a:pathLst>
              <a:path h="142018" w="16230600">
                <a:moveTo>
                  <a:pt x="0" y="0"/>
                </a:moveTo>
                <a:lnTo>
                  <a:pt x="16230600" y="0"/>
                </a:lnTo>
                <a:lnTo>
                  <a:pt x="16230600" y="142017"/>
                </a:lnTo>
                <a:lnTo>
                  <a:pt x="0" y="142017"/>
                </a:lnTo>
                <a:lnTo>
                  <a:pt x="0" y="0"/>
                </a:lnTo>
                <a:close/>
              </a:path>
            </a:pathLst>
          </a:custGeom>
          <a:blipFill>
            <a:blip r:embed="rId3"/>
            <a:stretch>
              <a:fillRect l="0" t="0" r="0" b="0"/>
            </a:stretch>
          </a:blipFill>
        </p:spPr>
      </p:sp>
      <p:sp>
        <p:nvSpPr>
          <p:cNvPr name="AutoShape 5" id="5"/>
          <p:cNvSpPr/>
          <p:nvPr/>
        </p:nvSpPr>
        <p:spPr>
          <a:xfrm>
            <a:off x="3469976" y="282798"/>
            <a:ext cx="0" cy="2084030"/>
          </a:xfrm>
          <a:prstGeom prst="line">
            <a:avLst/>
          </a:prstGeom>
          <a:ln cap="flat" w="38100">
            <a:solidFill>
              <a:srgbClr val="2E6417"/>
            </a:solidFill>
            <a:prstDash val="solid"/>
            <a:headEnd type="none" len="sm" w="sm"/>
            <a:tailEnd type="none" len="sm" w="sm"/>
          </a:ln>
        </p:spPr>
      </p:sp>
      <p:sp>
        <p:nvSpPr>
          <p:cNvPr name="TextBox 6" id="6"/>
          <p:cNvSpPr txBox="true"/>
          <p:nvPr/>
        </p:nvSpPr>
        <p:spPr>
          <a:xfrm rot="0">
            <a:off x="1028700" y="3164686"/>
            <a:ext cx="16230600" cy="4975184"/>
          </a:xfrm>
          <a:prstGeom prst="rect">
            <a:avLst/>
          </a:prstGeom>
        </p:spPr>
        <p:txBody>
          <a:bodyPr anchor="t" rtlCol="false" tIns="0" lIns="0" bIns="0" rIns="0">
            <a:spAutoFit/>
          </a:bodyPr>
          <a:lstStyle/>
          <a:p>
            <a:pPr algn="l" marL="944908" indent="-472454" lvl="1">
              <a:lnSpc>
                <a:spcPts val="6127"/>
              </a:lnSpc>
              <a:buFont typeface="Arial"/>
              <a:buChar char="•"/>
            </a:pPr>
            <a:r>
              <a:rPr lang="en-US" sz="4376">
                <a:solidFill>
                  <a:srgbClr val="000000"/>
                </a:solidFill>
                <a:latin typeface="Times New Roman"/>
                <a:ea typeface="Times New Roman"/>
                <a:cs typeface="Times New Roman"/>
                <a:sym typeface="Times New Roman"/>
              </a:rPr>
              <a:t>A cl</a:t>
            </a:r>
            <a:r>
              <a:rPr lang="en-US" sz="4376">
                <a:solidFill>
                  <a:srgbClr val="000000"/>
                </a:solidFill>
                <a:latin typeface="Times New Roman"/>
                <a:ea typeface="Times New Roman"/>
                <a:cs typeface="Times New Roman"/>
                <a:sym typeface="Times New Roman"/>
              </a:rPr>
              <a:t>ock chart was placed in a common area, and all villagers were gathered and invited to mark their preferred times for collecting filtered water.</a:t>
            </a:r>
          </a:p>
          <a:p>
            <a:pPr algn="l">
              <a:lnSpc>
                <a:spcPts val="2800"/>
              </a:lnSpc>
            </a:pPr>
          </a:p>
          <a:p>
            <a:pPr algn="l" marL="944908" indent="-472454" lvl="1">
              <a:lnSpc>
                <a:spcPts val="6127"/>
              </a:lnSpc>
              <a:buFont typeface="Arial"/>
              <a:buChar char="•"/>
            </a:pPr>
            <a:r>
              <a:rPr lang="en-US" sz="4376">
                <a:solidFill>
                  <a:srgbClr val="000000"/>
                </a:solidFill>
                <a:latin typeface="Times New Roman"/>
                <a:ea typeface="Times New Roman"/>
                <a:cs typeface="Times New Roman"/>
                <a:sym typeface="Times New Roman"/>
              </a:rPr>
              <a:t>Group discussion followed, where everyone explained their choices,  helping everyone agree on the most suitable hours to run the filtration unit.</a:t>
            </a:r>
          </a:p>
        </p:txBody>
      </p:sp>
      <p:sp>
        <p:nvSpPr>
          <p:cNvPr name="Freeform 7" id="7"/>
          <p:cNvSpPr/>
          <p:nvPr/>
        </p:nvSpPr>
        <p:spPr>
          <a:xfrm flipH="false" flipV="false" rot="0">
            <a:off x="0" y="9258300"/>
            <a:ext cx="18288000" cy="1011582"/>
          </a:xfrm>
          <a:custGeom>
            <a:avLst/>
            <a:gdLst/>
            <a:ahLst/>
            <a:cxnLst/>
            <a:rect r="r" b="b" t="t" l="l"/>
            <a:pathLst>
              <a:path h="1011582" w="18288000">
                <a:moveTo>
                  <a:pt x="0" y="0"/>
                </a:moveTo>
                <a:lnTo>
                  <a:pt x="18288000" y="0"/>
                </a:lnTo>
                <a:lnTo>
                  <a:pt x="18288000" y="1011582"/>
                </a:lnTo>
                <a:lnTo>
                  <a:pt x="0" y="1011582"/>
                </a:lnTo>
                <a:lnTo>
                  <a:pt x="0" y="0"/>
                </a:lnTo>
                <a:close/>
              </a:path>
            </a:pathLst>
          </a:custGeom>
          <a:blipFill>
            <a:blip r:embed="rId4"/>
            <a:stretch>
              <a:fillRect l="-20856" t="0" r="-752" b="-1680"/>
            </a:stretch>
          </a:blipFill>
        </p:spPr>
      </p:sp>
      <p:sp>
        <p:nvSpPr>
          <p:cNvPr name="TextBox 8" id="8"/>
          <p:cNvSpPr txBox="true"/>
          <p:nvPr/>
        </p:nvSpPr>
        <p:spPr>
          <a:xfrm rot="0">
            <a:off x="731401" y="9365816"/>
            <a:ext cx="152400" cy="228600"/>
          </a:xfrm>
          <a:prstGeom prst="rect">
            <a:avLst/>
          </a:prstGeom>
        </p:spPr>
        <p:txBody>
          <a:bodyPr anchor="t" rtlCol="false" tIns="0" lIns="0" bIns="0" rIns="0" wrap="none">
            <a:spAutoFit/>
          </a:bodyPr>
          <a:lstStyle/>
          <a:p>
            <a:pPr algn="ctr">
              <a:lnSpc>
                <a:spcPts val="5970"/>
              </a:lnSpc>
              <a:spcBef>
                <a:spcPct val="0"/>
              </a:spcBef>
            </a:pPr>
            <a:r>
              <a:rPr lang="en-US" sz="4264">
                <a:solidFill>
                  <a:srgbClr val="FFFFFF"/>
                </a:solidFill>
                <a:latin typeface="Canva Sans"/>
                <a:ea typeface="Canva Sans"/>
                <a:cs typeface="Canva Sans"/>
                <a:sym typeface="Canva Sans"/>
              </a:rPr>
              <a:t>15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81628" y="282798"/>
            <a:ext cx="1470709" cy="1792426"/>
          </a:xfrm>
          <a:custGeom>
            <a:avLst/>
            <a:gdLst/>
            <a:ahLst/>
            <a:cxnLst/>
            <a:rect r="r" b="b" t="t" l="l"/>
            <a:pathLst>
              <a:path h="1792426" w="1470709">
                <a:moveTo>
                  <a:pt x="0" y="0"/>
                </a:moveTo>
                <a:lnTo>
                  <a:pt x="1470708" y="0"/>
                </a:lnTo>
                <a:lnTo>
                  <a:pt x="1470708" y="1792426"/>
                </a:lnTo>
                <a:lnTo>
                  <a:pt x="0" y="1792426"/>
                </a:lnTo>
                <a:lnTo>
                  <a:pt x="0" y="0"/>
                </a:lnTo>
                <a:close/>
              </a:path>
            </a:pathLst>
          </a:custGeom>
          <a:blipFill>
            <a:blip r:embed="rId2"/>
            <a:stretch>
              <a:fillRect l="0" t="0" r="0" b="0"/>
            </a:stretch>
          </a:blipFill>
        </p:spPr>
      </p:sp>
      <p:sp>
        <p:nvSpPr>
          <p:cNvPr name="Freeform 3" id="3"/>
          <p:cNvSpPr/>
          <p:nvPr/>
        </p:nvSpPr>
        <p:spPr>
          <a:xfrm flipH="false" flipV="false" rot="0">
            <a:off x="1028700" y="2432119"/>
            <a:ext cx="16230600" cy="142018"/>
          </a:xfrm>
          <a:custGeom>
            <a:avLst/>
            <a:gdLst/>
            <a:ahLst/>
            <a:cxnLst/>
            <a:rect r="r" b="b" t="t" l="l"/>
            <a:pathLst>
              <a:path h="142018" w="16230600">
                <a:moveTo>
                  <a:pt x="0" y="0"/>
                </a:moveTo>
                <a:lnTo>
                  <a:pt x="16230600" y="0"/>
                </a:lnTo>
                <a:lnTo>
                  <a:pt x="16230600" y="142017"/>
                </a:lnTo>
                <a:lnTo>
                  <a:pt x="0" y="142017"/>
                </a:lnTo>
                <a:lnTo>
                  <a:pt x="0" y="0"/>
                </a:lnTo>
                <a:close/>
              </a:path>
            </a:pathLst>
          </a:custGeom>
          <a:blipFill>
            <a:blip r:embed="rId3"/>
            <a:stretch>
              <a:fillRect l="0" t="0" r="0" b="0"/>
            </a:stretch>
          </a:blipFill>
        </p:spPr>
      </p:sp>
      <p:sp>
        <p:nvSpPr>
          <p:cNvPr name="AutoShape 4" id="4"/>
          <p:cNvSpPr/>
          <p:nvPr/>
        </p:nvSpPr>
        <p:spPr>
          <a:xfrm>
            <a:off x="3469976" y="282798"/>
            <a:ext cx="0" cy="2084030"/>
          </a:xfrm>
          <a:prstGeom prst="line">
            <a:avLst/>
          </a:prstGeom>
          <a:ln cap="flat" w="38100">
            <a:solidFill>
              <a:srgbClr val="2E6417"/>
            </a:solidFill>
            <a:prstDash val="solid"/>
            <a:headEnd type="none" len="sm" w="sm"/>
            <a:tailEnd type="none" len="sm" w="sm"/>
          </a:ln>
        </p:spPr>
      </p:sp>
      <p:sp>
        <p:nvSpPr>
          <p:cNvPr name="TextBox 5" id="5"/>
          <p:cNvSpPr txBox="true"/>
          <p:nvPr/>
        </p:nvSpPr>
        <p:spPr>
          <a:xfrm rot="0">
            <a:off x="313390" y="3255846"/>
            <a:ext cx="8055777" cy="6186170"/>
          </a:xfrm>
          <a:prstGeom prst="rect">
            <a:avLst/>
          </a:prstGeom>
        </p:spPr>
        <p:txBody>
          <a:bodyPr anchor="t" rtlCol="false" tIns="0" lIns="0" bIns="0" rIns="0">
            <a:spAutoFit/>
          </a:bodyPr>
          <a:lstStyle/>
          <a:p>
            <a:pPr algn="just"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Using a timeline mapping activity, villagers collectively discussed and finalized the daily operating hours for the filtration system.</a:t>
            </a:r>
          </a:p>
          <a:p>
            <a:pPr algn="just"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The agreed timings - 10:00 -11:00 AM and 4:00–5:00 PM  were chosen to match the community’s peak water usage periods and ensure convenience for all households.</a:t>
            </a:r>
          </a:p>
          <a:p>
            <a:pPr algn="just"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The approach also helped in efficient water management, reducing crowding and ensuring a steady, organized distribution.</a:t>
            </a:r>
          </a:p>
          <a:p>
            <a:pPr algn="just">
              <a:lnSpc>
                <a:spcPts val="4480"/>
              </a:lnSpc>
            </a:pPr>
          </a:p>
        </p:txBody>
      </p:sp>
      <p:sp>
        <p:nvSpPr>
          <p:cNvPr name="Freeform 6" id="6"/>
          <p:cNvSpPr/>
          <p:nvPr/>
        </p:nvSpPr>
        <p:spPr>
          <a:xfrm flipH="false" flipV="false" rot="0">
            <a:off x="0" y="9258300"/>
            <a:ext cx="18288000" cy="1011582"/>
          </a:xfrm>
          <a:custGeom>
            <a:avLst/>
            <a:gdLst/>
            <a:ahLst/>
            <a:cxnLst/>
            <a:rect r="r" b="b" t="t" l="l"/>
            <a:pathLst>
              <a:path h="1011582" w="18288000">
                <a:moveTo>
                  <a:pt x="0" y="0"/>
                </a:moveTo>
                <a:lnTo>
                  <a:pt x="18288000" y="0"/>
                </a:lnTo>
                <a:lnTo>
                  <a:pt x="18288000" y="1011582"/>
                </a:lnTo>
                <a:lnTo>
                  <a:pt x="0" y="1011582"/>
                </a:lnTo>
                <a:lnTo>
                  <a:pt x="0" y="0"/>
                </a:lnTo>
                <a:close/>
              </a:path>
            </a:pathLst>
          </a:custGeom>
          <a:blipFill>
            <a:blip r:embed="rId4"/>
            <a:stretch>
              <a:fillRect l="-20856" t="0" r="-752" b="-1680"/>
            </a:stretch>
          </a:blipFill>
        </p:spPr>
      </p:sp>
      <p:sp>
        <p:nvSpPr>
          <p:cNvPr name="Freeform 7" id="7"/>
          <p:cNvSpPr/>
          <p:nvPr/>
        </p:nvSpPr>
        <p:spPr>
          <a:xfrm flipH="false" flipV="false" rot="0">
            <a:off x="9518698" y="3584869"/>
            <a:ext cx="8289242" cy="4662699"/>
          </a:xfrm>
          <a:custGeom>
            <a:avLst/>
            <a:gdLst/>
            <a:ahLst/>
            <a:cxnLst/>
            <a:rect r="r" b="b" t="t" l="l"/>
            <a:pathLst>
              <a:path h="4662699" w="8289242">
                <a:moveTo>
                  <a:pt x="0" y="0"/>
                </a:moveTo>
                <a:lnTo>
                  <a:pt x="8289242" y="0"/>
                </a:lnTo>
                <a:lnTo>
                  <a:pt x="8289242" y="4662698"/>
                </a:lnTo>
                <a:lnTo>
                  <a:pt x="0" y="4662698"/>
                </a:lnTo>
                <a:lnTo>
                  <a:pt x="0" y="0"/>
                </a:lnTo>
                <a:close/>
              </a:path>
            </a:pathLst>
          </a:custGeom>
          <a:blipFill>
            <a:blip r:embed="rId5"/>
            <a:stretch>
              <a:fillRect l="0" t="0" r="0" b="0"/>
            </a:stretch>
          </a:blipFill>
        </p:spPr>
      </p:sp>
      <p:sp>
        <p:nvSpPr>
          <p:cNvPr name="TextBox 8" id="8"/>
          <p:cNvSpPr txBox="true"/>
          <p:nvPr/>
        </p:nvSpPr>
        <p:spPr>
          <a:xfrm rot="0">
            <a:off x="4302937" y="857250"/>
            <a:ext cx="7546082" cy="1264920"/>
          </a:xfrm>
          <a:prstGeom prst="rect">
            <a:avLst/>
          </a:prstGeom>
        </p:spPr>
        <p:txBody>
          <a:bodyPr anchor="t" rtlCol="false" tIns="0" lIns="0" bIns="0" rIns="0">
            <a:spAutoFit/>
          </a:bodyPr>
          <a:lstStyle/>
          <a:p>
            <a:pPr algn="ctr">
              <a:lnSpc>
                <a:spcPts val="10080"/>
              </a:lnSpc>
              <a:spcBef>
                <a:spcPct val="0"/>
              </a:spcBef>
            </a:pPr>
            <a:r>
              <a:rPr lang="en-US" b="true" sz="7200">
                <a:solidFill>
                  <a:srgbClr val="000000"/>
                </a:solidFill>
                <a:latin typeface="Times New Roman Bold"/>
                <a:ea typeface="Times New Roman Bold"/>
                <a:cs typeface="Times New Roman Bold"/>
                <a:sym typeface="Times New Roman Bold"/>
              </a:rPr>
              <a:t>Co-design Findings</a:t>
            </a:r>
          </a:p>
        </p:txBody>
      </p:sp>
      <p:sp>
        <p:nvSpPr>
          <p:cNvPr name="TextBox 9" id="9"/>
          <p:cNvSpPr txBox="true"/>
          <p:nvPr/>
        </p:nvSpPr>
        <p:spPr>
          <a:xfrm rot="0">
            <a:off x="731401" y="9365816"/>
            <a:ext cx="152400" cy="228600"/>
          </a:xfrm>
          <a:prstGeom prst="rect">
            <a:avLst/>
          </a:prstGeom>
        </p:spPr>
        <p:txBody>
          <a:bodyPr anchor="t" rtlCol="false" tIns="0" lIns="0" bIns="0" rIns="0" wrap="none">
            <a:spAutoFit/>
          </a:bodyPr>
          <a:lstStyle/>
          <a:p>
            <a:pPr algn="ctr">
              <a:lnSpc>
                <a:spcPts val="5970"/>
              </a:lnSpc>
              <a:spcBef>
                <a:spcPct val="0"/>
              </a:spcBef>
            </a:pPr>
            <a:r>
              <a:rPr lang="en-US" sz="4264">
                <a:solidFill>
                  <a:srgbClr val="FFFFFF"/>
                </a:solidFill>
                <a:latin typeface="Canva Sans"/>
                <a:ea typeface="Canva Sans"/>
                <a:cs typeface="Canva Sans"/>
                <a:sym typeface="Canva Sans"/>
              </a:rPr>
              <a:t>16</a:t>
            </a:r>
          </a:p>
        </p:txBody>
      </p:sp>
      <p:sp>
        <p:nvSpPr>
          <p:cNvPr name="TextBox 10" id="10"/>
          <p:cNvSpPr txBox="true"/>
          <p:nvPr/>
        </p:nvSpPr>
        <p:spPr>
          <a:xfrm rot="0">
            <a:off x="1019681" y="2497936"/>
            <a:ext cx="4685560" cy="712470"/>
          </a:xfrm>
          <a:prstGeom prst="rect">
            <a:avLst/>
          </a:prstGeom>
        </p:spPr>
        <p:txBody>
          <a:bodyPr anchor="t" rtlCol="false" tIns="0" lIns="0" bIns="0" rIns="0">
            <a:spAutoFit/>
          </a:bodyPr>
          <a:lstStyle/>
          <a:p>
            <a:pPr algn="ctr" marL="906780" indent="-453390" lvl="1">
              <a:lnSpc>
                <a:spcPts val="5880"/>
              </a:lnSpc>
              <a:buFont typeface="Arial"/>
              <a:buChar char="•"/>
            </a:pPr>
            <a:r>
              <a:rPr lang="en-US" b="true" sz="4200">
                <a:solidFill>
                  <a:srgbClr val="000000"/>
                </a:solidFill>
                <a:latin typeface="Canva Sans Bold"/>
                <a:ea typeface="Canva Sans Bold"/>
                <a:cs typeface="Canva Sans Bold"/>
                <a:sym typeface="Canva Sans Bold"/>
              </a:rPr>
              <a:t>Filter Timings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81628" y="282798"/>
            <a:ext cx="1470709" cy="1792426"/>
          </a:xfrm>
          <a:custGeom>
            <a:avLst/>
            <a:gdLst/>
            <a:ahLst/>
            <a:cxnLst/>
            <a:rect r="r" b="b" t="t" l="l"/>
            <a:pathLst>
              <a:path h="1792426" w="1470709">
                <a:moveTo>
                  <a:pt x="0" y="0"/>
                </a:moveTo>
                <a:lnTo>
                  <a:pt x="1470708" y="0"/>
                </a:lnTo>
                <a:lnTo>
                  <a:pt x="1470708" y="1792426"/>
                </a:lnTo>
                <a:lnTo>
                  <a:pt x="0" y="1792426"/>
                </a:lnTo>
                <a:lnTo>
                  <a:pt x="0" y="0"/>
                </a:lnTo>
                <a:close/>
              </a:path>
            </a:pathLst>
          </a:custGeom>
          <a:blipFill>
            <a:blip r:embed="rId2"/>
            <a:stretch>
              <a:fillRect l="0" t="0" r="0" b="0"/>
            </a:stretch>
          </a:blipFill>
        </p:spPr>
      </p:sp>
      <p:sp>
        <p:nvSpPr>
          <p:cNvPr name="Freeform 3" id="3"/>
          <p:cNvSpPr/>
          <p:nvPr/>
        </p:nvSpPr>
        <p:spPr>
          <a:xfrm flipH="false" flipV="false" rot="0">
            <a:off x="1028700" y="2432119"/>
            <a:ext cx="16230600" cy="142018"/>
          </a:xfrm>
          <a:custGeom>
            <a:avLst/>
            <a:gdLst/>
            <a:ahLst/>
            <a:cxnLst/>
            <a:rect r="r" b="b" t="t" l="l"/>
            <a:pathLst>
              <a:path h="142018" w="16230600">
                <a:moveTo>
                  <a:pt x="0" y="0"/>
                </a:moveTo>
                <a:lnTo>
                  <a:pt x="16230600" y="0"/>
                </a:lnTo>
                <a:lnTo>
                  <a:pt x="16230600" y="142017"/>
                </a:lnTo>
                <a:lnTo>
                  <a:pt x="0" y="142017"/>
                </a:lnTo>
                <a:lnTo>
                  <a:pt x="0" y="0"/>
                </a:lnTo>
                <a:close/>
              </a:path>
            </a:pathLst>
          </a:custGeom>
          <a:blipFill>
            <a:blip r:embed="rId3"/>
            <a:stretch>
              <a:fillRect l="0" t="0" r="0" b="0"/>
            </a:stretch>
          </a:blipFill>
        </p:spPr>
      </p:sp>
      <p:sp>
        <p:nvSpPr>
          <p:cNvPr name="AutoShape 4" id="4"/>
          <p:cNvSpPr/>
          <p:nvPr/>
        </p:nvSpPr>
        <p:spPr>
          <a:xfrm>
            <a:off x="3469976" y="282798"/>
            <a:ext cx="0" cy="2084030"/>
          </a:xfrm>
          <a:prstGeom prst="line">
            <a:avLst/>
          </a:prstGeom>
          <a:ln cap="flat" w="38100">
            <a:solidFill>
              <a:srgbClr val="2E6417"/>
            </a:solidFill>
            <a:prstDash val="solid"/>
            <a:headEnd type="none" len="sm" w="sm"/>
            <a:tailEnd type="none" len="sm" w="sm"/>
          </a:ln>
        </p:spPr>
      </p:sp>
      <p:sp>
        <p:nvSpPr>
          <p:cNvPr name="Freeform 5" id="5"/>
          <p:cNvSpPr/>
          <p:nvPr/>
        </p:nvSpPr>
        <p:spPr>
          <a:xfrm flipH="false" flipV="false" rot="0">
            <a:off x="1232042" y="3258848"/>
            <a:ext cx="7534054" cy="4683537"/>
          </a:xfrm>
          <a:custGeom>
            <a:avLst/>
            <a:gdLst/>
            <a:ahLst/>
            <a:cxnLst/>
            <a:rect r="r" b="b" t="t" l="l"/>
            <a:pathLst>
              <a:path h="4683537" w="7534054">
                <a:moveTo>
                  <a:pt x="0" y="0"/>
                </a:moveTo>
                <a:lnTo>
                  <a:pt x="7534053" y="0"/>
                </a:lnTo>
                <a:lnTo>
                  <a:pt x="7534053" y="4683536"/>
                </a:lnTo>
                <a:lnTo>
                  <a:pt x="0" y="4683536"/>
                </a:lnTo>
                <a:lnTo>
                  <a:pt x="0" y="0"/>
                </a:lnTo>
                <a:close/>
              </a:path>
            </a:pathLst>
          </a:custGeom>
          <a:blipFill>
            <a:blip r:embed="rId4"/>
            <a:stretch>
              <a:fillRect l="-4087" t="0" r="-6533" b="0"/>
            </a:stretch>
          </a:blipFill>
        </p:spPr>
      </p:sp>
      <p:sp>
        <p:nvSpPr>
          <p:cNvPr name="Freeform 6" id="6"/>
          <p:cNvSpPr/>
          <p:nvPr/>
        </p:nvSpPr>
        <p:spPr>
          <a:xfrm flipH="false" flipV="false" rot="0">
            <a:off x="9524598" y="3249323"/>
            <a:ext cx="7839477" cy="4683537"/>
          </a:xfrm>
          <a:custGeom>
            <a:avLst/>
            <a:gdLst/>
            <a:ahLst/>
            <a:cxnLst/>
            <a:rect r="r" b="b" t="t" l="l"/>
            <a:pathLst>
              <a:path h="4683537" w="7839477">
                <a:moveTo>
                  <a:pt x="0" y="0"/>
                </a:moveTo>
                <a:lnTo>
                  <a:pt x="7839477" y="0"/>
                </a:lnTo>
                <a:lnTo>
                  <a:pt x="7839477" y="4683536"/>
                </a:lnTo>
                <a:lnTo>
                  <a:pt x="0" y="4683536"/>
                </a:lnTo>
                <a:lnTo>
                  <a:pt x="0" y="0"/>
                </a:lnTo>
                <a:close/>
              </a:path>
            </a:pathLst>
          </a:custGeom>
          <a:blipFill>
            <a:blip r:embed="rId5"/>
            <a:stretch>
              <a:fillRect l="-5304" t="-165" r="0" b="-926"/>
            </a:stretch>
          </a:blipFill>
        </p:spPr>
      </p:sp>
      <p:sp>
        <p:nvSpPr>
          <p:cNvPr name="TextBox 7" id="7"/>
          <p:cNvSpPr txBox="true"/>
          <p:nvPr/>
        </p:nvSpPr>
        <p:spPr>
          <a:xfrm rot="0">
            <a:off x="2573217" y="7959012"/>
            <a:ext cx="4156472" cy="582930"/>
          </a:xfrm>
          <a:prstGeom prst="rect">
            <a:avLst/>
          </a:prstGeom>
        </p:spPr>
        <p:txBody>
          <a:bodyPr anchor="t" rtlCol="false" tIns="0" lIns="0" bIns="0" rIns="0">
            <a:spAutoFit/>
          </a:bodyPr>
          <a:lstStyle/>
          <a:p>
            <a:pPr algn="ctr">
              <a:lnSpc>
                <a:spcPts val="4620"/>
              </a:lnSpc>
              <a:spcBef>
                <a:spcPct val="0"/>
              </a:spcBef>
            </a:pPr>
            <a:r>
              <a:rPr lang="en-US" b="true" sz="3300">
                <a:solidFill>
                  <a:srgbClr val="000000"/>
                </a:solidFill>
                <a:latin typeface="Times New Roman Bold"/>
                <a:ea typeface="Times New Roman Bold"/>
                <a:cs typeface="Times New Roman Bold"/>
                <a:sym typeface="Times New Roman Bold"/>
              </a:rPr>
              <a:t>Co</a:t>
            </a:r>
            <a:r>
              <a:rPr lang="en-US" b="true" sz="3300">
                <a:solidFill>
                  <a:srgbClr val="000000"/>
                </a:solidFill>
                <a:latin typeface="Times New Roman Bold"/>
                <a:ea typeface="Times New Roman Bold"/>
                <a:cs typeface="Times New Roman Bold"/>
                <a:sym typeface="Times New Roman Bold"/>
              </a:rPr>
              <a:t>llaborative Planning</a:t>
            </a:r>
          </a:p>
        </p:txBody>
      </p:sp>
      <p:sp>
        <p:nvSpPr>
          <p:cNvPr name="TextBox 8" id="8"/>
          <p:cNvSpPr txBox="true"/>
          <p:nvPr/>
        </p:nvSpPr>
        <p:spPr>
          <a:xfrm rot="0">
            <a:off x="12005169" y="7959012"/>
            <a:ext cx="3411736" cy="582930"/>
          </a:xfrm>
          <a:prstGeom prst="rect">
            <a:avLst/>
          </a:prstGeom>
        </p:spPr>
        <p:txBody>
          <a:bodyPr anchor="t" rtlCol="false" tIns="0" lIns="0" bIns="0" rIns="0">
            <a:spAutoFit/>
          </a:bodyPr>
          <a:lstStyle/>
          <a:p>
            <a:pPr algn="ctr">
              <a:lnSpc>
                <a:spcPts val="4620"/>
              </a:lnSpc>
              <a:spcBef>
                <a:spcPct val="0"/>
              </a:spcBef>
            </a:pPr>
            <a:r>
              <a:rPr lang="en-US" b="true" sz="3300">
                <a:solidFill>
                  <a:srgbClr val="000000"/>
                </a:solidFill>
                <a:latin typeface="Times New Roman Bold"/>
                <a:ea typeface="Times New Roman Bold"/>
                <a:cs typeface="Times New Roman Bold"/>
                <a:sym typeface="Times New Roman Bold"/>
              </a:rPr>
              <a:t>C</a:t>
            </a:r>
            <a:r>
              <a:rPr lang="en-US" b="true" sz="3300">
                <a:solidFill>
                  <a:srgbClr val="000000"/>
                </a:solidFill>
                <a:latin typeface="Times New Roman Bold"/>
                <a:ea typeface="Times New Roman Bold"/>
                <a:cs typeface="Times New Roman Bold"/>
                <a:sym typeface="Times New Roman Bold"/>
              </a:rPr>
              <a:t>ommunity Voting</a:t>
            </a:r>
          </a:p>
        </p:txBody>
      </p:sp>
      <p:sp>
        <p:nvSpPr>
          <p:cNvPr name="TextBox 9" id="9"/>
          <p:cNvSpPr txBox="true"/>
          <p:nvPr/>
        </p:nvSpPr>
        <p:spPr>
          <a:xfrm rot="0">
            <a:off x="4003376" y="857250"/>
            <a:ext cx="7223224" cy="1264920"/>
          </a:xfrm>
          <a:prstGeom prst="rect">
            <a:avLst/>
          </a:prstGeom>
        </p:spPr>
        <p:txBody>
          <a:bodyPr anchor="t" rtlCol="false" tIns="0" lIns="0" bIns="0" rIns="0">
            <a:spAutoFit/>
          </a:bodyPr>
          <a:lstStyle/>
          <a:p>
            <a:pPr algn="ctr">
              <a:lnSpc>
                <a:spcPts val="10080"/>
              </a:lnSpc>
              <a:spcBef>
                <a:spcPct val="0"/>
              </a:spcBef>
            </a:pPr>
            <a:r>
              <a:rPr lang="en-US" b="true" sz="7200">
                <a:solidFill>
                  <a:srgbClr val="000000"/>
                </a:solidFill>
                <a:latin typeface="Times New Roman Bold"/>
                <a:ea typeface="Times New Roman Bold"/>
                <a:cs typeface="Times New Roman Bold"/>
                <a:sym typeface="Times New Roman Bold"/>
              </a:rPr>
              <a:t>Tim</a:t>
            </a:r>
            <a:r>
              <a:rPr lang="en-US" b="true" sz="7200">
                <a:solidFill>
                  <a:srgbClr val="000000"/>
                </a:solidFill>
                <a:latin typeface="Times New Roman Bold"/>
                <a:ea typeface="Times New Roman Bold"/>
                <a:cs typeface="Times New Roman Bold"/>
                <a:sym typeface="Times New Roman Bold"/>
              </a:rPr>
              <a:t>eline Mapping</a:t>
            </a:r>
          </a:p>
        </p:txBody>
      </p:sp>
      <p:sp>
        <p:nvSpPr>
          <p:cNvPr name="Freeform 10" id="10"/>
          <p:cNvSpPr/>
          <p:nvPr/>
        </p:nvSpPr>
        <p:spPr>
          <a:xfrm flipH="false" flipV="false" rot="0">
            <a:off x="0" y="9258300"/>
            <a:ext cx="18288000" cy="1011582"/>
          </a:xfrm>
          <a:custGeom>
            <a:avLst/>
            <a:gdLst/>
            <a:ahLst/>
            <a:cxnLst/>
            <a:rect r="r" b="b" t="t" l="l"/>
            <a:pathLst>
              <a:path h="1011582" w="18288000">
                <a:moveTo>
                  <a:pt x="0" y="0"/>
                </a:moveTo>
                <a:lnTo>
                  <a:pt x="18288000" y="0"/>
                </a:lnTo>
                <a:lnTo>
                  <a:pt x="18288000" y="1011582"/>
                </a:lnTo>
                <a:lnTo>
                  <a:pt x="0" y="1011582"/>
                </a:lnTo>
                <a:lnTo>
                  <a:pt x="0" y="0"/>
                </a:lnTo>
                <a:close/>
              </a:path>
            </a:pathLst>
          </a:custGeom>
          <a:blipFill>
            <a:blip r:embed="rId6"/>
            <a:stretch>
              <a:fillRect l="-20856" t="0" r="-752" b="-1680"/>
            </a:stretch>
          </a:blipFill>
        </p:spPr>
      </p:sp>
      <p:sp>
        <p:nvSpPr>
          <p:cNvPr name="TextBox 11" id="11"/>
          <p:cNvSpPr txBox="true"/>
          <p:nvPr/>
        </p:nvSpPr>
        <p:spPr>
          <a:xfrm rot="0">
            <a:off x="731401" y="9365816"/>
            <a:ext cx="152400" cy="228600"/>
          </a:xfrm>
          <a:prstGeom prst="rect">
            <a:avLst/>
          </a:prstGeom>
        </p:spPr>
        <p:txBody>
          <a:bodyPr anchor="t" rtlCol="false" tIns="0" lIns="0" bIns="0" rIns="0" wrap="none">
            <a:spAutoFit/>
          </a:bodyPr>
          <a:lstStyle/>
          <a:p>
            <a:pPr algn="ctr">
              <a:lnSpc>
                <a:spcPts val="5970"/>
              </a:lnSpc>
              <a:spcBef>
                <a:spcPct val="0"/>
              </a:spcBef>
            </a:pPr>
            <a:r>
              <a:rPr lang="en-US" sz="4264">
                <a:solidFill>
                  <a:srgbClr val="FFFFFF"/>
                </a:solidFill>
                <a:latin typeface="Canva Sans"/>
                <a:ea typeface="Canva Sans"/>
                <a:cs typeface="Canva Sans"/>
                <a:sym typeface="Canva Sans"/>
              </a:rPr>
              <a:t>17</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81628" y="282798"/>
            <a:ext cx="1470709" cy="1792426"/>
          </a:xfrm>
          <a:custGeom>
            <a:avLst/>
            <a:gdLst/>
            <a:ahLst/>
            <a:cxnLst/>
            <a:rect r="r" b="b" t="t" l="l"/>
            <a:pathLst>
              <a:path h="1792426" w="1470709">
                <a:moveTo>
                  <a:pt x="0" y="0"/>
                </a:moveTo>
                <a:lnTo>
                  <a:pt x="1470708" y="0"/>
                </a:lnTo>
                <a:lnTo>
                  <a:pt x="1470708" y="1792426"/>
                </a:lnTo>
                <a:lnTo>
                  <a:pt x="0" y="1792426"/>
                </a:lnTo>
                <a:lnTo>
                  <a:pt x="0" y="0"/>
                </a:lnTo>
                <a:close/>
              </a:path>
            </a:pathLst>
          </a:custGeom>
          <a:blipFill>
            <a:blip r:embed="rId2"/>
            <a:stretch>
              <a:fillRect l="0" t="0" r="0" b="0"/>
            </a:stretch>
          </a:blipFill>
        </p:spPr>
      </p:sp>
      <p:sp>
        <p:nvSpPr>
          <p:cNvPr name="TextBox 3" id="3"/>
          <p:cNvSpPr txBox="true"/>
          <p:nvPr/>
        </p:nvSpPr>
        <p:spPr>
          <a:xfrm rot="0">
            <a:off x="4400041" y="428576"/>
            <a:ext cx="9487918" cy="1646648"/>
          </a:xfrm>
          <a:prstGeom prst="rect">
            <a:avLst/>
          </a:prstGeom>
        </p:spPr>
        <p:txBody>
          <a:bodyPr anchor="t" rtlCol="false" tIns="0" lIns="0" bIns="0" rIns="0">
            <a:spAutoFit/>
          </a:bodyPr>
          <a:lstStyle/>
          <a:p>
            <a:pPr algn="ctr">
              <a:lnSpc>
                <a:spcPts val="13145"/>
              </a:lnSpc>
              <a:spcBef>
                <a:spcPct val="0"/>
              </a:spcBef>
            </a:pPr>
            <a:r>
              <a:rPr lang="en-US" b="true" sz="9389">
                <a:solidFill>
                  <a:srgbClr val="000000"/>
                </a:solidFill>
                <a:latin typeface="Times New Roman Bold"/>
                <a:ea typeface="Times New Roman Bold"/>
                <a:cs typeface="Times New Roman Bold"/>
                <a:sym typeface="Times New Roman Bold"/>
              </a:rPr>
              <a:t>Group Discussions</a:t>
            </a:r>
          </a:p>
        </p:txBody>
      </p:sp>
      <p:sp>
        <p:nvSpPr>
          <p:cNvPr name="Freeform 4" id="4"/>
          <p:cNvSpPr/>
          <p:nvPr/>
        </p:nvSpPr>
        <p:spPr>
          <a:xfrm flipH="false" flipV="false" rot="0">
            <a:off x="1028700" y="2432119"/>
            <a:ext cx="16230600" cy="142018"/>
          </a:xfrm>
          <a:custGeom>
            <a:avLst/>
            <a:gdLst/>
            <a:ahLst/>
            <a:cxnLst/>
            <a:rect r="r" b="b" t="t" l="l"/>
            <a:pathLst>
              <a:path h="142018" w="16230600">
                <a:moveTo>
                  <a:pt x="0" y="0"/>
                </a:moveTo>
                <a:lnTo>
                  <a:pt x="16230600" y="0"/>
                </a:lnTo>
                <a:lnTo>
                  <a:pt x="16230600" y="142017"/>
                </a:lnTo>
                <a:lnTo>
                  <a:pt x="0" y="142017"/>
                </a:lnTo>
                <a:lnTo>
                  <a:pt x="0" y="0"/>
                </a:lnTo>
                <a:close/>
              </a:path>
            </a:pathLst>
          </a:custGeom>
          <a:blipFill>
            <a:blip r:embed="rId3"/>
            <a:stretch>
              <a:fillRect l="0" t="0" r="0" b="0"/>
            </a:stretch>
          </a:blipFill>
        </p:spPr>
      </p:sp>
      <p:sp>
        <p:nvSpPr>
          <p:cNvPr name="AutoShape 5" id="5"/>
          <p:cNvSpPr/>
          <p:nvPr/>
        </p:nvSpPr>
        <p:spPr>
          <a:xfrm>
            <a:off x="3469976" y="282798"/>
            <a:ext cx="0" cy="2084030"/>
          </a:xfrm>
          <a:prstGeom prst="line">
            <a:avLst/>
          </a:prstGeom>
          <a:ln cap="flat" w="38100">
            <a:solidFill>
              <a:srgbClr val="2E6417"/>
            </a:solidFill>
            <a:prstDash val="solid"/>
            <a:headEnd type="none" len="sm" w="sm"/>
            <a:tailEnd type="none" len="sm" w="sm"/>
          </a:ln>
        </p:spPr>
      </p:sp>
      <p:sp>
        <p:nvSpPr>
          <p:cNvPr name="TextBox 6" id="6"/>
          <p:cNvSpPr txBox="true"/>
          <p:nvPr/>
        </p:nvSpPr>
        <p:spPr>
          <a:xfrm rot="0">
            <a:off x="1028700" y="3021570"/>
            <a:ext cx="16230600" cy="4675423"/>
          </a:xfrm>
          <a:prstGeom prst="rect">
            <a:avLst/>
          </a:prstGeom>
        </p:spPr>
        <p:txBody>
          <a:bodyPr anchor="t" rtlCol="false" tIns="0" lIns="0" bIns="0" rIns="0">
            <a:spAutoFit/>
          </a:bodyPr>
          <a:lstStyle/>
          <a:p>
            <a:pPr algn="just" marL="821120" indent="-410560" lvl="1">
              <a:lnSpc>
                <a:spcPts val="5324"/>
              </a:lnSpc>
              <a:buFont typeface="Arial"/>
              <a:buChar char="•"/>
            </a:pPr>
            <a:r>
              <a:rPr lang="en-US" sz="3803">
                <a:solidFill>
                  <a:srgbClr val="000000"/>
                </a:solidFill>
                <a:latin typeface="Times New Roman"/>
                <a:ea typeface="Times New Roman"/>
                <a:cs typeface="Times New Roman"/>
                <a:sym typeface="Times New Roman"/>
              </a:rPr>
              <a:t>Group discussions were held at convenient village locations and actively involved all key community groups, with facilitators making sure that everyone’s opinions and concerns were equally heard.</a:t>
            </a:r>
          </a:p>
          <a:p>
            <a:pPr algn="just" marL="821120" indent="-410560" lvl="1">
              <a:lnSpc>
                <a:spcPts val="5324"/>
              </a:lnSpc>
              <a:buFont typeface="Arial"/>
              <a:buChar char="•"/>
            </a:pPr>
            <a:r>
              <a:rPr lang="en-US" sz="3803">
                <a:solidFill>
                  <a:srgbClr val="000000"/>
                </a:solidFill>
                <a:latin typeface="Times New Roman"/>
                <a:ea typeface="Times New Roman"/>
                <a:cs typeface="Times New Roman"/>
                <a:sym typeface="Times New Roman"/>
              </a:rPr>
              <a:t>Each session focused on specific topics such as site suitability, cultural concerns, and involved selecting Water Management Committee </a:t>
            </a:r>
            <a:r>
              <a:rPr lang="en-US" sz="3803">
                <a:solidFill>
                  <a:srgbClr val="000000"/>
                </a:solidFill>
                <a:latin typeface="Times New Roman"/>
                <a:ea typeface="Times New Roman"/>
                <a:cs typeface="Times New Roman"/>
                <a:sym typeface="Times New Roman"/>
              </a:rPr>
              <a:t>members and a caretaker with roles and responsibilities assigned in agreement with all villagers.</a:t>
            </a:r>
          </a:p>
        </p:txBody>
      </p:sp>
      <p:sp>
        <p:nvSpPr>
          <p:cNvPr name="Freeform 7" id="7"/>
          <p:cNvSpPr/>
          <p:nvPr/>
        </p:nvSpPr>
        <p:spPr>
          <a:xfrm flipH="false" flipV="false" rot="0">
            <a:off x="0" y="9258300"/>
            <a:ext cx="18288000" cy="1011582"/>
          </a:xfrm>
          <a:custGeom>
            <a:avLst/>
            <a:gdLst/>
            <a:ahLst/>
            <a:cxnLst/>
            <a:rect r="r" b="b" t="t" l="l"/>
            <a:pathLst>
              <a:path h="1011582" w="18288000">
                <a:moveTo>
                  <a:pt x="0" y="0"/>
                </a:moveTo>
                <a:lnTo>
                  <a:pt x="18288000" y="0"/>
                </a:lnTo>
                <a:lnTo>
                  <a:pt x="18288000" y="1011582"/>
                </a:lnTo>
                <a:lnTo>
                  <a:pt x="0" y="1011582"/>
                </a:lnTo>
                <a:lnTo>
                  <a:pt x="0" y="0"/>
                </a:lnTo>
                <a:close/>
              </a:path>
            </a:pathLst>
          </a:custGeom>
          <a:blipFill>
            <a:blip r:embed="rId4"/>
            <a:stretch>
              <a:fillRect l="-20856" t="0" r="-752" b="-1680"/>
            </a:stretch>
          </a:blipFill>
        </p:spPr>
      </p:sp>
      <p:sp>
        <p:nvSpPr>
          <p:cNvPr name="TextBox 8" id="8"/>
          <p:cNvSpPr txBox="true"/>
          <p:nvPr/>
        </p:nvSpPr>
        <p:spPr>
          <a:xfrm rot="0">
            <a:off x="731401" y="9365816"/>
            <a:ext cx="152400" cy="228600"/>
          </a:xfrm>
          <a:prstGeom prst="rect">
            <a:avLst/>
          </a:prstGeom>
        </p:spPr>
        <p:txBody>
          <a:bodyPr anchor="t" rtlCol="false" tIns="0" lIns="0" bIns="0" rIns="0" wrap="none">
            <a:spAutoFit/>
          </a:bodyPr>
          <a:lstStyle/>
          <a:p>
            <a:pPr algn="ctr">
              <a:lnSpc>
                <a:spcPts val="5970"/>
              </a:lnSpc>
              <a:spcBef>
                <a:spcPct val="0"/>
              </a:spcBef>
            </a:pPr>
            <a:r>
              <a:rPr lang="en-US" sz="4264">
                <a:solidFill>
                  <a:srgbClr val="FFFFFF"/>
                </a:solidFill>
                <a:latin typeface="Canva Sans"/>
                <a:ea typeface="Canva Sans"/>
                <a:cs typeface="Canva Sans"/>
                <a:sym typeface="Canva Sans"/>
              </a:rPr>
              <a:t>18</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81628" y="282798"/>
            <a:ext cx="1470709" cy="1792426"/>
          </a:xfrm>
          <a:custGeom>
            <a:avLst/>
            <a:gdLst/>
            <a:ahLst/>
            <a:cxnLst/>
            <a:rect r="r" b="b" t="t" l="l"/>
            <a:pathLst>
              <a:path h="1792426" w="1470709">
                <a:moveTo>
                  <a:pt x="0" y="0"/>
                </a:moveTo>
                <a:lnTo>
                  <a:pt x="1470708" y="0"/>
                </a:lnTo>
                <a:lnTo>
                  <a:pt x="1470708" y="1792426"/>
                </a:lnTo>
                <a:lnTo>
                  <a:pt x="0" y="1792426"/>
                </a:lnTo>
                <a:lnTo>
                  <a:pt x="0" y="0"/>
                </a:lnTo>
                <a:close/>
              </a:path>
            </a:pathLst>
          </a:custGeom>
          <a:blipFill>
            <a:blip r:embed="rId2"/>
            <a:stretch>
              <a:fillRect l="0" t="0" r="0" b="0"/>
            </a:stretch>
          </a:blipFill>
        </p:spPr>
      </p:sp>
      <p:sp>
        <p:nvSpPr>
          <p:cNvPr name="Freeform 3" id="3"/>
          <p:cNvSpPr/>
          <p:nvPr/>
        </p:nvSpPr>
        <p:spPr>
          <a:xfrm flipH="false" flipV="false" rot="0">
            <a:off x="1028700" y="2432119"/>
            <a:ext cx="16230600" cy="142018"/>
          </a:xfrm>
          <a:custGeom>
            <a:avLst/>
            <a:gdLst/>
            <a:ahLst/>
            <a:cxnLst/>
            <a:rect r="r" b="b" t="t" l="l"/>
            <a:pathLst>
              <a:path h="142018" w="16230600">
                <a:moveTo>
                  <a:pt x="0" y="0"/>
                </a:moveTo>
                <a:lnTo>
                  <a:pt x="16230600" y="0"/>
                </a:lnTo>
                <a:lnTo>
                  <a:pt x="16230600" y="142017"/>
                </a:lnTo>
                <a:lnTo>
                  <a:pt x="0" y="142017"/>
                </a:lnTo>
                <a:lnTo>
                  <a:pt x="0" y="0"/>
                </a:lnTo>
                <a:close/>
              </a:path>
            </a:pathLst>
          </a:custGeom>
          <a:blipFill>
            <a:blip r:embed="rId3"/>
            <a:stretch>
              <a:fillRect l="0" t="0" r="0" b="0"/>
            </a:stretch>
          </a:blipFill>
        </p:spPr>
      </p:sp>
      <p:sp>
        <p:nvSpPr>
          <p:cNvPr name="AutoShape 4" id="4"/>
          <p:cNvSpPr/>
          <p:nvPr/>
        </p:nvSpPr>
        <p:spPr>
          <a:xfrm>
            <a:off x="3469976" y="282798"/>
            <a:ext cx="0" cy="2084030"/>
          </a:xfrm>
          <a:prstGeom prst="line">
            <a:avLst/>
          </a:prstGeom>
          <a:ln cap="flat" w="38100">
            <a:solidFill>
              <a:srgbClr val="2E6417"/>
            </a:solidFill>
            <a:prstDash val="solid"/>
            <a:headEnd type="none" len="sm" w="sm"/>
            <a:tailEnd type="none" len="sm" w="sm"/>
          </a:ln>
        </p:spPr>
      </p:sp>
      <p:sp>
        <p:nvSpPr>
          <p:cNvPr name="TextBox 5" id="5"/>
          <p:cNvSpPr txBox="true"/>
          <p:nvPr/>
        </p:nvSpPr>
        <p:spPr>
          <a:xfrm rot="0">
            <a:off x="313390" y="3246321"/>
            <a:ext cx="17487160" cy="6385560"/>
          </a:xfrm>
          <a:prstGeom prst="rect">
            <a:avLst/>
          </a:prstGeom>
        </p:spPr>
        <p:txBody>
          <a:bodyPr anchor="t" rtlCol="false" tIns="0" lIns="0" bIns="0" rIns="0">
            <a:spAutoFit/>
          </a:bodyPr>
          <a:lstStyle/>
          <a:p>
            <a:pPr algn="just" marL="777238" indent="-388619" lvl="1">
              <a:lnSpc>
                <a:spcPts val="5039"/>
              </a:lnSpc>
              <a:buFont typeface="Arial"/>
              <a:buChar char="•"/>
            </a:pPr>
            <a:r>
              <a:rPr lang="en-US" sz="3599">
                <a:solidFill>
                  <a:srgbClr val="000000"/>
                </a:solidFill>
                <a:latin typeface="Times New Roman"/>
                <a:ea typeface="Times New Roman"/>
                <a:cs typeface="Times New Roman"/>
                <a:sym typeface="Times New Roman"/>
              </a:rPr>
              <a:t>Women from both caste groups actively participated in the group sketching sessions, sharing their ideas and preferences for poster designs, slogans, and wall visuals around the filtration site.</a:t>
            </a:r>
          </a:p>
          <a:p>
            <a:pPr algn="just" marL="777238" indent="-388619" lvl="1">
              <a:lnSpc>
                <a:spcPts val="5039"/>
              </a:lnSpc>
              <a:buFont typeface="Arial"/>
              <a:buChar char="•"/>
            </a:pPr>
            <a:r>
              <a:rPr lang="en-US" sz="3599">
                <a:solidFill>
                  <a:srgbClr val="000000"/>
                </a:solidFill>
                <a:latin typeface="Times New Roman"/>
                <a:ea typeface="Times New Roman"/>
                <a:cs typeface="Times New Roman"/>
                <a:sym typeface="Times New Roman"/>
              </a:rPr>
              <a:t>The activity was carried out through group sketching, allowing participants to visually express how they wanted the surroundings of the water collection area to look.</a:t>
            </a:r>
          </a:p>
          <a:p>
            <a:pPr algn="just" marL="777238" indent="-388619" lvl="1">
              <a:lnSpc>
                <a:spcPts val="5039"/>
              </a:lnSpc>
              <a:buFont typeface="Arial"/>
              <a:buChar char="•"/>
            </a:pPr>
            <a:r>
              <a:rPr lang="en-US" sz="3599">
                <a:solidFill>
                  <a:srgbClr val="000000"/>
                </a:solidFill>
                <a:latin typeface="Times New Roman"/>
                <a:ea typeface="Times New Roman"/>
                <a:cs typeface="Times New Roman"/>
                <a:sym typeface="Times New Roman"/>
              </a:rPr>
              <a:t>The women suggested that the posters be laminated instead of wall paintings to ensure durability, easy cleaning, and protection from weather.</a:t>
            </a:r>
          </a:p>
          <a:p>
            <a:pPr algn="just" marL="777238" indent="-388619" lvl="1">
              <a:lnSpc>
                <a:spcPts val="5039"/>
              </a:lnSpc>
              <a:buFont typeface="Arial"/>
              <a:buChar char="•"/>
            </a:pPr>
            <a:r>
              <a:rPr lang="en-US" sz="3599">
                <a:solidFill>
                  <a:srgbClr val="000000"/>
                </a:solidFill>
                <a:latin typeface="Times New Roman"/>
                <a:ea typeface="Times New Roman"/>
                <a:cs typeface="Times New Roman"/>
                <a:sym typeface="Times New Roman"/>
              </a:rPr>
              <a:t>Based on their collective input, three posters were finalized  incorporating community-selected colors, slogans, and imagery.</a:t>
            </a:r>
          </a:p>
          <a:p>
            <a:pPr algn="just">
              <a:lnSpc>
                <a:spcPts val="5039"/>
              </a:lnSpc>
            </a:pPr>
          </a:p>
        </p:txBody>
      </p:sp>
      <p:sp>
        <p:nvSpPr>
          <p:cNvPr name="Freeform 6" id="6"/>
          <p:cNvSpPr/>
          <p:nvPr/>
        </p:nvSpPr>
        <p:spPr>
          <a:xfrm flipH="false" flipV="false" rot="0">
            <a:off x="0" y="9258300"/>
            <a:ext cx="18288000" cy="1011582"/>
          </a:xfrm>
          <a:custGeom>
            <a:avLst/>
            <a:gdLst/>
            <a:ahLst/>
            <a:cxnLst/>
            <a:rect r="r" b="b" t="t" l="l"/>
            <a:pathLst>
              <a:path h="1011582" w="18288000">
                <a:moveTo>
                  <a:pt x="0" y="0"/>
                </a:moveTo>
                <a:lnTo>
                  <a:pt x="18288000" y="0"/>
                </a:lnTo>
                <a:lnTo>
                  <a:pt x="18288000" y="1011582"/>
                </a:lnTo>
                <a:lnTo>
                  <a:pt x="0" y="1011582"/>
                </a:lnTo>
                <a:lnTo>
                  <a:pt x="0" y="0"/>
                </a:lnTo>
                <a:close/>
              </a:path>
            </a:pathLst>
          </a:custGeom>
          <a:blipFill>
            <a:blip r:embed="rId4"/>
            <a:stretch>
              <a:fillRect l="-20856" t="0" r="-752" b="-1680"/>
            </a:stretch>
          </a:blipFill>
        </p:spPr>
      </p:sp>
      <p:sp>
        <p:nvSpPr>
          <p:cNvPr name="TextBox 7" id="7"/>
          <p:cNvSpPr txBox="true"/>
          <p:nvPr/>
        </p:nvSpPr>
        <p:spPr>
          <a:xfrm rot="0">
            <a:off x="4302937" y="857250"/>
            <a:ext cx="7546082" cy="1264920"/>
          </a:xfrm>
          <a:prstGeom prst="rect">
            <a:avLst/>
          </a:prstGeom>
        </p:spPr>
        <p:txBody>
          <a:bodyPr anchor="t" rtlCol="false" tIns="0" lIns="0" bIns="0" rIns="0">
            <a:spAutoFit/>
          </a:bodyPr>
          <a:lstStyle/>
          <a:p>
            <a:pPr algn="ctr">
              <a:lnSpc>
                <a:spcPts val="10080"/>
              </a:lnSpc>
              <a:spcBef>
                <a:spcPct val="0"/>
              </a:spcBef>
            </a:pPr>
            <a:r>
              <a:rPr lang="en-US" b="true" sz="7200">
                <a:solidFill>
                  <a:srgbClr val="000000"/>
                </a:solidFill>
                <a:latin typeface="Times New Roman Bold"/>
                <a:ea typeface="Times New Roman Bold"/>
                <a:cs typeface="Times New Roman Bold"/>
                <a:sym typeface="Times New Roman Bold"/>
              </a:rPr>
              <a:t>Co-design Findings</a:t>
            </a:r>
          </a:p>
        </p:txBody>
      </p:sp>
      <p:sp>
        <p:nvSpPr>
          <p:cNvPr name="TextBox 8" id="8"/>
          <p:cNvSpPr txBox="true"/>
          <p:nvPr/>
        </p:nvSpPr>
        <p:spPr>
          <a:xfrm rot="0">
            <a:off x="731401" y="9365816"/>
            <a:ext cx="152400" cy="228600"/>
          </a:xfrm>
          <a:prstGeom prst="rect">
            <a:avLst/>
          </a:prstGeom>
        </p:spPr>
        <p:txBody>
          <a:bodyPr anchor="t" rtlCol="false" tIns="0" lIns="0" bIns="0" rIns="0" wrap="none">
            <a:spAutoFit/>
          </a:bodyPr>
          <a:lstStyle/>
          <a:p>
            <a:pPr algn="ctr">
              <a:lnSpc>
                <a:spcPts val="5970"/>
              </a:lnSpc>
              <a:spcBef>
                <a:spcPct val="0"/>
              </a:spcBef>
            </a:pPr>
            <a:r>
              <a:rPr lang="en-US" sz="4264">
                <a:solidFill>
                  <a:srgbClr val="FFFFFF"/>
                </a:solidFill>
                <a:latin typeface="Canva Sans"/>
                <a:ea typeface="Canva Sans"/>
                <a:cs typeface="Canva Sans"/>
                <a:sym typeface="Canva Sans"/>
              </a:rPr>
              <a:t>19</a:t>
            </a:r>
          </a:p>
        </p:txBody>
      </p:sp>
      <p:sp>
        <p:nvSpPr>
          <p:cNvPr name="TextBox 9" id="9"/>
          <p:cNvSpPr txBox="true"/>
          <p:nvPr/>
        </p:nvSpPr>
        <p:spPr>
          <a:xfrm rot="0">
            <a:off x="1019681" y="2497936"/>
            <a:ext cx="11608874" cy="712470"/>
          </a:xfrm>
          <a:prstGeom prst="rect">
            <a:avLst/>
          </a:prstGeom>
        </p:spPr>
        <p:txBody>
          <a:bodyPr anchor="t" rtlCol="false" tIns="0" lIns="0" bIns="0" rIns="0">
            <a:spAutoFit/>
          </a:bodyPr>
          <a:lstStyle/>
          <a:p>
            <a:pPr algn="ctr" marL="906780" indent="-453390" lvl="1">
              <a:lnSpc>
                <a:spcPts val="5880"/>
              </a:lnSpc>
              <a:buFont typeface="Arial"/>
              <a:buChar char="•"/>
            </a:pPr>
            <a:r>
              <a:rPr lang="en-US" b="true" sz="4200">
                <a:solidFill>
                  <a:srgbClr val="000000"/>
                </a:solidFill>
                <a:latin typeface="Canva Sans Bold"/>
                <a:ea typeface="Canva Sans Bold"/>
                <a:cs typeface="Canva Sans Bold"/>
                <a:sym typeface="Canva Sans Bold"/>
              </a:rPr>
              <a:t>Awareness and Aesthetic Design Inputs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81628" y="282798"/>
            <a:ext cx="1470709" cy="1792426"/>
          </a:xfrm>
          <a:custGeom>
            <a:avLst/>
            <a:gdLst/>
            <a:ahLst/>
            <a:cxnLst/>
            <a:rect r="r" b="b" t="t" l="l"/>
            <a:pathLst>
              <a:path h="1792426" w="1470709">
                <a:moveTo>
                  <a:pt x="0" y="0"/>
                </a:moveTo>
                <a:lnTo>
                  <a:pt x="1470708" y="0"/>
                </a:lnTo>
                <a:lnTo>
                  <a:pt x="1470708" y="1792426"/>
                </a:lnTo>
                <a:lnTo>
                  <a:pt x="0" y="1792426"/>
                </a:lnTo>
                <a:lnTo>
                  <a:pt x="0" y="0"/>
                </a:lnTo>
                <a:close/>
              </a:path>
            </a:pathLst>
          </a:custGeom>
          <a:blipFill>
            <a:blip r:embed="rId2"/>
            <a:stretch>
              <a:fillRect l="0" t="0" r="0" b="0"/>
            </a:stretch>
          </a:blipFill>
        </p:spPr>
      </p:sp>
      <p:sp>
        <p:nvSpPr>
          <p:cNvPr name="Freeform 3" id="3"/>
          <p:cNvSpPr/>
          <p:nvPr/>
        </p:nvSpPr>
        <p:spPr>
          <a:xfrm flipH="false" flipV="false" rot="0">
            <a:off x="1028700" y="2432119"/>
            <a:ext cx="16230600" cy="142018"/>
          </a:xfrm>
          <a:custGeom>
            <a:avLst/>
            <a:gdLst/>
            <a:ahLst/>
            <a:cxnLst/>
            <a:rect r="r" b="b" t="t" l="l"/>
            <a:pathLst>
              <a:path h="142018" w="16230600">
                <a:moveTo>
                  <a:pt x="0" y="0"/>
                </a:moveTo>
                <a:lnTo>
                  <a:pt x="16230600" y="0"/>
                </a:lnTo>
                <a:lnTo>
                  <a:pt x="16230600" y="142017"/>
                </a:lnTo>
                <a:lnTo>
                  <a:pt x="0" y="142017"/>
                </a:lnTo>
                <a:lnTo>
                  <a:pt x="0" y="0"/>
                </a:lnTo>
                <a:close/>
              </a:path>
            </a:pathLst>
          </a:custGeom>
          <a:blipFill>
            <a:blip r:embed="rId3"/>
            <a:stretch>
              <a:fillRect l="0" t="0" r="0" b="0"/>
            </a:stretch>
          </a:blipFill>
        </p:spPr>
      </p:sp>
      <p:sp>
        <p:nvSpPr>
          <p:cNvPr name="AutoShape 4" id="4"/>
          <p:cNvSpPr/>
          <p:nvPr/>
        </p:nvSpPr>
        <p:spPr>
          <a:xfrm>
            <a:off x="3469976" y="282798"/>
            <a:ext cx="0" cy="2084030"/>
          </a:xfrm>
          <a:prstGeom prst="line">
            <a:avLst/>
          </a:prstGeom>
          <a:ln cap="flat" w="38100">
            <a:solidFill>
              <a:srgbClr val="2E6417"/>
            </a:solidFill>
            <a:prstDash val="solid"/>
            <a:headEnd type="none" len="sm" w="sm"/>
            <a:tailEnd type="none" len="sm" w="sm"/>
          </a:ln>
        </p:spPr>
      </p:sp>
      <p:sp>
        <p:nvSpPr>
          <p:cNvPr name="TextBox 5" id="5"/>
          <p:cNvSpPr txBox="true"/>
          <p:nvPr/>
        </p:nvSpPr>
        <p:spPr>
          <a:xfrm rot="0">
            <a:off x="419470" y="3324706"/>
            <a:ext cx="17487160" cy="5166360"/>
          </a:xfrm>
          <a:prstGeom prst="rect">
            <a:avLst/>
          </a:prstGeom>
        </p:spPr>
        <p:txBody>
          <a:bodyPr anchor="t" rtlCol="false" tIns="0" lIns="0" bIns="0" rIns="0">
            <a:spAutoFit/>
          </a:bodyPr>
          <a:lstStyle/>
          <a:p>
            <a:pPr algn="just" marL="777238" indent="-388619" lvl="1">
              <a:lnSpc>
                <a:spcPts val="5039"/>
              </a:lnSpc>
              <a:buFont typeface="Arial"/>
              <a:buChar char="•"/>
            </a:pPr>
            <a:r>
              <a:rPr lang="en-US" sz="3599">
                <a:solidFill>
                  <a:srgbClr val="000000"/>
                </a:solidFill>
                <a:latin typeface="Times New Roman"/>
                <a:ea typeface="Times New Roman"/>
                <a:cs typeface="Times New Roman"/>
                <a:sym typeface="Times New Roman"/>
              </a:rPr>
              <a:t>During community discussions, it was identified that lower caste households are not permitted to enter the temple premises, where the main filtration unit is installed.</a:t>
            </a:r>
          </a:p>
          <a:p>
            <a:pPr algn="just" marL="777238" indent="-388619" lvl="1">
              <a:lnSpc>
                <a:spcPts val="5039"/>
              </a:lnSpc>
              <a:buFont typeface="Arial"/>
              <a:buChar char="•"/>
            </a:pPr>
            <a:r>
              <a:rPr lang="en-US" sz="3599">
                <a:solidFill>
                  <a:srgbClr val="000000"/>
                </a:solidFill>
                <a:latin typeface="Times New Roman"/>
                <a:ea typeface="Times New Roman"/>
                <a:cs typeface="Times New Roman"/>
                <a:sym typeface="Times New Roman"/>
              </a:rPr>
              <a:t>To ensure equal and dignified access for all villagers, the community requested a separate water outlet to be placed outside the temple boundary.</a:t>
            </a:r>
          </a:p>
          <a:p>
            <a:pPr algn="just" marL="798828" indent="-399414" lvl="1">
              <a:lnSpc>
                <a:spcPts val="5179"/>
              </a:lnSpc>
              <a:buFont typeface="Arial"/>
              <a:buChar char="•"/>
            </a:pPr>
            <a:r>
              <a:rPr lang="en-US" sz="3699">
                <a:solidFill>
                  <a:srgbClr val="000000"/>
                </a:solidFill>
                <a:latin typeface="Times New Roman"/>
                <a:ea typeface="Times New Roman"/>
                <a:cs typeface="Times New Roman"/>
                <a:sym typeface="Times New Roman"/>
              </a:rPr>
              <a:t>In response, the system was designed with a dual-tap arrangement - one tap located inside the temple compound and another outside, both directly connected to the same filtration unit.</a:t>
            </a:r>
          </a:p>
          <a:p>
            <a:pPr algn="just">
              <a:lnSpc>
                <a:spcPts val="5039"/>
              </a:lnSpc>
            </a:pPr>
          </a:p>
        </p:txBody>
      </p:sp>
      <p:sp>
        <p:nvSpPr>
          <p:cNvPr name="Freeform 6" id="6"/>
          <p:cNvSpPr/>
          <p:nvPr/>
        </p:nvSpPr>
        <p:spPr>
          <a:xfrm flipH="false" flipV="false" rot="0">
            <a:off x="0" y="9258300"/>
            <a:ext cx="18288000" cy="1011582"/>
          </a:xfrm>
          <a:custGeom>
            <a:avLst/>
            <a:gdLst/>
            <a:ahLst/>
            <a:cxnLst/>
            <a:rect r="r" b="b" t="t" l="l"/>
            <a:pathLst>
              <a:path h="1011582" w="18288000">
                <a:moveTo>
                  <a:pt x="0" y="0"/>
                </a:moveTo>
                <a:lnTo>
                  <a:pt x="18288000" y="0"/>
                </a:lnTo>
                <a:lnTo>
                  <a:pt x="18288000" y="1011582"/>
                </a:lnTo>
                <a:lnTo>
                  <a:pt x="0" y="1011582"/>
                </a:lnTo>
                <a:lnTo>
                  <a:pt x="0" y="0"/>
                </a:lnTo>
                <a:close/>
              </a:path>
            </a:pathLst>
          </a:custGeom>
          <a:blipFill>
            <a:blip r:embed="rId4"/>
            <a:stretch>
              <a:fillRect l="-20856" t="0" r="-752" b="-1680"/>
            </a:stretch>
          </a:blipFill>
        </p:spPr>
      </p:sp>
      <p:sp>
        <p:nvSpPr>
          <p:cNvPr name="TextBox 7" id="7"/>
          <p:cNvSpPr txBox="true"/>
          <p:nvPr/>
        </p:nvSpPr>
        <p:spPr>
          <a:xfrm rot="0">
            <a:off x="4302937" y="857250"/>
            <a:ext cx="7546082" cy="1264920"/>
          </a:xfrm>
          <a:prstGeom prst="rect">
            <a:avLst/>
          </a:prstGeom>
        </p:spPr>
        <p:txBody>
          <a:bodyPr anchor="t" rtlCol="false" tIns="0" lIns="0" bIns="0" rIns="0">
            <a:spAutoFit/>
          </a:bodyPr>
          <a:lstStyle/>
          <a:p>
            <a:pPr algn="ctr">
              <a:lnSpc>
                <a:spcPts val="10080"/>
              </a:lnSpc>
              <a:spcBef>
                <a:spcPct val="0"/>
              </a:spcBef>
            </a:pPr>
            <a:r>
              <a:rPr lang="en-US" b="true" sz="7200">
                <a:solidFill>
                  <a:srgbClr val="000000"/>
                </a:solidFill>
                <a:latin typeface="Times New Roman Bold"/>
                <a:ea typeface="Times New Roman Bold"/>
                <a:cs typeface="Times New Roman Bold"/>
                <a:sym typeface="Times New Roman Bold"/>
              </a:rPr>
              <a:t>Co-design Findings</a:t>
            </a:r>
          </a:p>
        </p:txBody>
      </p:sp>
      <p:sp>
        <p:nvSpPr>
          <p:cNvPr name="TextBox 8" id="8"/>
          <p:cNvSpPr txBox="true"/>
          <p:nvPr/>
        </p:nvSpPr>
        <p:spPr>
          <a:xfrm rot="0">
            <a:off x="731401" y="9365816"/>
            <a:ext cx="152400" cy="228600"/>
          </a:xfrm>
          <a:prstGeom prst="rect">
            <a:avLst/>
          </a:prstGeom>
        </p:spPr>
        <p:txBody>
          <a:bodyPr anchor="t" rtlCol="false" tIns="0" lIns="0" bIns="0" rIns="0" wrap="none">
            <a:spAutoFit/>
          </a:bodyPr>
          <a:lstStyle/>
          <a:p>
            <a:pPr algn="ctr">
              <a:lnSpc>
                <a:spcPts val="5970"/>
              </a:lnSpc>
              <a:spcBef>
                <a:spcPct val="0"/>
              </a:spcBef>
            </a:pPr>
            <a:r>
              <a:rPr lang="en-US" sz="4264">
                <a:solidFill>
                  <a:srgbClr val="FFFFFF"/>
                </a:solidFill>
                <a:latin typeface="Canva Sans"/>
                <a:ea typeface="Canva Sans"/>
                <a:cs typeface="Canva Sans"/>
                <a:sym typeface="Canva Sans"/>
              </a:rPr>
              <a:t>20</a:t>
            </a:r>
          </a:p>
        </p:txBody>
      </p:sp>
      <p:sp>
        <p:nvSpPr>
          <p:cNvPr name="TextBox 9" id="9"/>
          <p:cNvSpPr txBox="true"/>
          <p:nvPr/>
        </p:nvSpPr>
        <p:spPr>
          <a:xfrm rot="0">
            <a:off x="1019681" y="2497936"/>
            <a:ext cx="5861217" cy="712470"/>
          </a:xfrm>
          <a:prstGeom prst="rect">
            <a:avLst/>
          </a:prstGeom>
        </p:spPr>
        <p:txBody>
          <a:bodyPr anchor="t" rtlCol="false" tIns="0" lIns="0" bIns="0" rIns="0">
            <a:spAutoFit/>
          </a:bodyPr>
          <a:lstStyle/>
          <a:p>
            <a:pPr algn="ctr" marL="906780" indent="-453390" lvl="1">
              <a:lnSpc>
                <a:spcPts val="5880"/>
              </a:lnSpc>
              <a:buFont typeface="Arial"/>
              <a:buChar char="•"/>
            </a:pPr>
            <a:r>
              <a:rPr lang="en-US" b="true" sz="4200">
                <a:solidFill>
                  <a:srgbClr val="000000"/>
                </a:solidFill>
                <a:latin typeface="Canva Sans Bold"/>
                <a:ea typeface="Canva Sans Bold"/>
                <a:cs typeface="Canva Sans Bold"/>
                <a:sym typeface="Canva Sans Bold"/>
              </a:rPr>
              <a:t>Inclusive Access</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81628" y="282798"/>
            <a:ext cx="1470709" cy="1792426"/>
          </a:xfrm>
          <a:custGeom>
            <a:avLst/>
            <a:gdLst/>
            <a:ahLst/>
            <a:cxnLst/>
            <a:rect r="r" b="b" t="t" l="l"/>
            <a:pathLst>
              <a:path h="1792426" w="1470709">
                <a:moveTo>
                  <a:pt x="0" y="0"/>
                </a:moveTo>
                <a:lnTo>
                  <a:pt x="1470708" y="0"/>
                </a:lnTo>
                <a:lnTo>
                  <a:pt x="1470708" y="1792426"/>
                </a:lnTo>
                <a:lnTo>
                  <a:pt x="0" y="1792426"/>
                </a:lnTo>
                <a:lnTo>
                  <a:pt x="0" y="0"/>
                </a:lnTo>
                <a:close/>
              </a:path>
            </a:pathLst>
          </a:custGeom>
          <a:blipFill>
            <a:blip r:embed="rId2"/>
            <a:stretch>
              <a:fillRect l="0" t="0" r="0" b="0"/>
            </a:stretch>
          </a:blipFill>
        </p:spPr>
      </p:sp>
      <p:sp>
        <p:nvSpPr>
          <p:cNvPr name="Freeform 3" id="3"/>
          <p:cNvSpPr/>
          <p:nvPr/>
        </p:nvSpPr>
        <p:spPr>
          <a:xfrm flipH="false" flipV="false" rot="0">
            <a:off x="1028700" y="2432119"/>
            <a:ext cx="16230600" cy="142018"/>
          </a:xfrm>
          <a:custGeom>
            <a:avLst/>
            <a:gdLst/>
            <a:ahLst/>
            <a:cxnLst/>
            <a:rect r="r" b="b" t="t" l="l"/>
            <a:pathLst>
              <a:path h="142018" w="16230600">
                <a:moveTo>
                  <a:pt x="0" y="0"/>
                </a:moveTo>
                <a:lnTo>
                  <a:pt x="16230600" y="0"/>
                </a:lnTo>
                <a:lnTo>
                  <a:pt x="16230600" y="142017"/>
                </a:lnTo>
                <a:lnTo>
                  <a:pt x="0" y="142017"/>
                </a:lnTo>
                <a:lnTo>
                  <a:pt x="0" y="0"/>
                </a:lnTo>
                <a:close/>
              </a:path>
            </a:pathLst>
          </a:custGeom>
          <a:blipFill>
            <a:blip r:embed="rId3"/>
            <a:stretch>
              <a:fillRect l="0" t="0" r="0" b="0"/>
            </a:stretch>
          </a:blipFill>
        </p:spPr>
      </p:sp>
      <p:sp>
        <p:nvSpPr>
          <p:cNvPr name="AutoShape 4" id="4"/>
          <p:cNvSpPr/>
          <p:nvPr/>
        </p:nvSpPr>
        <p:spPr>
          <a:xfrm>
            <a:off x="3469976" y="282798"/>
            <a:ext cx="0" cy="2084030"/>
          </a:xfrm>
          <a:prstGeom prst="line">
            <a:avLst/>
          </a:prstGeom>
          <a:ln cap="flat" w="38100">
            <a:solidFill>
              <a:srgbClr val="2E6417"/>
            </a:solidFill>
            <a:prstDash val="solid"/>
            <a:headEnd type="none" len="sm" w="sm"/>
            <a:tailEnd type="none" len="sm" w="sm"/>
          </a:ln>
        </p:spPr>
      </p:sp>
      <p:sp>
        <p:nvSpPr>
          <p:cNvPr name="Freeform 5" id="5"/>
          <p:cNvSpPr/>
          <p:nvPr/>
        </p:nvSpPr>
        <p:spPr>
          <a:xfrm flipH="false" flipV="false" rot="0">
            <a:off x="9691094" y="3041815"/>
            <a:ext cx="6970133" cy="5332152"/>
          </a:xfrm>
          <a:custGeom>
            <a:avLst/>
            <a:gdLst/>
            <a:ahLst/>
            <a:cxnLst/>
            <a:rect r="r" b="b" t="t" l="l"/>
            <a:pathLst>
              <a:path h="5332152" w="6970133">
                <a:moveTo>
                  <a:pt x="0" y="0"/>
                </a:moveTo>
                <a:lnTo>
                  <a:pt x="6970133" y="0"/>
                </a:lnTo>
                <a:lnTo>
                  <a:pt x="6970133" y="5332152"/>
                </a:lnTo>
                <a:lnTo>
                  <a:pt x="0" y="5332152"/>
                </a:lnTo>
                <a:lnTo>
                  <a:pt x="0" y="0"/>
                </a:lnTo>
                <a:close/>
              </a:path>
            </a:pathLst>
          </a:custGeom>
          <a:blipFill>
            <a:blip r:embed="rId4"/>
            <a:stretch>
              <a:fillRect l="0" t="0" r="0" b="0"/>
            </a:stretch>
          </a:blipFill>
        </p:spPr>
      </p:sp>
      <p:sp>
        <p:nvSpPr>
          <p:cNvPr name="Freeform 6" id="6"/>
          <p:cNvSpPr/>
          <p:nvPr/>
        </p:nvSpPr>
        <p:spPr>
          <a:xfrm flipH="false" flipV="false" rot="0">
            <a:off x="1988723" y="3041815"/>
            <a:ext cx="3181008" cy="5332152"/>
          </a:xfrm>
          <a:custGeom>
            <a:avLst/>
            <a:gdLst/>
            <a:ahLst/>
            <a:cxnLst/>
            <a:rect r="r" b="b" t="t" l="l"/>
            <a:pathLst>
              <a:path h="5332152" w="3181008">
                <a:moveTo>
                  <a:pt x="0" y="0"/>
                </a:moveTo>
                <a:lnTo>
                  <a:pt x="3181008" y="0"/>
                </a:lnTo>
                <a:lnTo>
                  <a:pt x="3181008" y="5332152"/>
                </a:lnTo>
                <a:lnTo>
                  <a:pt x="0" y="5332152"/>
                </a:lnTo>
                <a:lnTo>
                  <a:pt x="0" y="0"/>
                </a:lnTo>
                <a:close/>
              </a:path>
            </a:pathLst>
          </a:custGeom>
          <a:blipFill>
            <a:blip r:embed="rId5"/>
            <a:stretch>
              <a:fillRect l="0" t="-423" r="-617" b="-6289"/>
            </a:stretch>
          </a:blipFill>
        </p:spPr>
      </p:sp>
      <p:sp>
        <p:nvSpPr>
          <p:cNvPr name="Freeform 7" id="7"/>
          <p:cNvSpPr/>
          <p:nvPr/>
        </p:nvSpPr>
        <p:spPr>
          <a:xfrm flipH="false" flipV="false" rot="0">
            <a:off x="5169731" y="3041815"/>
            <a:ext cx="3187174" cy="5332152"/>
          </a:xfrm>
          <a:custGeom>
            <a:avLst/>
            <a:gdLst/>
            <a:ahLst/>
            <a:cxnLst/>
            <a:rect r="r" b="b" t="t" l="l"/>
            <a:pathLst>
              <a:path h="5332152" w="3187174">
                <a:moveTo>
                  <a:pt x="0" y="0"/>
                </a:moveTo>
                <a:lnTo>
                  <a:pt x="3187174" y="0"/>
                </a:lnTo>
                <a:lnTo>
                  <a:pt x="3187174" y="5332152"/>
                </a:lnTo>
                <a:lnTo>
                  <a:pt x="0" y="5332152"/>
                </a:lnTo>
                <a:lnTo>
                  <a:pt x="0" y="0"/>
                </a:lnTo>
                <a:close/>
              </a:path>
            </a:pathLst>
          </a:custGeom>
          <a:blipFill>
            <a:blip r:embed="rId6"/>
            <a:stretch>
              <a:fillRect l="0" t="0" r="0" b="-6262"/>
            </a:stretch>
          </a:blipFill>
        </p:spPr>
      </p:sp>
      <p:sp>
        <p:nvSpPr>
          <p:cNvPr name="TextBox 8" id="8"/>
          <p:cNvSpPr txBox="true"/>
          <p:nvPr/>
        </p:nvSpPr>
        <p:spPr>
          <a:xfrm rot="0">
            <a:off x="3710714" y="8372336"/>
            <a:ext cx="2918035" cy="560653"/>
          </a:xfrm>
          <a:prstGeom prst="rect">
            <a:avLst/>
          </a:prstGeom>
        </p:spPr>
        <p:txBody>
          <a:bodyPr anchor="t" rtlCol="false" tIns="0" lIns="0" bIns="0" rIns="0">
            <a:spAutoFit/>
          </a:bodyPr>
          <a:lstStyle/>
          <a:p>
            <a:pPr algn="ctr">
              <a:lnSpc>
                <a:spcPts val="4413"/>
              </a:lnSpc>
              <a:spcBef>
                <a:spcPct val="0"/>
              </a:spcBef>
            </a:pPr>
            <a:r>
              <a:rPr lang="en-US" b="true" sz="3152">
                <a:solidFill>
                  <a:srgbClr val="000000"/>
                </a:solidFill>
                <a:latin typeface="Times New Roman Bold"/>
                <a:ea typeface="Times New Roman Bold"/>
                <a:cs typeface="Times New Roman Bold"/>
                <a:sym typeface="Times New Roman Bold"/>
              </a:rPr>
              <a:t>Group Sketching</a:t>
            </a:r>
          </a:p>
        </p:txBody>
      </p:sp>
      <p:sp>
        <p:nvSpPr>
          <p:cNvPr name="TextBox 9" id="9"/>
          <p:cNvSpPr txBox="true"/>
          <p:nvPr/>
        </p:nvSpPr>
        <p:spPr>
          <a:xfrm rot="0">
            <a:off x="12057359" y="8390533"/>
            <a:ext cx="2168795" cy="560653"/>
          </a:xfrm>
          <a:prstGeom prst="rect">
            <a:avLst/>
          </a:prstGeom>
        </p:spPr>
        <p:txBody>
          <a:bodyPr anchor="t" rtlCol="false" tIns="0" lIns="0" bIns="0" rIns="0">
            <a:spAutoFit/>
          </a:bodyPr>
          <a:lstStyle/>
          <a:p>
            <a:pPr algn="ctr">
              <a:lnSpc>
                <a:spcPts val="4413"/>
              </a:lnSpc>
              <a:spcBef>
                <a:spcPct val="0"/>
              </a:spcBef>
            </a:pPr>
            <a:r>
              <a:rPr lang="en-US" b="true" sz="3152">
                <a:solidFill>
                  <a:srgbClr val="000000"/>
                </a:solidFill>
                <a:latin typeface="Times New Roman Bold"/>
                <a:ea typeface="Times New Roman Bold"/>
                <a:cs typeface="Times New Roman Bold"/>
                <a:sym typeface="Times New Roman Bold"/>
              </a:rPr>
              <a:t>Design Ideas</a:t>
            </a:r>
          </a:p>
        </p:txBody>
      </p:sp>
      <p:sp>
        <p:nvSpPr>
          <p:cNvPr name="TextBox 10" id="10"/>
          <p:cNvSpPr txBox="true"/>
          <p:nvPr/>
        </p:nvSpPr>
        <p:spPr>
          <a:xfrm rot="0">
            <a:off x="3948057" y="1036136"/>
            <a:ext cx="5361384" cy="991235"/>
          </a:xfrm>
          <a:prstGeom prst="rect">
            <a:avLst/>
          </a:prstGeom>
        </p:spPr>
        <p:txBody>
          <a:bodyPr anchor="t" rtlCol="false" tIns="0" lIns="0" bIns="0" rIns="0">
            <a:spAutoFit/>
          </a:bodyPr>
          <a:lstStyle/>
          <a:p>
            <a:pPr algn="ctr">
              <a:lnSpc>
                <a:spcPts val="7839"/>
              </a:lnSpc>
              <a:spcBef>
                <a:spcPct val="0"/>
              </a:spcBef>
            </a:pPr>
            <a:r>
              <a:rPr lang="en-US" b="true" sz="5599">
                <a:solidFill>
                  <a:srgbClr val="000000"/>
                </a:solidFill>
                <a:latin typeface="Times New Roman Bold"/>
                <a:ea typeface="Times New Roman Bold"/>
                <a:cs typeface="Times New Roman Bold"/>
                <a:sym typeface="Times New Roman Bold"/>
              </a:rPr>
              <a:t>Group</a:t>
            </a:r>
            <a:r>
              <a:rPr lang="en-US" b="true" sz="5599">
                <a:solidFill>
                  <a:srgbClr val="000000"/>
                </a:solidFill>
                <a:latin typeface="Times New Roman Bold"/>
                <a:ea typeface="Times New Roman Bold"/>
                <a:cs typeface="Times New Roman Bold"/>
                <a:sym typeface="Times New Roman Bold"/>
              </a:rPr>
              <a:t> Sketching </a:t>
            </a:r>
          </a:p>
        </p:txBody>
      </p:sp>
      <p:sp>
        <p:nvSpPr>
          <p:cNvPr name="Freeform 11" id="11"/>
          <p:cNvSpPr/>
          <p:nvPr/>
        </p:nvSpPr>
        <p:spPr>
          <a:xfrm flipH="false" flipV="false" rot="0">
            <a:off x="0" y="9258300"/>
            <a:ext cx="18288000" cy="1011582"/>
          </a:xfrm>
          <a:custGeom>
            <a:avLst/>
            <a:gdLst/>
            <a:ahLst/>
            <a:cxnLst/>
            <a:rect r="r" b="b" t="t" l="l"/>
            <a:pathLst>
              <a:path h="1011582" w="18288000">
                <a:moveTo>
                  <a:pt x="0" y="0"/>
                </a:moveTo>
                <a:lnTo>
                  <a:pt x="18288000" y="0"/>
                </a:lnTo>
                <a:lnTo>
                  <a:pt x="18288000" y="1011582"/>
                </a:lnTo>
                <a:lnTo>
                  <a:pt x="0" y="1011582"/>
                </a:lnTo>
                <a:lnTo>
                  <a:pt x="0" y="0"/>
                </a:lnTo>
                <a:close/>
              </a:path>
            </a:pathLst>
          </a:custGeom>
          <a:blipFill>
            <a:blip r:embed="rId7"/>
            <a:stretch>
              <a:fillRect l="-20856" t="0" r="-752" b="-1680"/>
            </a:stretch>
          </a:blipFill>
        </p:spPr>
      </p:sp>
      <p:sp>
        <p:nvSpPr>
          <p:cNvPr name="TextBox 12" id="12"/>
          <p:cNvSpPr txBox="true"/>
          <p:nvPr/>
        </p:nvSpPr>
        <p:spPr>
          <a:xfrm rot="0">
            <a:off x="731401" y="9365816"/>
            <a:ext cx="152400" cy="228600"/>
          </a:xfrm>
          <a:prstGeom prst="rect">
            <a:avLst/>
          </a:prstGeom>
        </p:spPr>
        <p:txBody>
          <a:bodyPr anchor="t" rtlCol="false" tIns="0" lIns="0" bIns="0" rIns="0" wrap="none">
            <a:spAutoFit/>
          </a:bodyPr>
          <a:lstStyle/>
          <a:p>
            <a:pPr algn="ctr">
              <a:lnSpc>
                <a:spcPts val="5970"/>
              </a:lnSpc>
              <a:spcBef>
                <a:spcPct val="0"/>
              </a:spcBef>
            </a:pPr>
            <a:r>
              <a:rPr lang="en-US" sz="4264">
                <a:solidFill>
                  <a:srgbClr val="FFFFFF"/>
                </a:solidFill>
                <a:latin typeface="Canva Sans"/>
                <a:ea typeface="Canva Sans"/>
                <a:cs typeface="Canva Sans"/>
                <a:sym typeface="Canva Sans"/>
              </a:rPr>
              <a:t>21</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81628" y="282798"/>
            <a:ext cx="1470709" cy="1792426"/>
          </a:xfrm>
          <a:custGeom>
            <a:avLst/>
            <a:gdLst/>
            <a:ahLst/>
            <a:cxnLst/>
            <a:rect r="r" b="b" t="t" l="l"/>
            <a:pathLst>
              <a:path h="1792426" w="1470709">
                <a:moveTo>
                  <a:pt x="0" y="0"/>
                </a:moveTo>
                <a:lnTo>
                  <a:pt x="1470708" y="0"/>
                </a:lnTo>
                <a:lnTo>
                  <a:pt x="1470708" y="1792426"/>
                </a:lnTo>
                <a:lnTo>
                  <a:pt x="0" y="1792426"/>
                </a:lnTo>
                <a:lnTo>
                  <a:pt x="0" y="0"/>
                </a:lnTo>
                <a:close/>
              </a:path>
            </a:pathLst>
          </a:custGeom>
          <a:blipFill>
            <a:blip r:embed="rId2"/>
            <a:stretch>
              <a:fillRect l="0" t="0" r="0" b="0"/>
            </a:stretch>
          </a:blipFill>
        </p:spPr>
      </p:sp>
      <p:sp>
        <p:nvSpPr>
          <p:cNvPr name="Freeform 3" id="3"/>
          <p:cNvSpPr/>
          <p:nvPr/>
        </p:nvSpPr>
        <p:spPr>
          <a:xfrm flipH="false" flipV="false" rot="0">
            <a:off x="1028700" y="2432119"/>
            <a:ext cx="16230600" cy="142018"/>
          </a:xfrm>
          <a:custGeom>
            <a:avLst/>
            <a:gdLst/>
            <a:ahLst/>
            <a:cxnLst/>
            <a:rect r="r" b="b" t="t" l="l"/>
            <a:pathLst>
              <a:path h="142018" w="16230600">
                <a:moveTo>
                  <a:pt x="0" y="0"/>
                </a:moveTo>
                <a:lnTo>
                  <a:pt x="16230600" y="0"/>
                </a:lnTo>
                <a:lnTo>
                  <a:pt x="16230600" y="142017"/>
                </a:lnTo>
                <a:lnTo>
                  <a:pt x="0" y="142017"/>
                </a:lnTo>
                <a:lnTo>
                  <a:pt x="0" y="0"/>
                </a:lnTo>
                <a:close/>
              </a:path>
            </a:pathLst>
          </a:custGeom>
          <a:blipFill>
            <a:blip r:embed="rId3"/>
            <a:stretch>
              <a:fillRect l="0" t="0" r="0" b="0"/>
            </a:stretch>
          </a:blipFill>
        </p:spPr>
      </p:sp>
      <p:sp>
        <p:nvSpPr>
          <p:cNvPr name="AutoShape 4" id="4"/>
          <p:cNvSpPr/>
          <p:nvPr/>
        </p:nvSpPr>
        <p:spPr>
          <a:xfrm>
            <a:off x="3469976" y="282798"/>
            <a:ext cx="0" cy="2084030"/>
          </a:xfrm>
          <a:prstGeom prst="line">
            <a:avLst/>
          </a:prstGeom>
          <a:ln cap="flat" w="38100">
            <a:solidFill>
              <a:srgbClr val="2E6417"/>
            </a:solidFill>
            <a:prstDash val="solid"/>
            <a:headEnd type="none" len="sm" w="sm"/>
            <a:tailEnd type="none" len="sm" w="sm"/>
          </a:ln>
        </p:spPr>
      </p:sp>
      <p:sp>
        <p:nvSpPr>
          <p:cNvPr name="Freeform 5" id="5"/>
          <p:cNvSpPr/>
          <p:nvPr/>
        </p:nvSpPr>
        <p:spPr>
          <a:xfrm flipH="false" flipV="false" rot="0">
            <a:off x="2060116" y="3607916"/>
            <a:ext cx="4748075" cy="4407614"/>
          </a:xfrm>
          <a:custGeom>
            <a:avLst/>
            <a:gdLst/>
            <a:ahLst/>
            <a:cxnLst/>
            <a:rect r="r" b="b" t="t" l="l"/>
            <a:pathLst>
              <a:path h="4407614" w="4748075">
                <a:moveTo>
                  <a:pt x="0" y="0"/>
                </a:moveTo>
                <a:lnTo>
                  <a:pt x="4748075" y="0"/>
                </a:lnTo>
                <a:lnTo>
                  <a:pt x="4748075" y="4407615"/>
                </a:lnTo>
                <a:lnTo>
                  <a:pt x="0" y="4407615"/>
                </a:lnTo>
                <a:lnTo>
                  <a:pt x="0" y="0"/>
                </a:lnTo>
                <a:close/>
              </a:path>
            </a:pathLst>
          </a:custGeom>
          <a:blipFill>
            <a:blip r:embed="rId4"/>
            <a:stretch>
              <a:fillRect l="0" t="-5487" r="0" b="-2236"/>
            </a:stretch>
          </a:blipFill>
        </p:spPr>
      </p:sp>
      <p:sp>
        <p:nvSpPr>
          <p:cNvPr name="Freeform 6" id="6"/>
          <p:cNvSpPr/>
          <p:nvPr/>
        </p:nvSpPr>
        <p:spPr>
          <a:xfrm flipH="false" flipV="false" rot="0">
            <a:off x="12511225" y="3686174"/>
            <a:ext cx="4748075" cy="4407614"/>
          </a:xfrm>
          <a:custGeom>
            <a:avLst/>
            <a:gdLst/>
            <a:ahLst/>
            <a:cxnLst/>
            <a:rect r="r" b="b" t="t" l="l"/>
            <a:pathLst>
              <a:path h="4407614" w="4748075">
                <a:moveTo>
                  <a:pt x="0" y="0"/>
                </a:moveTo>
                <a:lnTo>
                  <a:pt x="4748075" y="0"/>
                </a:lnTo>
                <a:lnTo>
                  <a:pt x="4748075" y="4407614"/>
                </a:lnTo>
                <a:lnTo>
                  <a:pt x="0" y="4407614"/>
                </a:lnTo>
                <a:lnTo>
                  <a:pt x="0" y="0"/>
                </a:lnTo>
                <a:close/>
              </a:path>
            </a:pathLst>
          </a:custGeom>
          <a:blipFill>
            <a:blip r:embed="rId5"/>
            <a:stretch>
              <a:fillRect l="0" t="-6540" r="0" b="-1183"/>
            </a:stretch>
          </a:blipFill>
        </p:spPr>
      </p:sp>
      <p:sp>
        <p:nvSpPr>
          <p:cNvPr name="Freeform 7" id="7"/>
          <p:cNvSpPr/>
          <p:nvPr/>
        </p:nvSpPr>
        <p:spPr>
          <a:xfrm flipH="false" flipV="false" rot="0">
            <a:off x="0" y="9325758"/>
            <a:ext cx="18288000" cy="929161"/>
          </a:xfrm>
          <a:custGeom>
            <a:avLst/>
            <a:gdLst/>
            <a:ahLst/>
            <a:cxnLst/>
            <a:rect r="r" b="b" t="t" l="l"/>
            <a:pathLst>
              <a:path h="929161" w="18288000">
                <a:moveTo>
                  <a:pt x="0" y="0"/>
                </a:moveTo>
                <a:lnTo>
                  <a:pt x="18288000" y="0"/>
                </a:lnTo>
                <a:lnTo>
                  <a:pt x="18288000" y="929161"/>
                </a:lnTo>
                <a:lnTo>
                  <a:pt x="0" y="929161"/>
                </a:lnTo>
                <a:lnTo>
                  <a:pt x="0" y="0"/>
                </a:lnTo>
                <a:close/>
              </a:path>
            </a:pathLst>
          </a:custGeom>
          <a:blipFill>
            <a:blip r:embed="rId6"/>
            <a:stretch>
              <a:fillRect l="-20700" t="-4028" r="0" b="-5845"/>
            </a:stretch>
          </a:blipFill>
        </p:spPr>
      </p:sp>
      <p:sp>
        <p:nvSpPr>
          <p:cNvPr name="Freeform 8" id="8"/>
          <p:cNvSpPr/>
          <p:nvPr/>
        </p:nvSpPr>
        <p:spPr>
          <a:xfrm flipH="false" flipV="false" rot="0">
            <a:off x="7432502" y="4061612"/>
            <a:ext cx="5040623" cy="3656739"/>
          </a:xfrm>
          <a:custGeom>
            <a:avLst/>
            <a:gdLst/>
            <a:ahLst/>
            <a:cxnLst/>
            <a:rect r="r" b="b" t="t" l="l"/>
            <a:pathLst>
              <a:path h="3656739" w="5040623">
                <a:moveTo>
                  <a:pt x="0" y="0"/>
                </a:moveTo>
                <a:lnTo>
                  <a:pt x="5040623" y="0"/>
                </a:lnTo>
                <a:lnTo>
                  <a:pt x="5040623" y="3656738"/>
                </a:lnTo>
                <a:lnTo>
                  <a:pt x="0" y="3656738"/>
                </a:lnTo>
                <a:lnTo>
                  <a:pt x="0" y="0"/>
                </a:lnTo>
                <a:close/>
              </a:path>
            </a:pathLst>
          </a:custGeom>
          <a:blipFill>
            <a:blip r:embed="rId7"/>
            <a:stretch>
              <a:fillRect l="-9902" t="-649" r="-6129" b="-1299"/>
            </a:stretch>
          </a:blipFill>
        </p:spPr>
      </p:sp>
      <p:sp>
        <p:nvSpPr>
          <p:cNvPr name="TextBox 9" id="9"/>
          <p:cNvSpPr txBox="true"/>
          <p:nvPr/>
        </p:nvSpPr>
        <p:spPr>
          <a:xfrm rot="0">
            <a:off x="1209778" y="2497936"/>
            <a:ext cx="17078222" cy="757555"/>
          </a:xfrm>
          <a:prstGeom prst="rect">
            <a:avLst/>
          </a:prstGeom>
        </p:spPr>
        <p:txBody>
          <a:bodyPr anchor="t" rtlCol="false" tIns="0" lIns="0" bIns="0" rIns="0">
            <a:spAutoFit/>
          </a:bodyPr>
          <a:lstStyle/>
          <a:p>
            <a:pPr algn="l" marL="928369" indent="-464185" lvl="1">
              <a:lnSpc>
                <a:spcPts val="6019"/>
              </a:lnSpc>
              <a:buFont typeface="Arial"/>
              <a:buChar char="•"/>
            </a:pPr>
            <a:r>
              <a:rPr lang="en-US" sz="4299">
                <a:solidFill>
                  <a:srgbClr val="000000"/>
                </a:solidFill>
                <a:latin typeface="Times New Roman"/>
                <a:ea typeface="Times New Roman"/>
                <a:cs typeface="Times New Roman"/>
                <a:sym typeface="Times New Roman"/>
              </a:rPr>
              <a:t>D</a:t>
            </a:r>
            <a:r>
              <a:rPr lang="en-US" sz="4299">
                <a:solidFill>
                  <a:srgbClr val="000000"/>
                </a:solidFill>
                <a:latin typeface="Times New Roman"/>
                <a:ea typeface="Times New Roman"/>
                <a:cs typeface="Times New Roman"/>
                <a:sym typeface="Times New Roman"/>
              </a:rPr>
              <a:t>esign posters created from group sketching inputs.  </a:t>
            </a:r>
          </a:p>
        </p:txBody>
      </p:sp>
      <p:sp>
        <p:nvSpPr>
          <p:cNvPr name="TextBox 10" id="10"/>
          <p:cNvSpPr txBox="true"/>
          <p:nvPr/>
        </p:nvSpPr>
        <p:spPr>
          <a:xfrm rot="0">
            <a:off x="10900368" y="8167931"/>
            <a:ext cx="3221712" cy="566301"/>
          </a:xfrm>
          <a:prstGeom prst="rect">
            <a:avLst/>
          </a:prstGeom>
        </p:spPr>
        <p:txBody>
          <a:bodyPr anchor="t" rtlCol="false" tIns="0" lIns="0" bIns="0" rIns="0">
            <a:spAutoFit/>
          </a:bodyPr>
          <a:lstStyle/>
          <a:p>
            <a:pPr algn="ctr">
              <a:lnSpc>
                <a:spcPts val="4486"/>
              </a:lnSpc>
              <a:spcBef>
                <a:spcPct val="0"/>
              </a:spcBef>
            </a:pPr>
            <a:r>
              <a:rPr lang="en-US" b="true" sz="3204">
                <a:solidFill>
                  <a:srgbClr val="000000"/>
                </a:solidFill>
                <a:latin typeface="Times New Roman Bold"/>
                <a:ea typeface="Times New Roman Bold"/>
                <a:cs typeface="Times New Roman Bold"/>
                <a:sym typeface="Times New Roman Bold"/>
              </a:rPr>
              <a:t>Upper-caste group</a:t>
            </a:r>
          </a:p>
        </p:txBody>
      </p:sp>
      <p:sp>
        <p:nvSpPr>
          <p:cNvPr name="TextBox 11" id="11"/>
          <p:cNvSpPr txBox="true"/>
          <p:nvPr/>
        </p:nvSpPr>
        <p:spPr>
          <a:xfrm rot="0">
            <a:off x="2812165" y="8167931"/>
            <a:ext cx="3243977" cy="566301"/>
          </a:xfrm>
          <a:prstGeom prst="rect">
            <a:avLst/>
          </a:prstGeom>
        </p:spPr>
        <p:txBody>
          <a:bodyPr anchor="t" rtlCol="false" tIns="0" lIns="0" bIns="0" rIns="0">
            <a:spAutoFit/>
          </a:bodyPr>
          <a:lstStyle/>
          <a:p>
            <a:pPr algn="ctr">
              <a:lnSpc>
                <a:spcPts val="4486"/>
              </a:lnSpc>
              <a:spcBef>
                <a:spcPct val="0"/>
              </a:spcBef>
            </a:pPr>
            <a:r>
              <a:rPr lang="en-US" b="true" sz="3204">
                <a:solidFill>
                  <a:srgbClr val="000000"/>
                </a:solidFill>
                <a:latin typeface="Times New Roman Bold"/>
                <a:ea typeface="Times New Roman Bold"/>
                <a:cs typeface="Times New Roman Bold"/>
                <a:sym typeface="Times New Roman Bold"/>
              </a:rPr>
              <a:t>Lower-caste group</a:t>
            </a:r>
          </a:p>
        </p:txBody>
      </p:sp>
      <p:sp>
        <p:nvSpPr>
          <p:cNvPr name="TextBox 12" id="12"/>
          <p:cNvSpPr txBox="true"/>
          <p:nvPr/>
        </p:nvSpPr>
        <p:spPr>
          <a:xfrm rot="0">
            <a:off x="3984326" y="1083989"/>
            <a:ext cx="5361384" cy="991235"/>
          </a:xfrm>
          <a:prstGeom prst="rect">
            <a:avLst/>
          </a:prstGeom>
        </p:spPr>
        <p:txBody>
          <a:bodyPr anchor="t" rtlCol="false" tIns="0" lIns="0" bIns="0" rIns="0">
            <a:spAutoFit/>
          </a:bodyPr>
          <a:lstStyle/>
          <a:p>
            <a:pPr algn="ctr">
              <a:lnSpc>
                <a:spcPts val="7839"/>
              </a:lnSpc>
              <a:spcBef>
                <a:spcPct val="0"/>
              </a:spcBef>
            </a:pPr>
            <a:r>
              <a:rPr lang="en-US" b="true" sz="5599">
                <a:solidFill>
                  <a:srgbClr val="000000"/>
                </a:solidFill>
                <a:latin typeface="Times New Roman Bold"/>
                <a:ea typeface="Times New Roman Bold"/>
                <a:cs typeface="Times New Roman Bold"/>
                <a:sym typeface="Times New Roman Bold"/>
              </a:rPr>
              <a:t>Group</a:t>
            </a:r>
            <a:r>
              <a:rPr lang="en-US" b="true" sz="5599">
                <a:solidFill>
                  <a:srgbClr val="000000"/>
                </a:solidFill>
                <a:latin typeface="Times New Roman Bold"/>
                <a:ea typeface="Times New Roman Bold"/>
                <a:cs typeface="Times New Roman Bold"/>
                <a:sym typeface="Times New Roman Bold"/>
              </a:rPr>
              <a:t> Sketching </a:t>
            </a:r>
          </a:p>
        </p:txBody>
      </p:sp>
      <p:sp>
        <p:nvSpPr>
          <p:cNvPr name="TextBox 13" id="13"/>
          <p:cNvSpPr txBox="true"/>
          <p:nvPr/>
        </p:nvSpPr>
        <p:spPr>
          <a:xfrm rot="0">
            <a:off x="731401" y="9365816"/>
            <a:ext cx="152400" cy="228600"/>
          </a:xfrm>
          <a:prstGeom prst="rect">
            <a:avLst/>
          </a:prstGeom>
        </p:spPr>
        <p:txBody>
          <a:bodyPr anchor="t" rtlCol="false" tIns="0" lIns="0" bIns="0" rIns="0" wrap="none">
            <a:spAutoFit/>
          </a:bodyPr>
          <a:lstStyle/>
          <a:p>
            <a:pPr algn="ctr">
              <a:lnSpc>
                <a:spcPts val="5970"/>
              </a:lnSpc>
              <a:spcBef>
                <a:spcPct val="0"/>
              </a:spcBef>
            </a:pPr>
            <a:r>
              <a:rPr lang="en-US" sz="4264">
                <a:solidFill>
                  <a:srgbClr val="FFFFFF"/>
                </a:solidFill>
                <a:latin typeface="Canva Sans"/>
                <a:ea typeface="Canva Sans"/>
                <a:cs typeface="Canva Sans"/>
                <a:sym typeface="Canva Sans"/>
              </a:rPr>
              <a:t>22</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81628" y="282798"/>
            <a:ext cx="1470709" cy="1792426"/>
          </a:xfrm>
          <a:custGeom>
            <a:avLst/>
            <a:gdLst/>
            <a:ahLst/>
            <a:cxnLst/>
            <a:rect r="r" b="b" t="t" l="l"/>
            <a:pathLst>
              <a:path h="1792426" w="1470709">
                <a:moveTo>
                  <a:pt x="0" y="0"/>
                </a:moveTo>
                <a:lnTo>
                  <a:pt x="1470708" y="0"/>
                </a:lnTo>
                <a:lnTo>
                  <a:pt x="1470708" y="1792426"/>
                </a:lnTo>
                <a:lnTo>
                  <a:pt x="0" y="1792426"/>
                </a:lnTo>
                <a:lnTo>
                  <a:pt x="0" y="0"/>
                </a:lnTo>
                <a:close/>
              </a:path>
            </a:pathLst>
          </a:custGeom>
          <a:blipFill>
            <a:blip r:embed="rId2"/>
            <a:stretch>
              <a:fillRect l="0" t="0" r="0" b="0"/>
            </a:stretch>
          </a:blipFill>
        </p:spPr>
      </p:sp>
      <p:sp>
        <p:nvSpPr>
          <p:cNvPr name="Freeform 3" id="3"/>
          <p:cNvSpPr/>
          <p:nvPr/>
        </p:nvSpPr>
        <p:spPr>
          <a:xfrm flipH="false" flipV="false" rot="0">
            <a:off x="1028700" y="2432119"/>
            <a:ext cx="16230600" cy="142018"/>
          </a:xfrm>
          <a:custGeom>
            <a:avLst/>
            <a:gdLst/>
            <a:ahLst/>
            <a:cxnLst/>
            <a:rect r="r" b="b" t="t" l="l"/>
            <a:pathLst>
              <a:path h="142018" w="16230600">
                <a:moveTo>
                  <a:pt x="0" y="0"/>
                </a:moveTo>
                <a:lnTo>
                  <a:pt x="16230600" y="0"/>
                </a:lnTo>
                <a:lnTo>
                  <a:pt x="16230600" y="142017"/>
                </a:lnTo>
                <a:lnTo>
                  <a:pt x="0" y="142017"/>
                </a:lnTo>
                <a:lnTo>
                  <a:pt x="0" y="0"/>
                </a:lnTo>
                <a:close/>
              </a:path>
            </a:pathLst>
          </a:custGeom>
          <a:blipFill>
            <a:blip r:embed="rId3"/>
            <a:stretch>
              <a:fillRect l="0" t="0" r="0" b="0"/>
            </a:stretch>
          </a:blipFill>
        </p:spPr>
      </p:sp>
      <p:sp>
        <p:nvSpPr>
          <p:cNvPr name="AutoShape 4" id="4"/>
          <p:cNvSpPr/>
          <p:nvPr/>
        </p:nvSpPr>
        <p:spPr>
          <a:xfrm>
            <a:off x="3469976" y="282798"/>
            <a:ext cx="0" cy="2084030"/>
          </a:xfrm>
          <a:prstGeom prst="line">
            <a:avLst/>
          </a:prstGeom>
          <a:ln cap="flat" w="38100">
            <a:solidFill>
              <a:srgbClr val="2E6417"/>
            </a:solidFill>
            <a:prstDash val="solid"/>
            <a:headEnd type="none" len="sm" w="sm"/>
            <a:tailEnd type="none" len="sm" w="sm"/>
          </a:ln>
        </p:spPr>
      </p:sp>
      <p:sp>
        <p:nvSpPr>
          <p:cNvPr name="TextBox 5" id="5"/>
          <p:cNvSpPr txBox="true"/>
          <p:nvPr/>
        </p:nvSpPr>
        <p:spPr>
          <a:xfrm rot="0">
            <a:off x="3878836" y="782251"/>
            <a:ext cx="9920661" cy="1292974"/>
          </a:xfrm>
          <a:prstGeom prst="rect">
            <a:avLst/>
          </a:prstGeom>
        </p:spPr>
        <p:txBody>
          <a:bodyPr anchor="t" rtlCol="false" tIns="0" lIns="0" bIns="0" rIns="0">
            <a:spAutoFit/>
          </a:bodyPr>
          <a:lstStyle/>
          <a:p>
            <a:pPr algn="ctr">
              <a:lnSpc>
                <a:spcPts val="10396"/>
              </a:lnSpc>
              <a:spcBef>
                <a:spcPct val="0"/>
              </a:spcBef>
            </a:pPr>
            <a:r>
              <a:rPr lang="en-US" b="true" sz="7426">
                <a:solidFill>
                  <a:srgbClr val="000000"/>
                </a:solidFill>
                <a:latin typeface="Times New Roman Bold"/>
                <a:ea typeface="Times New Roman Bold"/>
                <a:cs typeface="Times New Roman Bold"/>
                <a:sym typeface="Times New Roman Bold"/>
              </a:rPr>
              <a:t>Awareness/ Story Telling</a:t>
            </a:r>
          </a:p>
        </p:txBody>
      </p:sp>
      <p:sp>
        <p:nvSpPr>
          <p:cNvPr name="TextBox 6" id="6"/>
          <p:cNvSpPr txBox="true"/>
          <p:nvPr/>
        </p:nvSpPr>
        <p:spPr>
          <a:xfrm rot="0">
            <a:off x="1238250" y="2637094"/>
            <a:ext cx="16451151" cy="6262973"/>
          </a:xfrm>
          <a:prstGeom prst="rect">
            <a:avLst/>
          </a:prstGeom>
        </p:spPr>
        <p:txBody>
          <a:bodyPr anchor="t" rtlCol="false" tIns="0" lIns="0" bIns="0" rIns="0">
            <a:spAutoFit/>
          </a:bodyPr>
          <a:lstStyle/>
          <a:p>
            <a:pPr algn="l">
              <a:lnSpc>
                <a:spcPts val="5496"/>
              </a:lnSpc>
            </a:pPr>
            <a:r>
              <a:rPr lang="en-US" sz="3926" u="sng" b="true">
                <a:solidFill>
                  <a:srgbClr val="000000"/>
                </a:solidFill>
                <a:latin typeface="Times New Roman Bold"/>
                <a:ea typeface="Times New Roman Bold"/>
                <a:cs typeface="Times New Roman Bold"/>
                <a:sym typeface="Times New Roman Bold"/>
              </a:rPr>
              <a:t>For Villagers</a:t>
            </a:r>
          </a:p>
          <a:p>
            <a:pPr algn="l" marL="847677" indent="-423839" lvl="1">
              <a:lnSpc>
                <a:spcPts val="5496"/>
              </a:lnSpc>
              <a:buFont typeface="Arial"/>
              <a:buChar char="•"/>
            </a:pPr>
            <a:r>
              <a:rPr lang="en-US" sz="3926">
                <a:solidFill>
                  <a:srgbClr val="000000"/>
                </a:solidFill>
                <a:latin typeface="Times New Roman"/>
                <a:ea typeface="Times New Roman"/>
                <a:cs typeface="Times New Roman"/>
                <a:sym typeface="Times New Roman"/>
              </a:rPr>
              <a:t>Through poster cards and storytelling, villagers recognized that clear-appearing water isn't always safe and expressed willingness to adopt safer practices like filtration and boiling.</a:t>
            </a:r>
          </a:p>
          <a:p>
            <a:pPr algn="l">
              <a:lnSpc>
                <a:spcPts val="5496"/>
              </a:lnSpc>
            </a:pPr>
            <a:r>
              <a:rPr lang="en-US" b="true" sz="3926" u="sng">
                <a:solidFill>
                  <a:srgbClr val="000000"/>
                </a:solidFill>
                <a:latin typeface="Times New Roman Bold"/>
                <a:ea typeface="Times New Roman Bold"/>
                <a:cs typeface="Times New Roman Bold"/>
                <a:sym typeface="Times New Roman Bold"/>
              </a:rPr>
              <a:t>For Children</a:t>
            </a:r>
          </a:p>
          <a:p>
            <a:pPr algn="l" marL="847677" indent="-423839" lvl="1">
              <a:lnSpc>
                <a:spcPts val="5496"/>
              </a:lnSpc>
              <a:buFont typeface="Arial"/>
              <a:buChar char="•"/>
            </a:pPr>
            <a:r>
              <a:rPr lang="en-US" sz="3926">
                <a:solidFill>
                  <a:srgbClr val="000000"/>
                </a:solidFill>
                <a:latin typeface="Times New Roman"/>
                <a:ea typeface="Times New Roman"/>
                <a:cs typeface="Times New Roman"/>
                <a:sym typeface="Times New Roman"/>
              </a:rPr>
              <a:t>Interactive sessions were held at the tuition center.</a:t>
            </a:r>
          </a:p>
          <a:p>
            <a:pPr algn="l" marL="847677" indent="-423839" lvl="1">
              <a:lnSpc>
                <a:spcPts val="5496"/>
              </a:lnSpc>
              <a:buFont typeface="Arial"/>
              <a:buChar char="•"/>
            </a:pPr>
            <a:r>
              <a:rPr lang="en-US" sz="3926">
                <a:solidFill>
                  <a:srgbClr val="000000"/>
                </a:solidFill>
                <a:latin typeface="Times New Roman"/>
                <a:ea typeface="Times New Roman"/>
                <a:cs typeface="Times New Roman"/>
                <a:sym typeface="Times New Roman"/>
              </a:rPr>
              <a:t>Used animated videos and visual demonstrations.</a:t>
            </a:r>
          </a:p>
          <a:p>
            <a:pPr algn="l" marL="847677" indent="-423839" lvl="1">
              <a:lnSpc>
                <a:spcPts val="5496"/>
              </a:lnSpc>
              <a:buFont typeface="Arial"/>
              <a:buChar char="•"/>
            </a:pPr>
            <a:r>
              <a:rPr lang="en-US" sz="3926">
                <a:solidFill>
                  <a:srgbClr val="000000"/>
                </a:solidFill>
                <a:latin typeface="Times New Roman"/>
                <a:ea typeface="Times New Roman"/>
                <a:cs typeface="Times New Roman"/>
                <a:sym typeface="Times New Roman"/>
              </a:rPr>
              <a:t>Covered diseases caused by unsafe water, proper hygiene practices, and benefits of using the new filtration system.</a:t>
            </a:r>
          </a:p>
        </p:txBody>
      </p:sp>
      <p:sp>
        <p:nvSpPr>
          <p:cNvPr name="Freeform 7" id="7"/>
          <p:cNvSpPr/>
          <p:nvPr/>
        </p:nvSpPr>
        <p:spPr>
          <a:xfrm flipH="false" flipV="false" rot="0">
            <a:off x="0" y="9258300"/>
            <a:ext cx="18288000" cy="1011582"/>
          </a:xfrm>
          <a:custGeom>
            <a:avLst/>
            <a:gdLst/>
            <a:ahLst/>
            <a:cxnLst/>
            <a:rect r="r" b="b" t="t" l="l"/>
            <a:pathLst>
              <a:path h="1011582" w="18288000">
                <a:moveTo>
                  <a:pt x="0" y="0"/>
                </a:moveTo>
                <a:lnTo>
                  <a:pt x="18288000" y="0"/>
                </a:lnTo>
                <a:lnTo>
                  <a:pt x="18288000" y="1011582"/>
                </a:lnTo>
                <a:lnTo>
                  <a:pt x="0" y="1011582"/>
                </a:lnTo>
                <a:lnTo>
                  <a:pt x="0" y="0"/>
                </a:lnTo>
                <a:close/>
              </a:path>
            </a:pathLst>
          </a:custGeom>
          <a:blipFill>
            <a:blip r:embed="rId4"/>
            <a:stretch>
              <a:fillRect l="-20856" t="0" r="-752" b="-1680"/>
            </a:stretch>
          </a:blipFill>
        </p:spPr>
      </p:sp>
      <p:sp>
        <p:nvSpPr>
          <p:cNvPr name="TextBox 8" id="8"/>
          <p:cNvSpPr txBox="true"/>
          <p:nvPr/>
        </p:nvSpPr>
        <p:spPr>
          <a:xfrm rot="0">
            <a:off x="731401" y="9365816"/>
            <a:ext cx="152400" cy="228600"/>
          </a:xfrm>
          <a:prstGeom prst="rect">
            <a:avLst/>
          </a:prstGeom>
        </p:spPr>
        <p:txBody>
          <a:bodyPr anchor="t" rtlCol="false" tIns="0" lIns="0" bIns="0" rIns="0" wrap="none">
            <a:spAutoFit/>
          </a:bodyPr>
          <a:lstStyle/>
          <a:p>
            <a:pPr algn="ctr">
              <a:lnSpc>
                <a:spcPts val="5970"/>
              </a:lnSpc>
              <a:spcBef>
                <a:spcPct val="0"/>
              </a:spcBef>
            </a:pPr>
            <a:r>
              <a:rPr lang="en-US" sz="4264">
                <a:solidFill>
                  <a:srgbClr val="FFFFFF"/>
                </a:solidFill>
                <a:latin typeface="Canva Sans"/>
                <a:ea typeface="Canva Sans"/>
                <a:cs typeface="Canva Sans"/>
                <a:sym typeface="Canva Sans"/>
              </a:rPr>
              <a:t>23</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81628" y="282798"/>
            <a:ext cx="1470709" cy="1792426"/>
          </a:xfrm>
          <a:custGeom>
            <a:avLst/>
            <a:gdLst/>
            <a:ahLst/>
            <a:cxnLst/>
            <a:rect r="r" b="b" t="t" l="l"/>
            <a:pathLst>
              <a:path h="1792426" w="1470709">
                <a:moveTo>
                  <a:pt x="0" y="0"/>
                </a:moveTo>
                <a:lnTo>
                  <a:pt x="1470708" y="0"/>
                </a:lnTo>
                <a:lnTo>
                  <a:pt x="1470708" y="1792426"/>
                </a:lnTo>
                <a:lnTo>
                  <a:pt x="0" y="1792426"/>
                </a:lnTo>
                <a:lnTo>
                  <a:pt x="0" y="0"/>
                </a:lnTo>
                <a:close/>
              </a:path>
            </a:pathLst>
          </a:custGeom>
          <a:blipFill>
            <a:blip r:embed="rId2"/>
            <a:stretch>
              <a:fillRect l="0" t="0" r="0" b="0"/>
            </a:stretch>
          </a:blipFill>
        </p:spPr>
      </p:sp>
      <p:sp>
        <p:nvSpPr>
          <p:cNvPr name="Freeform 3" id="3"/>
          <p:cNvSpPr/>
          <p:nvPr/>
        </p:nvSpPr>
        <p:spPr>
          <a:xfrm flipH="false" flipV="false" rot="0">
            <a:off x="1028700" y="2432119"/>
            <a:ext cx="16230600" cy="142018"/>
          </a:xfrm>
          <a:custGeom>
            <a:avLst/>
            <a:gdLst/>
            <a:ahLst/>
            <a:cxnLst/>
            <a:rect r="r" b="b" t="t" l="l"/>
            <a:pathLst>
              <a:path h="142018" w="16230600">
                <a:moveTo>
                  <a:pt x="0" y="0"/>
                </a:moveTo>
                <a:lnTo>
                  <a:pt x="16230600" y="0"/>
                </a:lnTo>
                <a:lnTo>
                  <a:pt x="16230600" y="142017"/>
                </a:lnTo>
                <a:lnTo>
                  <a:pt x="0" y="142017"/>
                </a:lnTo>
                <a:lnTo>
                  <a:pt x="0" y="0"/>
                </a:lnTo>
                <a:close/>
              </a:path>
            </a:pathLst>
          </a:custGeom>
          <a:blipFill>
            <a:blip r:embed="rId3"/>
            <a:stretch>
              <a:fillRect l="0" t="0" r="0" b="0"/>
            </a:stretch>
          </a:blipFill>
        </p:spPr>
      </p:sp>
      <p:sp>
        <p:nvSpPr>
          <p:cNvPr name="AutoShape 4" id="4"/>
          <p:cNvSpPr/>
          <p:nvPr/>
        </p:nvSpPr>
        <p:spPr>
          <a:xfrm>
            <a:off x="3469976" y="282798"/>
            <a:ext cx="0" cy="2084030"/>
          </a:xfrm>
          <a:prstGeom prst="line">
            <a:avLst/>
          </a:prstGeom>
          <a:ln cap="flat" w="38100">
            <a:solidFill>
              <a:srgbClr val="2E6417"/>
            </a:solidFill>
            <a:prstDash val="solid"/>
            <a:headEnd type="none" len="sm" w="sm"/>
            <a:tailEnd type="none" len="sm" w="sm"/>
          </a:ln>
        </p:spPr>
      </p:sp>
      <p:sp>
        <p:nvSpPr>
          <p:cNvPr name="Freeform 5" id="5"/>
          <p:cNvSpPr/>
          <p:nvPr/>
        </p:nvSpPr>
        <p:spPr>
          <a:xfrm flipH="false" flipV="false" rot="0">
            <a:off x="1793451" y="2821786"/>
            <a:ext cx="8770610" cy="5611725"/>
          </a:xfrm>
          <a:custGeom>
            <a:avLst/>
            <a:gdLst/>
            <a:ahLst/>
            <a:cxnLst/>
            <a:rect r="r" b="b" t="t" l="l"/>
            <a:pathLst>
              <a:path h="5611725" w="8770610">
                <a:moveTo>
                  <a:pt x="0" y="0"/>
                </a:moveTo>
                <a:lnTo>
                  <a:pt x="8770610" y="0"/>
                </a:lnTo>
                <a:lnTo>
                  <a:pt x="8770610" y="5611725"/>
                </a:lnTo>
                <a:lnTo>
                  <a:pt x="0" y="5611725"/>
                </a:lnTo>
                <a:lnTo>
                  <a:pt x="0" y="0"/>
                </a:lnTo>
                <a:close/>
              </a:path>
            </a:pathLst>
          </a:custGeom>
          <a:blipFill>
            <a:blip r:embed="rId4"/>
            <a:stretch>
              <a:fillRect l="-18475" t="-13279" r="-10378" b="0"/>
            </a:stretch>
          </a:blipFill>
        </p:spPr>
      </p:sp>
      <p:sp>
        <p:nvSpPr>
          <p:cNvPr name="Freeform 6" id="6"/>
          <p:cNvSpPr/>
          <p:nvPr/>
        </p:nvSpPr>
        <p:spPr>
          <a:xfrm flipH="false" flipV="false" rot="0">
            <a:off x="11498163" y="2821786"/>
            <a:ext cx="4767719" cy="5611725"/>
          </a:xfrm>
          <a:custGeom>
            <a:avLst/>
            <a:gdLst/>
            <a:ahLst/>
            <a:cxnLst/>
            <a:rect r="r" b="b" t="t" l="l"/>
            <a:pathLst>
              <a:path h="5611725" w="4767719">
                <a:moveTo>
                  <a:pt x="0" y="0"/>
                </a:moveTo>
                <a:lnTo>
                  <a:pt x="4767719" y="0"/>
                </a:lnTo>
                <a:lnTo>
                  <a:pt x="4767719" y="5611725"/>
                </a:lnTo>
                <a:lnTo>
                  <a:pt x="0" y="5611725"/>
                </a:lnTo>
                <a:lnTo>
                  <a:pt x="0" y="0"/>
                </a:lnTo>
                <a:close/>
              </a:path>
            </a:pathLst>
          </a:custGeom>
          <a:blipFill>
            <a:blip r:embed="rId5"/>
            <a:stretch>
              <a:fillRect l="0" t="-8890" r="0" b="-4389"/>
            </a:stretch>
          </a:blipFill>
        </p:spPr>
      </p:sp>
      <p:sp>
        <p:nvSpPr>
          <p:cNvPr name="TextBox 7" id="7"/>
          <p:cNvSpPr txBox="true"/>
          <p:nvPr/>
        </p:nvSpPr>
        <p:spPr>
          <a:xfrm rot="0">
            <a:off x="3878836" y="782251"/>
            <a:ext cx="9920661" cy="1292974"/>
          </a:xfrm>
          <a:prstGeom prst="rect">
            <a:avLst/>
          </a:prstGeom>
        </p:spPr>
        <p:txBody>
          <a:bodyPr anchor="t" rtlCol="false" tIns="0" lIns="0" bIns="0" rIns="0">
            <a:spAutoFit/>
          </a:bodyPr>
          <a:lstStyle/>
          <a:p>
            <a:pPr algn="ctr">
              <a:lnSpc>
                <a:spcPts val="10396"/>
              </a:lnSpc>
              <a:spcBef>
                <a:spcPct val="0"/>
              </a:spcBef>
            </a:pPr>
            <a:r>
              <a:rPr lang="en-US" b="true" sz="7426">
                <a:solidFill>
                  <a:srgbClr val="000000"/>
                </a:solidFill>
                <a:latin typeface="Times New Roman Bold"/>
                <a:ea typeface="Times New Roman Bold"/>
                <a:cs typeface="Times New Roman Bold"/>
                <a:sym typeface="Times New Roman Bold"/>
              </a:rPr>
              <a:t>Awareness/ Story Telling</a:t>
            </a:r>
          </a:p>
        </p:txBody>
      </p:sp>
      <p:sp>
        <p:nvSpPr>
          <p:cNvPr name="TextBox 8" id="8"/>
          <p:cNvSpPr txBox="true"/>
          <p:nvPr/>
        </p:nvSpPr>
        <p:spPr>
          <a:xfrm rot="0">
            <a:off x="3949017" y="8506108"/>
            <a:ext cx="4085034" cy="582930"/>
          </a:xfrm>
          <a:prstGeom prst="rect">
            <a:avLst/>
          </a:prstGeom>
        </p:spPr>
        <p:txBody>
          <a:bodyPr anchor="t" rtlCol="false" tIns="0" lIns="0" bIns="0" rIns="0">
            <a:spAutoFit/>
          </a:bodyPr>
          <a:lstStyle/>
          <a:p>
            <a:pPr algn="ctr">
              <a:lnSpc>
                <a:spcPts val="4620"/>
              </a:lnSpc>
              <a:spcBef>
                <a:spcPct val="0"/>
              </a:spcBef>
            </a:pPr>
            <a:r>
              <a:rPr lang="en-US" b="true" sz="3300">
                <a:solidFill>
                  <a:srgbClr val="000000"/>
                </a:solidFill>
                <a:latin typeface="Times New Roman Bold"/>
                <a:ea typeface="Times New Roman Bold"/>
                <a:cs typeface="Times New Roman Bold"/>
                <a:sym typeface="Times New Roman Bold"/>
              </a:rPr>
              <a:t>Inte</a:t>
            </a:r>
            <a:r>
              <a:rPr lang="en-US" b="true" sz="3300">
                <a:solidFill>
                  <a:srgbClr val="000000"/>
                </a:solidFill>
                <a:latin typeface="Times New Roman Bold"/>
                <a:ea typeface="Times New Roman Bold"/>
                <a:cs typeface="Times New Roman Bold"/>
                <a:sym typeface="Times New Roman Bold"/>
              </a:rPr>
              <a:t>ractive storytelling</a:t>
            </a:r>
          </a:p>
        </p:txBody>
      </p:sp>
      <p:sp>
        <p:nvSpPr>
          <p:cNvPr name="TextBox 9" id="9"/>
          <p:cNvSpPr txBox="true"/>
          <p:nvPr/>
        </p:nvSpPr>
        <p:spPr>
          <a:xfrm rot="0">
            <a:off x="12734244" y="8464198"/>
            <a:ext cx="2697004" cy="582930"/>
          </a:xfrm>
          <a:prstGeom prst="rect">
            <a:avLst/>
          </a:prstGeom>
        </p:spPr>
        <p:txBody>
          <a:bodyPr anchor="t" rtlCol="false" tIns="0" lIns="0" bIns="0" rIns="0">
            <a:spAutoFit/>
          </a:bodyPr>
          <a:lstStyle/>
          <a:p>
            <a:pPr algn="ctr">
              <a:lnSpc>
                <a:spcPts val="4620"/>
              </a:lnSpc>
              <a:spcBef>
                <a:spcPct val="0"/>
              </a:spcBef>
            </a:pPr>
            <a:r>
              <a:rPr lang="en-US" b="true" sz="3300">
                <a:solidFill>
                  <a:srgbClr val="000000"/>
                </a:solidFill>
                <a:latin typeface="Times New Roman Bold"/>
                <a:ea typeface="Times New Roman Bold"/>
                <a:cs typeface="Times New Roman Bold"/>
                <a:sym typeface="Times New Roman Bold"/>
              </a:rPr>
              <a:t>Awareness talk</a:t>
            </a:r>
          </a:p>
        </p:txBody>
      </p:sp>
      <p:sp>
        <p:nvSpPr>
          <p:cNvPr name="Freeform 10" id="10"/>
          <p:cNvSpPr/>
          <p:nvPr/>
        </p:nvSpPr>
        <p:spPr>
          <a:xfrm flipH="false" flipV="false" rot="0">
            <a:off x="0" y="9258300"/>
            <a:ext cx="18288000" cy="1011582"/>
          </a:xfrm>
          <a:custGeom>
            <a:avLst/>
            <a:gdLst/>
            <a:ahLst/>
            <a:cxnLst/>
            <a:rect r="r" b="b" t="t" l="l"/>
            <a:pathLst>
              <a:path h="1011582" w="18288000">
                <a:moveTo>
                  <a:pt x="0" y="0"/>
                </a:moveTo>
                <a:lnTo>
                  <a:pt x="18288000" y="0"/>
                </a:lnTo>
                <a:lnTo>
                  <a:pt x="18288000" y="1011582"/>
                </a:lnTo>
                <a:lnTo>
                  <a:pt x="0" y="1011582"/>
                </a:lnTo>
                <a:lnTo>
                  <a:pt x="0" y="0"/>
                </a:lnTo>
                <a:close/>
              </a:path>
            </a:pathLst>
          </a:custGeom>
          <a:blipFill>
            <a:blip r:embed="rId6"/>
            <a:stretch>
              <a:fillRect l="-20856" t="0" r="-752" b="-1680"/>
            </a:stretch>
          </a:blipFill>
        </p:spPr>
      </p:sp>
      <p:sp>
        <p:nvSpPr>
          <p:cNvPr name="TextBox 11" id="11"/>
          <p:cNvSpPr txBox="true"/>
          <p:nvPr/>
        </p:nvSpPr>
        <p:spPr>
          <a:xfrm rot="0">
            <a:off x="731401" y="9365816"/>
            <a:ext cx="152400" cy="228600"/>
          </a:xfrm>
          <a:prstGeom prst="rect">
            <a:avLst/>
          </a:prstGeom>
        </p:spPr>
        <p:txBody>
          <a:bodyPr anchor="t" rtlCol="false" tIns="0" lIns="0" bIns="0" rIns="0" wrap="none">
            <a:spAutoFit/>
          </a:bodyPr>
          <a:lstStyle/>
          <a:p>
            <a:pPr algn="ctr">
              <a:lnSpc>
                <a:spcPts val="5970"/>
              </a:lnSpc>
              <a:spcBef>
                <a:spcPct val="0"/>
              </a:spcBef>
            </a:pPr>
            <a:r>
              <a:rPr lang="en-US" sz="4264">
                <a:solidFill>
                  <a:srgbClr val="FFFFFF"/>
                </a:solidFill>
                <a:latin typeface="Canva Sans"/>
                <a:ea typeface="Canva Sans"/>
                <a:cs typeface="Canva Sans"/>
                <a:sym typeface="Canva Sans"/>
              </a:rPr>
              <a:t>24</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81628" y="282798"/>
            <a:ext cx="1470709" cy="1792426"/>
          </a:xfrm>
          <a:custGeom>
            <a:avLst/>
            <a:gdLst/>
            <a:ahLst/>
            <a:cxnLst/>
            <a:rect r="r" b="b" t="t" l="l"/>
            <a:pathLst>
              <a:path h="1792426" w="1470709">
                <a:moveTo>
                  <a:pt x="0" y="0"/>
                </a:moveTo>
                <a:lnTo>
                  <a:pt x="1470708" y="0"/>
                </a:lnTo>
                <a:lnTo>
                  <a:pt x="1470708" y="1792426"/>
                </a:lnTo>
                <a:lnTo>
                  <a:pt x="0" y="1792426"/>
                </a:lnTo>
                <a:lnTo>
                  <a:pt x="0" y="0"/>
                </a:lnTo>
                <a:close/>
              </a:path>
            </a:pathLst>
          </a:custGeom>
          <a:blipFill>
            <a:blip r:embed="rId2"/>
            <a:stretch>
              <a:fillRect l="0" t="0" r="0" b="0"/>
            </a:stretch>
          </a:blipFill>
        </p:spPr>
      </p:sp>
      <p:sp>
        <p:nvSpPr>
          <p:cNvPr name="Freeform 3" id="3"/>
          <p:cNvSpPr/>
          <p:nvPr/>
        </p:nvSpPr>
        <p:spPr>
          <a:xfrm flipH="false" flipV="false" rot="0">
            <a:off x="1028700" y="2432119"/>
            <a:ext cx="16230600" cy="142018"/>
          </a:xfrm>
          <a:custGeom>
            <a:avLst/>
            <a:gdLst/>
            <a:ahLst/>
            <a:cxnLst/>
            <a:rect r="r" b="b" t="t" l="l"/>
            <a:pathLst>
              <a:path h="142018" w="16230600">
                <a:moveTo>
                  <a:pt x="0" y="0"/>
                </a:moveTo>
                <a:lnTo>
                  <a:pt x="16230600" y="0"/>
                </a:lnTo>
                <a:lnTo>
                  <a:pt x="16230600" y="142017"/>
                </a:lnTo>
                <a:lnTo>
                  <a:pt x="0" y="142017"/>
                </a:lnTo>
                <a:lnTo>
                  <a:pt x="0" y="0"/>
                </a:lnTo>
                <a:close/>
              </a:path>
            </a:pathLst>
          </a:custGeom>
          <a:blipFill>
            <a:blip r:embed="rId3"/>
            <a:stretch>
              <a:fillRect l="0" t="0" r="0" b="0"/>
            </a:stretch>
          </a:blipFill>
        </p:spPr>
      </p:sp>
      <p:sp>
        <p:nvSpPr>
          <p:cNvPr name="AutoShape 4" id="4"/>
          <p:cNvSpPr/>
          <p:nvPr/>
        </p:nvSpPr>
        <p:spPr>
          <a:xfrm>
            <a:off x="3469976" y="282798"/>
            <a:ext cx="0" cy="2084030"/>
          </a:xfrm>
          <a:prstGeom prst="line">
            <a:avLst/>
          </a:prstGeom>
          <a:ln cap="flat" w="38100">
            <a:solidFill>
              <a:srgbClr val="2E6417"/>
            </a:solidFill>
            <a:prstDash val="solid"/>
            <a:headEnd type="none" len="sm" w="sm"/>
            <a:tailEnd type="none" len="sm" w="sm"/>
          </a:ln>
        </p:spPr>
      </p:sp>
      <p:sp>
        <p:nvSpPr>
          <p:cNvPr name="TextBox 5" id="5"/>
          <p:cNvSpPr txBox="true"/>
          <p:nvPr/>
        </p:nvSpPr>
        <p:spPr>
          <a:xfrm rot="0">
            <a:off x="1028700" y="2640811"/>
            <a:ext cx="16049522" cy="6350057"/>
          </a:xfrm>
          <a:prstGeom prst="rect">
            <a:avLst/>
          </a:prstGeom>
        </p:spPr>
        <p:txBody>
          <a:bodyPr anchor="t" rtlCol="false" tIns="0" lIns="0" bIns="0" rIns="0">
            <a:spAutoFit/>
          </a:bodyPr>
          <a:lstStyle/>
          <a:p>
            <a:pPr algn="l" marL="836127" indent="-418064" lvl="1">
              <a:lnSpc>
                <a:spcPts val="5421"/>
              </a:lnSpc>
              <a:buFont typeface="Arial"/>
              <a:buChar char="•"/>
            </a:pPr>
            <a:r>
              <a:rPr lang="en-US" b="true" sz="3872" u="sng">
                <a:solidFill>
                  <a:srgbClr val="000000"/>
                </a:solidFill>
                <a:latin typeface="Times New Roman Bold"/>
                <a:ea typeface="Times New Roman Bold"/>
                <a:cs typeface="Times New Roman Bold"/>
                <a:sym typeface="Times New Roman Bold"/>
              </a:rPr>
              <a:t>Bottle Filter Demonstration</a:t>
            </a:r>
            <a:r>
              <a:rPr lang="en-US" b="true" sz="3872">
                <a:solidFill>
                  <a:srgbClr val="000000"/>
                </a:solidFill>
                <a:latin typeface="Times New Roman Bold"/>
                <a:ea typeface="Times New Roman Bold"/>
                <a:cs typeface="Times New Roman Bold"/>
                <a:sym typeface="Times New Roman Bold"/>
              </a:rPr>
              <a:t>: </a:t>
            </a:r>
            <a:r>
              <a:rPr lang="en-US" sz="3872">
                <a:solidFill>
                  <a:srgbClr val="000000"/>
                </a:solidFill>
                <a:latin typeface="Times New Roman"/>
                <a:ea typeface="Times New Roman"/>
                <a:cs typeface="Times New Roman"/>
                <a:sym typeface="Times New Roman"/>
              </a:rPr>
              <a:t>A simple prototype using gravel, sand, and charcoal layers was shown on inauguration day to visibly explain filtration. This helped villagers see how impurities are removed and built trust in clean water use.</a:t>
            </a:r>
          </a:p>
          <a:p>
            <a:pPr algn="l">
              <a:lnSpc>
                <a:spcPts val="1361"/>
              </a:lnSpc>
            </a:pPr>
          </a:p>
          <a:p>
            <a:pPr algn="l" marL="836127" indent="-418064" lvl="1">
              <a:lnSpc>
                <a:spcPts val="5421"/>
              </a:lnSpc>
              <a:buFont typeface="Arial"/>
              <a:buChar char="•"/>
            </a:pPr>
            <a:r>
              <a:rPr lang="en-US" b="true" sz="3872" u="sng">
                <a:solidFill>
                  <a:srgbClr val="000000"/>
                </a:solidFill>
                <a:latin typeface="Times New Roman Bold"/>
                <a:ea typeface="Times New Roman Bold"/>
                <a:cs typeface="Times New Roman Bold"/>
                <a:sym typeface="Times New Roman Bold"/>
              </a:rPr>
              <a:t>Jivamritam Filtration System</a:t>
            </a:r>
            <a:r>
              <a:rPr lang="en-US" b="true" sz="3872">
                <a:solidFill>
                  <a:srgbClr val="000000"/>
                </a:solidFill>
                <a:latin typeface="Times New Roman Bold"/>
                <a:ea typeface="Times New Roman Bold"/>
                <a:cs typeface="Times New Roman Bold"/>
                <a:sym typeface="Times New Roman Bold"/>
              </a:rPr>
              <a:t>: </a:t>
            </a:r>
            <a:r>
              <a:rPr lang="en-US" sz="3872">
                <a:solidFill>
                  <a:srgbClr val="000000"/>
                </a:solidFill>
                <a:latin typeface="Times New Roman"/>
                <a:ea typeface="Times New Roman"/>
                <a:cs typeface="Times New Roman"/>
                <a:sym typeface="Times New Roman"/>
              </a:rPr>
              <a:t>The actual community water filtration system was demonstrated with hands-on training for the water management committee. They practiced operating, regulating flow, cleaning, and safety steps under supervision. This empowered them to manage the system independently, ensuring sustainability and community ownership.</a:t>
            </a:r>
          </a:p>
        </p:txBody>
      </p:sp>
      <p:sp>
        <p:nvSpPr>
          <p:cNvPr name="TextBox 6" id="6"/>
          <p:cNvSpPr txBox="true"/>
          <p:nvPr/>
        </p:nvSpPr>
        <p:spPr>
          <a:xfrm rot="0">
            <a:off x="3984326" y="864686"/>
            <a:ext cx="6024562" cy="1297275"/>
          </a:xfrm>
          <a:prstGeom prst="rect">
            <a:avLst/>
          </a:prstGeom>
        </p:spPr>
        <p:txBody>
          <a:bodyPr anchor="t" rtlCol="false" tIns="0" lIns="0" bIns="0" rIns="0">
            <a:spAutoFit/>
          </a:bodyPr>
          <a:lstStyle/>
          <a:p>
            <a:pPr algn="ctr">
              <a:lnSpc>
                <a:spcPts val="10396"/>
              </a:lnSpc>
              <a:spcBef>
                <a:spcPct val="0"/>
              </a:spcBef>
            </a:pPr>
            <a:r>
              <a:rPr lang="en-US" b="true" sz="7426">
                <a:solidFill>
                  <a:srgbClr val="000000"/>
                </a:solidFill>
                <a:latin typeface="Times New Roman Bold"/>
                <a:ea typeface="Times New Roman Bold"/>
                <a:cs typeface="Times New Roman Bold"/>
                <a:sym typeface="Times New Roman Bold"/>
              </a:rPr>
              <a:t>Demonstration</a:t>
            </a:r>
          </a:p>
        </p:txBody>
      </p:sp>
      <p:sp>
        <p:nvSpPr>
          <p:cNvPr name="Freeform 7" id="7"/>
          <p:cNvSpPr/>
          <p:nvPr/>
        </p:nvSpPr>
        <p:spPr>
          <a:xfrm flipH="false" flipV="false" rot="0">
            <a:off x="0" y="9258300"/>
            <a:ext cx="18288000" cy="1011582"/>
          </a:xfrm>
          <a:custGeom>
            <a:avLst/>
            <a:gdLst/>
            <a:ahLst/>
            <a:cxnLst/>
            <a:rect r="r" b="b" t="t" l="l"/>
            <a:pathLst>
              <a:path h="1011582" w="18288000">
                <a:moveTo>
                  <a:pt x="0" y="0"/>
                </a:moveTo>
                <a:lnTo>
                  <a:pt x="18288000" y="0"/>
                </a:lnTo>
                <a:lnTo>
                  <a:pt x="18288000" y="1011582"/>
                </a:lnTo>
                <a:lnTo>
                  <a:pt x="0" y="1011582"/>
                </a:lnTo>
                <a:lnTo>
                  <a:pt x="0" y="0"/>
                </a:lnTo>
                <a:close/>
              </a:path>
            </a:pathLst>
          </a:custGeom>
          <a:blipFill>
            <a:blip r:embed="rId4"/>
            <a:stretch>
              <a:fillRect l="-20856" t="0" r="-752" b="-1680"/>
            </a:stretch>
          </a:blipFill>
        </p:spPr>
      </p:sp>
      <p:sp>
        <p:nvSpPr>
          <p:cNvPr name="TextBox 8" id="8"/>
          <p:cNvSpPr txBox="true"/>
          <p:nvPr/>
        </p:nvSpPr>
        <p:spPr>
          <a:xfrm rot="0">
            <a:off x="731401" y="9365816"/>
            <a:ext cx="152400" cy="228600"/>
          </a:xfrm>
          <a:prstGeom prst="rect">
            <a:avLst/>
          </a:prstGeom>
        </p:spPr>
        <p:txBody>
          <a:bodyPr anchor="t" rtlCol="false" tIns="0" lIns="0" bIns="0" rIns="0" wrap="none">
            <a:spAutoFit/>
          </a:bodyPr>
          <a:lstStyle/>
          <a:p>
            <a:pPr algn="ctr">
              <a:lnSpc>
                <a:spcPts val="5970"/>
              </a:lnSpc>
              <a:spcBef>
                <a:spcPct val="0"/>
              </a:spcBef>
            </a:pPr>
            <a:r>
              <a:rPr lang="en-US" sz="4264">
                <a:solidFill>
                  <a:srgbClr val="FFFFFF"/>
                </a:solidFill>
                <a:latin typeface="Canva Sans"/>
                <a:ea typeface="Canva Sans"/>
                <a:cs typeface="Canva Sans"/>
                <a:sym typeface="Canva Sans"/>
              </a:rPr>
              <a:t>25</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81628" y="282798"/>
            <a:ext cx="1470709" cy="1792426"/>
          </a:xfrm>
          <a:custGeom>
            <a:avLst/>
            <a:gdLst/>
            <a:ahLst/>
            <a:cxnLst/>
            <a:rect r="r" b="b" t="t" l="l"/>
            <a:pathLst>
              <a:path h="1792426" w="1470709">
                <a:moveTo>
                  <a:pt x="0" y="0"/>
                </a:moveTo>
                <a:lnTo>
                  <a:pt x="1470708" y="0"/>
                </a:lnTo>
                <a:lnTo>
                  <a:pt x="1470708" y="1792426"/>
                </a:lnTo>
                <a:lnTo>
                  <a:pt x="0" y="1792426"/>
                </a:lnTo>
                <a:lnTo>
                  <a:pt x="0" y="0"/>
                </a:lnTo>
                <a:close/>
              </a:path>
            </a:pathLst>
          </a:custGeom>
          <a:blipFill>
            <a:blip r:embed="rId2"/>
            <a:stretch>
              <a:fillRect l="0" t="0" r="0" b="0"/>
            </a:stretch>
          </a:blipFill>
        </p:spPr>
      </p:sp>
      <p:sp>
        <p:nvSpPr>
          <p:cNvPr name="Freeform 3" id="3"/>
          <p:cNvSpPr/>
          <p:nvPr/>
        </p:nvSpPr>
        <p:spPr>
          <a:xfrm flipH="false" flipV="false" rot="0">
            <a:off x="1028700" y="2432119"/>
            <a:ext cx="16230600" cy="142018"/>
          </a:xfrm>
          <a:custGeom>
            <a:avLst/>
            <a:gdLst/>
            <a:ahLst/>
            <a:cxnLst/>
            <a:rect r="r" b="b" t="t" l="l"/>
            <a:pathLst>
              <a:path h="142018" w="16230600">
                <a:moveTo>
                  <a:pt x="0" y="0"/>
                </a:moveTo>
                <a:lnTo>
                  <a:pt x="16230600" y="0"/>
                </a:lnTo>
                <a:lnTo>
                  <a:pt x="16230600" y="142017"/>
                </a:lnTo>
                <a:lnTo>
                  <a:pt x="0" y="142017"/>
                </a:lnTo>
                <a:lnTo>
                  <a:pt x="0" y="0"/>
                </a:lnTo>
                <a:close/>
              </a:path>
            </a:pathLst>
          </a:custGeom>
          <a:blipFill>
            <a:blip r:embed="rId3"/>
            <a:stretch>
              <a:fillRect l="0" t="0" r="0" b="0"/>
            </a:stretch>
          </a:blipFill>
        </p:spPr>
      </p:sp>
      <p:sp>
        <p:nvSpPr>
          <p:cNvPr name="AutoShape 4" id="4"/>
          <p:cNvSpPr/>
          <p:nvPr/>
        </p:nvSpPr>
        <p:spPr>
          <a:xfrm>
            <a:off x="3469976" y="282798"/>
            <a:ext cx="0" cy="2084030"/>
          </a:xfrm>
          <a:prstGeom prst="line">
            <a:avLst/>
          </a:prstGeom>
          <a:ln cap="flat" w="38100">
            <a:solidFill>
              <a:srgbClr val="2E6417"/>
            </a:solidFill>
            <a:prstDash val="solid"/>
            <a:headEnd type="none" len="sm" w="sm"/>
            <a:tailEnd type="none" len="sm" w="sm"/>
          </a:ln>
        </p:spPr>
      </p:sp>
      <p:sp>
        <p:nvSpPr>
          <p:cNvPr name="Freeform 5" id="5"/>
          <p:cNvSpPr/>
          <p:nvPr/>
        </p:nvSpPr>
        <p:spPr>
          <a:xfrm flipH="false" flipV="false" rot="0">
            <a:off x="1386378" y="2878936"/>
            <a:ext cx="9766726" cy="5510584"/>
          </a:xfrm>
          <a:custGeom>
            <a:avLst/>
            <a:gdLst/>
            <a:ahLst/>
            <a:cxnLst/>
            <a:rect r="r" b="b" t="t" l="l"/>
            <a:pathLst>
              <a:path h="5510584" w="9766726">
                <a:moveTo>
                  <a:pt x="0" y="0"/>
                </a:moveTo>
                <a:lnTo>
                  <a:pt x="9766726" y="0"/>
                </a:lnTo>
                <a:lnTo>
                  <a:pt x="9766726" y="5510584"/>
                </a:lnTo>
                <a:lnTo>
                  <a:pt x="0" y="5510584"/>
                </a:lnTo>
                <a:lnTo>
                  <a:pt x="0" y="0"/>
                </a:lnTo>
                <a:close/>
              </a:path>
            </a:pathLst>
          </a:custGeom>
          <a:blipFill>
            <a:blip r:embed="rId4"/>
            <a:stretch>
              <a:fillRect l="0" t="0" r="0" b="0"/>
            </a:stretch>
          </a:blipFill>
        </p:spPr>
      </p:sp>
      <p:sp>
        <p:nvSpPr>
          <p:cNvPr name="Freeform 6" id="6"/>
          <p:cNvSpPr/>
          <p:nvPr/>
        </p:nvSpPr>
        <p:spPr>
          <a:xfrm flipH="false" flipV="false" rot="0">
            <a:off x="12061010" y="2878936"/>
            <a:ext cx="4899340" cy="5510584"/>
          </a:xfrm>
          <a:custGeom>
            <a:avLst/>
            <a:gdLst/>
            <a:ahLst/>
            <a:cxnLst/>
            <a:rect r="r" b="b" t="t" l="l"/>
            <a:pathLst>
              <a:path h="5510584" w="4899340">
                <a:moveTo>
                  <a:pt x="0" y="0"/>
                </a:moveTo>
                <a:lnTo>
                  <a:pt x="4899340" y="0"/>
                </a:lnTo>
                <a:lnTo>
                  <a:pt x="4899340" y="5510584"/>
                </a:lnTo>
                <a:lnTo>
                  <a:pt x="0" y="5510584"/>
                </a:lnTo>
                <a:lnTo>
                  <a:pt x="0" y="0"/>
                </a:lnTo>
                <a:close/>
              </a:path>
            </a:pathLst>
          </a:custGeom>
          <a:blipFill>
            <a:blip r:embed="rId5"/>
            <a:stretch>
              <a:fillRect l="0" t="-34744" r="0" b="0"/>
            </a:stretch>
          </a:blipFill>
        </p:spPr>
      </p:sp>
      <p:sp>
        <p:nvSpPr>
          <p:cNvPr name="TextBox 7" id="7"/>
          <p:cNvSpPr txBox="true"/>
          <p:nvPr/>
        </p:nvSpPr>
        <p:spPr>
          <a:xfrm rot="0">
            <a:off x="3984326" y="864686"/>
            <a:ext cx="6024562" cy="1297275"/>
          </a:xfrm>
          <a:prstGeom prst="rect">
            <a:avLst/>
          </a:prstGeom>
        </p:spPr>
        <p:txBody>
          <a:bodyPr anchor="t" rtlCol="false" tIns="0" lIns="0" bIns="0" rIns="0">
            <a:spAutoFit/>
          </a:bodyPr>
          <a:lstStyle/>
          <a:p>
            <a:pPr algn="ctr">
              <a:lnSpc>
                <a:spcPts val="10396"/>
              </a:lnSpc>
              <a:spcBef>
                <a:spcPct val="0"/>
              </a:spcBef>
            </a:pPr>
            <a:r>
              <a:rPr lang="en-US" b="true" sz="7426">
                <a:solidFill>
                  <a:srgbClr val="000000"/>
                </a:solidFill>
                <a:latin typeface="Times New Roman Bold"/>
                <a:ea typeface="Times New Roman Bold"/>
                <a:cs typeface="Times New Roman Bold"/>
                <a:sym typeface="Times New Roman Bold"/>
              </a:rPr>
              <a:t>Demonstration</a:t>
            </a:r>
          </a:p>
        </p:txBody>
      </p:sp>
      <p:sp>
        <p:nvSpPr>
          <p:cNvPr name="TextBox 8" id="8"/>
          <p:cNvSpPr txBox="true"/>
          <p:nvPr/>
        </p:nvSpPr>
        <p:spPr>
          <a:xfrm rot="0">
            <a:off x="12089585" y="8418977"/>
            <a:ext cx="4950500" cy="582930"/>
          </a:xfrm>
          <a:prstGeom prst="rect">
            <a:avLst/>
          </a:prstGeom>
        </p:spPr>
        <p:txBody>
          <a:bodyPr anchor="t" rtlCol="false" tIns="0" lIns="0" bIns="0" rIns="0">
            <a:spAutoFit/>
          </a:bodyPr>
          <a:lstStyle/>
          <a:p>
            <a:pPr algn="ctr">
              <a:lnSpc>
                <a:spcPts val="4620"/>
              </a:lnSpc>
              <a:spcBef>
                <a:spcPct val="0"/>
              </a:spcBef>
            </a:pPr>
            <a:r>
              <a:rPr lang="en-US" b="true" sz="3300">
                <a:solidFill>
                  <a:srgbClr val="000000"/>
                </a:solidFill>
                <a:latin typeface="Times New Roman Bold"/>
                <a:ea typeface="Times New Roman Bold"/>
                <a:cs typeface="Times New Roman Bold"/>
                <a:sym typeface="Times New Roman Bold"/>
              </a:rPr>
              <a:t>Bottle Filter Demonstration</a:t>
            </a:r>
          </a:p>
        </p:txBody>
      </p:sp>
      <p:sp>
        <p:nvSpPr>
          <p:cNvPr name="TextBox 9" id="9"/>
          <p:cNvSpPr txBox="true"/>
          <p:nvPr/>
        </p:nvSpPr>
        <p:spPr>
          <a:xfrm rot="0">
            <a:off x="4005172" y="8418977"/>
            <a:ext cx="4529138" cy="582930"/>
          </a:xfrm>
          <a:prstGeom prst="rect">
            <a:avLst/>
          </a:prstGeom>
        </p:spPr>
        <p:txBody>
          <a:bodyPr anchor="t" rtlCol="false" tIns="0" lIns="0" bIns="0" rIns="0">
            <a:spAutoFit/>
          </a:bodyPr>
          <a:lstStyle/>
          <a:p>
            <a:pPr algn="ctr">
              <a:lnSpc>
                <a:spcPts val="4620"/>
              </a:lnSpc>
              <a:spcBef>
                <a:spcPct val="0"/>
              </a:spcBef>
            </a:pPr>
            <a:r>
              <a:rPr lang="en-US" b="true" sz="3300">
                <a:solidFill>
                  <a:srgbClr val="000000"/>
                </a:solidFill>
                <a:latin typeface="Times New Roman Bold"/>
                <a:ea typeface="Times New Roman Bold"/>
                <a:cs typeface="Times New Roman Bold"/>
                <a:sym typeface="Times New Roman Bold"/>
              </a:rPr>
              <a:t>Hands-on Demonstration</a:t>
            </a:r>
          </a:p>
        </p:txBody>
      </p:sp>
      <p:sp>
        <p:nvSpPr>
          <p:cNvPr name="Freeform 10" id="10"/>
          <p:cNvSpPr/>
          <p:nvPr/>
        </p:nvSpPr>
        <p:spPr>
          <a:xfrm flipH="false" flipV="false" rot="0">
            <a:off x="0" y="9258300"/>
            <a:ext cx="18288000" cy="1011582"/>
          </a:xfrm>
          <a:custGeom>
            <a:avLst/>
            <a:gdLst/>
            <a:ahLst/>
            <a:cxnLst/>
            <a:rect r="r" b="b" t="t" l="l"/>
            <a:pathLst>
              <a:path h="1011582" w="18288000">
                <a:moveTo>
                  <a:pt x="0" y="0"/>
                </a:moveTo>
                <a:lnTo>
                  <a:pt x="18288000" y="0"/>
                </a:lnTo>
                <a:lnTo>
                  <a:pt x="18288000" y="1011582"/>
                </a:lnTo>
                <a:lnTo>
                  <a:pt x="0" y="1011582"/>
                </a:lnTo>
                <a:lnTo>
                  <a:pt x="0" y="0"/>
                </a:lnTo>
                <a:close/>
              </a:path>
            </a:pathLst>
          </a:custGeom>
          <a:blipFill>
            <a:blip r:embed="rId6"/>
            <a:stretch>
              <a:fillRect l="-20856" t="0" r="-752" b="-1680"/>
            </a:stretch>
          </a:blipFill>
        </p:spPr>
      </p:sp>
      <p:sp>
        <p:nvSpPr>
          <p:cNvPr name="TextBox 11" id="11"/>
          <p:cNvSpPr txBox="true"/>
          <p:nvPr/>
        </p:nvSpPr>
        <p:spPr>
          <a:xfrm rot="0">
            <a:off x="731401" y="9365816"/>
            <a:ext cx="152400" cy="228600"/>
          </a:xfrm>
          <a:prstGeom prst="rect">
            <a:avLst/>
          </a:prstGeom>
        </p:spPr>
        <p:txBody>
          <a:bodyPr anchor="t" rtlCol="false" tIns="0" lIns="0" bIns="0" rIns="0" wrap="none">
            <a:spAutoFit/>
          </a:bodyPr>
          <a:lstStyle/>
          <a:p>
            <a:pPr algn="ctr">
              <a:lnSpc>
                <a:spcPts val="5970"/>
              </a:lnSpc>
              <a:spcBef>
                <a:spcPct val="0"/>
              </a:spcBef>
            </a:pPr>
            <a:r>
              <a:rPr lang="en-US" sz="4264">
                <a:solidFill>
                  <a:srgbClr val="FFFFFF"/>
                </a:solidFill>
                <a:latin typeface="Canva Sans"/>
                <a:ea typeface="Canva Sans"/>
                <a:cs typeface="Canva Sans"/>
                <a:sym typeface="Canva Sans"/>
              </a:rPr>
              <a:t>26</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81628" y="282798"/>
            <a:ext cx="1470709" cy="1792426"/>
          </a:xfrm>
          <a:custGeom>
            <a:avLst/>
            <a:gdLst/>
            <a:ahLst/>
            <a:cxnLst/>
            <a:rect r="r" b="b" t="t" l="l"/>
            <a:pathLst>
              <a:path h="1792426" w="1470709">
                <a:moveTo>
                  <a:pt x="0" y="0"/>
                </a:moveTo>
                <a:lnTo>
                  <a:pt x="1470708" y="0"/>
                </a:lnTo>
                <a:lnTo>
                  <a:pt x="1470708" y="1792426"/>
                </a:lnTo>
                <a:lnTo>
                  <a:pt x="0" y="1792426"/>
                </a:lnTo>
                <a:lnTo>
                  <a:pt x="0" y="0"/>
                </a:lnTo>
                <a:close/>
              </a:path>
            </a:pathLst>
          </a:custGeom>
          <a:blipFill>
            <a:blip r:embed="rId2"/>
            <a:stretch>
              <a:fillRect l="0" t="0" r="0" b="0"/>
            </a:stretch>
          </a:blipFill>
        </p:spPr>
      </p:sp>
      <p:sp>
        <p:nvSpPr>
          <p:cNvPr name="Freeform 3" id="3"/>
          <p:cNvSpPr/>
          <p:nvPr/>
        </p:nvSpPr>
        <p:spPr>
          <a:xfrm flipH="false" flipV="false" rot="0">
            <a:off x="1028700" y="2432119"/>
            <a:ext cx="16230600" cy="142018"/>
          </a:xfrm>
          <a:custGeom>
            <a:avLst/>
            <a:gdLst/>
            <a:ahLst/>
            <a:cxnLst/>
            <a:rect r="r" b="b" t="t" l="l"/>
            <a:pathLst>
              <a:path h="142018" w="16230600">
                <a:moveTo>
                  <a:pt x="0" y="0"/>
                </a:moveTo>
                <a:lnTo>
                  <a:pt x="16230600" y="0"/>
                </a:lnTo>
                <a:lnTo>
                  <a:pt x="16230600" y="142017"/>
                </a:lnTo>
                <a:lnTo>
                  <a:pt x="0" y="142017"/>
                </a:lnTo>
                <a:lnTo>
                  <a:pt x="0" y="0"/>
                </a:lnTo>
                <a:close/>
              </a:path>
            </a:pathLst>
          </a:custGeom>
          <a:blipFill>
            <a:blip r:embed="rId3"/>
            <a:stretch>
              <a:fillRect l="0" t="0" r="0" b="0"/>
            </a:stretch>
          </a:blipFill>
        </p:spPr>
      </p:sp>
      <p:sp>
        <p:nvSpPr>
          <p:cNvPr name="AutoShape 4" id="4"/>
          <p:cNvSpPr/>
          <p:nvPr/>
        </p:nvSpPr>
        <p:spPr>
          <a:xfrm>
            <a:off x="3469976" y="282798"/>
            <a:ext cx="0" cy="2084030"/>
          </a:xfrm>
          <a:prstGeom prst="line">
            <a:avLst/>
          </a:prstGeom>
          <a:ln cap="flat" w="38100">
            <a:solidFill>
              <a:srgbClr val="2E6417"/>
            </a:solidFill>
            <a:prstDash val="solid"/>
            <a:headEnd type="none" len="sm" w="sm"/>
            <a:tailEnd type="none" len="sm" w="sm"/>
          </a:ln>
        </p:spPr>
      </p:sp>
      <p:sp>
        <p:nvSpPr>
          <p:cNvPr name="Freeform 5" id="5"/>
          <p:cNvSpPr/>
          <p:nvPr/>
        </p:nvSpPr>
        <p:spPr>
          <a:xfrm flipH="false" flipV="false" rot="0">
            <a:off x="0" y="9258300"/>
            <a:ext cx="18288000" cy="1011582"/>
          </a:xfrm>
          <a:custGeom>
            <a:avLst/>
            <a:gdLst/>
            <a:ahLst/>
            <a:cxnLst/>
            <a:rect r="r" b="b" t="t" l="l"/>
            <a:pathLst>
              <a:path h="1011582" w="18288000">
                <a:moveTo>
                  <a:pt x="0" y="0"/>
                </a:moveTo>
                <a:lnTo>
                  <a:pt x="18288000" y="0"/>
                </a:lnTo>
                <a:lnTo>
                  <a:pt x="18288000" y="1011582"/>
                </a:lnTo>
                <a:lnTo>
                  <a:pt x="0" y="1011582"/>
                </a:lnTo>
                <a:lnTo>
                  <a:pt x="0" y="0"/>
                </a:lnTo>
                <a:close/>
              </a:path>
            </a:pathLst>
          </a:custGeom>
          <a:blipFill>
            <a:blip r:embed="rId4"/>
            <a:stretch>
              <a:fillRect l="-20856" t="0" r="-752" b="-1680"/>
            </a:stretch>
          </a:blipFill>
        </p:spPr>
      </p:sp>
      <p:sp>
        <p:nvSpPr>
          <p:cNvPr name="Freeform 6" id="6"/>
          <p:cNvSpPr/>
          <p:nvPr/>
        </p:nvSpPr>
        <p:spPr>
          <a:xfrm flipH="false" flipV="false" rot="0">
            <a:off x="10405473" y="3564896"/>
            <a:ext cx="7473301" cy="4203732"/>
          </a:xfrm>
          <a:custGeom>
            <a:avLst/>
            <a:gdLst/>
            <a:ahLst/>
            <a:cxnLst/>
            <a:rect r="r" b="b" t="t" l="l"/>
            <a:pathLst>
              <a:path h="4203732" w="7473301">
                <a:moveTo>
                  <a:pt x="0" y="0"/>
                </a:moveTo>
                <a:lnTo>
                  <a:pt x="7473301" y="0"/>
                </a:lnTo>
                <a:lnTo>
                  <a:pt x="7473301" y="4203732"/>
                </a:lnTo>
                <a:lnTo>
                  <a:pt x="0" y="4203732"/>
                </a:lnTo>
                <a:lnTo>
                  <a:pt x="0" y="0"/>
                </a:lnTo>
                <a:close/>
              </a:path>
            </a:pathLst>
          </a:custGeom>
          <a:blipFill>
            <a:blip r:embed="rId5"/>
            <a:stretch>
              <a:fillRect l="0" t="0" r="0" b="0"/>
            </a:stretch>
          </a:blipFill>
        </p:spPr>
      </p:sp>
      <p:sp>
        <p:nvSpPr>
          <p:cNvPr name="TextBox 7" id="7"/>
          <p:cNvSpPr txBox="true"/>
          <p:nvPr/>
        </p:nvSpPr>
        <p:spPr>
          <a:xfrm rot="0">
            <a:off x="731401" y="2623842"/>
            <a:ext cx="8842553" cy="6000115"/>
          </a:xfrm>
          <a:prstGeom prst="rect">
            <a:avLst/>
          </a:prstGeom>
        </p:spPr>
        <p:txBody>
          <a:bodyPr anchor="t" rtlCol="false" tIns="0" lIns="0" bIns="0" rIns="0">
            <a:spAutoFit/>
          </a:bodyPr>
          <a:lstStyle/>
          <a:p>
            <a:pPr algn="just" marL="734061" indent="-367031" lvl="1">
              <a:lnSpc>
                <a:spcPts val="4760"/>
              </a:lnSpc>
              <a:buFont typeface="Arial"/>
              <a:buChar char="•"/>
            </a:pPr>
            <a:r>
              <a:rPr lang="en-US" sz="3400">
                <a:solidFill>
                  <a:srgbClr val="000000"/>
                </a:solidFill>
                <a:latin typeface="Times New Roman"/>
                <a:ea typeface="Times New Roman"/>
                <a:cs typeface="Times New Roman"/>
                <a:sym typeface="Times New Roman"/>
              </a:rPr>
              <a:t>The PHC doctor was requested to track and record waterborne diseases such as typhoid, diarrhoea, and cholera in the village.</a:t>
            </a:r>
          </a:p>
          <a:p>
            <a:pPr algn="just" marL="734061" indent="-367031" lvl="1">
              <a:lnSpc>
                <a:spcPts val="4760"/>
              </a:lnSpc>
              <a:buFont typeface="Arial"/>
              <a:buChar char="•"/>
            </a:pPr>
            <a:r>
              <a:rPr lang="en-US" sz="3400">
                <a:solidFill>
                  <a:srgbClr val="000000"/>
                </a:solidFill>
                <a:latin typeface="Times New Roman"/>
                <a:ea typeface="Times New Roman"/>
                <a:cs typeface="Times New Roman"/>
                <a:sym typeface="Times New Roman"/>
              </a:rPr>
              <a:t>The doctor was also asked to encourage villagers to drink water only from the filtration unit, reinforcing safe hygiene practices.</a:t>
            </a:r>
          </a:p>
          <a:p>
            <a:pPr algn="just" marL="734061" indent="-367031" lvl="1">
              <a:lnSpc>
                <a:spcPts val="4760"/>
              </a:lnSpc>
              <a:buFont typeface="Arial"/>
              <a:buChar char="•"/>
            </a:pPr>
            <a:r>
              <a:rPr lang="en-US" sz="3400">
                <a:solidFill>
                  <a:srgbClr val="000000"/>
                </a:solidFill>
                <a:latin typeface="Times New Roman"/>
                <a:ea typeface="Times New Roman"/>
                <a:cs typeface="Times New Roman"/>
                <a:sym typeface="Times New Roman"/>
              </a:rPr>
              <a:t>According to the doctor, it would take approximately one year to observe a clear and measurable reduction in waterborne disease cases.</a:t>
            </a:r>
          </a:p>
        </p:txBody>
      </p:sp>
      <p:sp>
        <p:nvSpPr>
          <p:cNvPr name="TextBox 8" id="8"/>
          <p:cNvSpPr txBox="true"/>
          <p:nvPr/>
        </p:nvSpPr>
        <p:spPr>
          <a:xfrm rot="0">
            <a:off x="3984326" y="810304"/>
            <a:ext cx="7594699" cy="1264920"/>
          </a:xfrm>
          <a:prstGeom prst="rect">
            <a:avLst/>
          </a:prstGeom>
        </p:spPr>
        <p:txBody>
          <a:bodyPr anchor="t" rtlCol="false" tIns="0" lIns="0" bIns="0" rIns="0">
            <a:spAutoFit/>
          </a:bodyPr>
          <a:lstStyle/>
          <a:p>
            <a:pPr algn="ctr">
              <a:lnSpc>
                <a:spcPts val="10080"/>
              </a:lnSpc>
              <a:spcBef>
                <a:spcPct val="0"/>
              </a:spcBef>
            </a:pPr>
            <a:r>
              <a:rPr lang="en-US" b="true" sz="7200">
                <a:solidFill>
                  <a:srgbClr val="000000"/>
                </a:solidFill>
                <a:latin typeface="Times New Roman Bold"/>
                <a:ea typeface="Times New Roman Bold"/>
                <a:cs typeface="Times New Roman Bold"/>
                <a:sym typeface="Times New Roman Bold"/>
              </a:rPr>
              <a:t>PHC Collaboration</a:t>
            </a:r>
          </a:p>
        </p:txBody>
      </p:sp>
      <p:sp>
        <p:nvSpPr>
          <p:cNvPr name="TextBox 9" id="9"/>
          <p:cNvSpPr txBox="true"/>
          <p:nvPr/>
        </p:nvSpPr>
        <p:spPr>
          <a:xfrm rot="0">
            <a:off x="731401" y="9365816"/>
            <a:ext cx="152400" cy="228600"/>
          </a:xfrm>
          <a:prstGeom prst="rect">
            <a:avLst/>
          </a:prstGeom>
        </p:spPr>
        <p:txBody>
          <a:bodyPr anchor="t" rtlCol="false" tIns="0" lIns="0" bIns="0" rIns="0" wrap="none">
            <a:spAutoFit/>
          </a:bodyPr>
          <a:lstStyle/>
          <a:p>
            <a:pPr algn="ctr">
              <a:lnSpc>
                <a:spcPts val="5970"/>
              </a:lnSpc>
              <a:spcBef>
                <a:spcPct val="0"/>
              </a:spcBef>
            </a:pPr>
            <a:r>
              <a:rPr lang="en-US" sz="4264">
                <a:solidFill>
                  <a:srgbClr val="FFFFFF"/>
                </a:solidFill>
                <a:latin typeface="Canva Sans"/>
                <a:ea typeface="Canva Sans"/>
                <a:cs typeface="Canva Sans"/>
                <a:sym typeface="Canva Sans"/>
              </a:rPr>
              <a:t>27</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81628" y="282798"/>
            <a:ext cx="1470709" cy="1792426"/>
          </a:xfrm>
          <a:custGeom>
            <a:avLst/>
            <a:gdLst/>
            <a:ahLst/>
            <a:cxnLst/>
            <a:rect r="r" b="b" t="t" l="l"/>
            <a:pathLst>
              <a:path h="1792426" w="1470709">
                <a:moveTo>
                  <a:pt x="0" y="0"/>
                </a:moveTo>
                <a:lnTo>
                  <a:pt x="1470708" y="0"/>
                </a:lnTo>
                <a:lnTo>
                  <a:pt x="1470708" y="1792426"/>
                </a:lnTo>
                <a:lnTo>
                  <a:pt x="0" y="1792426"/>
                </a:lnTo>
                <a:lnTo>
                  <a:pt x="0" y="0"/>
                </a:lnTo>
                <a:close/>
              </a:path>
            </a:pathLst>
          </a:custGeom>
          <a:blipFill>
            <a:blip r:embed="rId2"/>
            <a:stretch>
              <a:fillRect l="0" t="0" r="0" b="0"/>
            </a:stretch>
          </a:blipFill>
        </p:spPr>
      </p:sp>
      <p:sp>
        <p:nvSpPr>
          <p:cNvPr name="Freeform 3" id="3"/>
          <p:cNvSpPr/>
          <p:nvPr/>
        </p:nvSpPr>
        <p:spPr>
          <a:xfrm flipH="false" flipV="false" rot="0">
            <a:off x="1028700" y="2432119"/>
            <a:ext cx="16230600" cy="142018"/>
          </a:xfrm>
          <a:custGeom>
            <a:avLst/>
            <a:gdLst/>
            <a:ahLst/>
            <a:cxnLst/>
            <a:rect r="r" b="b" t="t" l="l"/>
            <a:pathLst>
              <a:path h="142018" w="16230600">
                <a:moveTo>
                  <a:pt x="0" y="0"/>
                </a:moveTo>
                <a:lnTo>
                  <a:pt x="16230600" y="0"/>
                </a:lnTo>
                <a:lnTo>
                  <a:pt x="16230600" y="142017"/>
                </a:lnTo>
                <a:lnTo>
                  <a:pt x="0" y="142017"/>
                </a:lnTo>
                <a:lnTo>
                  <a:pt x="0" y="0"/>
                </a:lnTo>
                <a:close/>
              </a:path>
            </a:pathLst>
          </a:custGeom>
          <a:blipFill>
            <a:blip r:embed="rId3"/>
            <a:stretch>
              <a:fillRect l="0" t="0" r="0" b="0"/>
            </a:stretch>
          </a:blipFill>
        </p:spPr>
      </p:sp>
      <p:sp>
        <p:nvSpPr>
          <p:cNvPr name="AutoShape 4" id="4"/>
          <p:cNvSpPr/>
          <p:nvPr/>
        </p:nvSpPr>
        <p:spPr>
          <a:xfrm>
            <a:off x="3469976" y="282798"/>
            <a:ext cx="0" cy="2084030"/>
          </a:xfrm>
          <a:prstGeom prst="line">
            <a:avLst/>
          </a:prstGeom>
          <a:ln cap="flat" w="38100">
            <a:solidFill>
              <a:srgbClr val="2E6417"/>
            </a:solidFill>
            <a:prstDash val="solid"/>
            <a:headEnd type="none" len="sm" w="sm"/>
            <a:tailEnd type="none" len="sm" w="sm"/>
          </a:ln>
        </p:spPr>
      </p:sp>
      <p:sp>
        <p:nvSpPr>
          <p:cNvPr name="TextBox 5" id="5"/>
          <p:cNvSpPr txBox="true"/>
          <p:nvPr/>
        </p:nvSpPr>
        <p:spPr>
          <a:xfrm rot="0">
            <a:off x="859016" y="2407877"/>
            <a:ext cx="16569969" cy="6848962"/>
          </a:xfrm>
          <a:prstGeom prst="rect">
            <a:avLst/>
          </a:prstGeom>
        </p:spPr>
        <p:txBody>
          <a:bodyPr anchor="t" rtlCol="false" tIns="0" lIns="0" bIns="0" rIns="0">
            <a:spAutoFit/>
          </a:bodyPr>
          <a:lstStyle/>
          <a:p>
            <a:pPr algn="l" marL="767745" indent="-383872" lvl="1">
              <a:lnSpc>
                <a:spcPts val="4978"/>
              </a:lnSpc>
              <a:buFont typeface="Arial"/>
              <a:buChar char="•"/>
            </a:pPr>
            <a:r>
              <a:rPr lang="en-US" sz="3556">
                <a:solidFill>
                  <a:srgbClr val="000000"/>
                </a:solidFill>
                <a:latin typeface="Times New Roman"/>
                <a:ea typeface="Times New Roman"/>
                <a:cs typeface="Times New Roman"/>
                <a:sym typeface="Times New Roman"/>
              </a:rPr>
              <a:t>The Jivamritam water filtration unit was successfully installed at the selected temple site.</a:t>
            </a:r>
          </a:p>
          <a:p>
            <a:pPr algn="l" marL="767745" indent="-383872" lvl="1">
              <a:lnSpc>
                <a:spcPts val="4978"/>
              </a:lnSpc>
              <a:buFont typeface="Arial"/>
              <a:buChar char="•"/>
            </a:pPr>
            <a:r>
              <a:rPr lang="en-US" sz="3556">
                <a:solidFill>
                  <a:srgbClr val="000000"/>
                </a:solidFill>
                <a:latin typeface="Times New Roman"/>
                <a:ea typeface="Times New Roman"/>
                <a:cs typeface="Times New Roman"/>
                <a:sym typeface="Times New Roman"/>
              </a:rPr>
              <a:t>The system consists of two tanks - one for raw water storage and another for filtered water output, ensuring continuous supply and storage management.</a:t>
            </a:r>
          </a:p>
          <a:p>
            <a:pPr algn="l" marL="767745" indent="-383872" lvl="1">
              <a:lnSpc>
                <a:spcPts val="4978"/>
              </a:lnSpc>
              <a:buFont typeface="Arial"/>
              <a:buChar char="•"/>
            </a:pPr>
            <a:r>
              <a:rPr lang="en-US" sz="3556">
                <a:solidFill>
                  <a:srgbClr val="000000"/>
                </a:solidFill>
                <a:latin typeface="Times New Roman"/>
                <a:ea typeface="Times New Roman"/>
                <a:cs typeface="Times New Roman"/>
                <a:sym typeface="Times New Roman"/>
              </a:rPr>
              <a:t>The filter design includes a three-stage purification system:</a:t>
            </a:r>
          </a:p>
          <a:p>
            <a:pPr algn="l" marL="1535489" indent="-511830" lvl="2">
              <a:lnSpc>
                <a:spcPts val="4978"/>
              </a:lnSpc>
              <a:buAutoNum type="alphaLcPeriod" startAt="1"/>
            </a:pPr>
            <a:r>
              <a:rPr lang="en-US" sz="3556">
                <a:solidFill>
                  <a:srgbClr val="000000"/>
                </a:solidFill>
                <a:latin typeface="Times New Roman"/>
                <a:ea typeface="Times New Roman"/>
                <a:cs typeface="Times New Roman"/>
                <a:sym typeface="Times New Roman"/>
              </a:rPr>
              <a:t>Pre-sediment filter – removes larger particles and suspended impurities.</a:t>
            </a:r>
          </a:p>
          <a:p>
            <a:pPr algn="l" marL="1535489" indent="-511830" lvl="2">
              <a:lnSpc>
                <a:spcPts val="4978"/>
              </a:lnSpc>
              <a:buAutoNum type="alphaLcPeriod" startAt="1"/>
            </a:pPr>
            <a:r>
              <a:rPr lang="en-US" sz="3556">
                <a:solidFill>
                  <a:srgbClr val="000000"/>
                </a:solidFill>
                <a:latin typeface="Times New Roman"/>
                <a:ea typeface="Times New Roman"/>
                <a:cs typeface="Times New Roman"/>
                <a:sym typeface="Times New Roman"/>
              </a:rPr>
              <a:t>Micron Filter - mechanical filter that removes particles</a:t>
            </a:r>
          </a:p>
          <a:p>
            <a:pPr algn="l" marL="1535489" indent="-511830" lvl="2">
              <a:lnSpc>
                <a:spcPts val="4978"/>
              </a:lnSpc>
              <a:buAutoNum type="alphaLcPeriod" startAt="1"/>
            </a:pPr>
            <a:r>
              <a:rPr lang="en-US" sz="3556">
                <a:solidFill>
                  <a:srgbClr val="000000"/>
                </a:solidFill>
                <a:latin typeface="Times New Roman"/>
                <a:ea typeface="Times New Roman"/>
                <a:cs typeface="Times New Roman"/>
                <a:sym typeface="Times New Roman"/>
              </a:rPr>
              <a:t>UV filtration unit – disinfects water by killing bacteria and pathogens.</a:t>
            </a:r>
          </a:p>
          <a:p>
            <a:pPr algn="l" marL="767745" indent="-383872" lvl="1">
              <a:lnSpc>
                <a:spcPts val="4978"/>
              </a:lnSpc>
              <a:buFont typeface="Arial"/>
              <a:buChar char="•"/>
            </a:pPr>
            <a:r>
              <a:rPr lang="en-US" sz="3556">
                <a:solidFill>
                  <a:srgbClr val="000000"/>
                </a:solidFill>
                <a:latin typeface="Times New Roman"/>
                <a:ea typeface="Times New Roman"/>
                <a:cs typeface="Times New Roman"/>
                <a:sym typeface="Times New Roman"/>
              </a:rPr>
              <a:t>The total filtration capacity is approximately 1,000 litres per day, adequate for meeting the daily water needs of all 70 households in the village.</a:t>
            </a:r>
          </a:p>
          <a:p>
            <a:pPr algn="l">
              <a:lnSpc>
                <a:spcPts val="4417"/>
              </a:lnSpc>
              <a:spcBef>
                <a:spcPct val="0"/>
              </a:spcBef>
            </a:pPr>
          </a:p>
        </p:txBody>
      </p:sp>
      <p:sp>
        <p:nvSpPr>
          <p:cNvPr name="Freeform 6" id="6"/>
          <p:cNvSpPr/>
          <p:nvPr/>
        </p:nvSpPr>
        <p:spPr>
          <a:xfrm flipH="false" flipV="false" rot="0">
            <a:off x="0" y="9258300"/>
            <a:ext cx="18288000" cy="1011582"/>
          </a:xfrm>
          <a:custGeom>
            <a:avLst/>
            <a:gdLst/>
            <a:ahLst/>
            <a:cxnLst/>
            <a:rect r="r" b="b" t="t" l="l"/>
            <a:pathLst>
              <a:path h="1011582" w="18288000">
                <a:moveTo>
                  <a:pt x="0" y="0"/>
                </a:moveTo>
                <a:lnTo>
                  <a:pt x="18288000" y="0"/>
                </a:lnTo>
                <a:lnTo>
                  <a:pt x="18288000" y="1011582"/>
                </a:lnTo>
                <a:lnTo>
                  <a:pt x="0" y="1011582"/>
                </a:lnTo>
                <a:lnTo>
                  <a:pt x="0" y="0"/>
                </a:lnTo>
                <a:close/>
              </a:path>
            </a:pathLst>
          </a:custGeom>
          <a:blipFill>
            <a:blip r:embed="rId4"/>
            <a:stretch>
              <a:fillRect l="-20856" t="0" r="-752" b="-1680"/>
            </a:stretch>
          </a:blipFill>
        </p:spPr>
      </p:sp>
      <p:sp>
        <p:nvSpPr>
          <p:cNvPr name="TextBox 7" id="7"/>
          <p:cNvSpPr txBox="true"/>
          <p:nvPr/>
        </p:nvSpPr>
        <p:spPr>
          <a:xfrm rot="0">
            <a:off x="731401" y="9365816"/>
            <a:ext cx="152400" cy="228600"/>
          </a:xfrm>
          <a:prstGeom prst="rect">
            <a:avLst/>
          </a:prstGeom>
        </p:spPr>
        <p:txBody>
          <a:bodyPr anchor="t" rtlCol="false" tIns="0" lIns="0" bIns="0" rIns="0" wrap="none">
            <a:spAutoFit/>
          </a:bodyPr>
          <a:lstStyle/>
          <a:p>
            <a:pPr algn="ctr">
              <a:lnSpc>
                <a:spcPts val="5970"/>
              </a:lnSpc>
              <a:spcBef>
                <a:spcPct val="0"/>
              </a:spcBef>
            </a:pPr>
            <a:r>
              <a:rPr lang="en-US" sz="4264">
                <a:solidFill>
                  <a:srgbClr val="FFFFFF"/>
                </a:solidFill>
                <a:latin typeface="Canva Sans"/>
                <a:ea typeface="Canva Sans"/>
                <a:cs typeface="Canva Sans"/>
                <a:sym typeface="Canva Sans"/>
              </a:rPr>
              <a:t>28</a:t>
            </a:r>
          </a:p>
        </p:txBody>
      </p:sp>
      <p:sp>
        <p:nvSpPr>
          <p:cNvPr name="TextBox 8" id="8"/>
          <p:cNvSpPr txBox="true"/>
          <p:nvPr/>
        </p:nvSpPr>
        <p:spPr>
          <a:xfrm rot="0">
            <a:off x="3984326" y="810304"/>
            <a:ext cx="6248102" cy="1264920"/>
          </a:xfrm>
          <a:prstGeom prst="rect">
            <a:avLst/>
          </a:prstGeom>
        </p:spPr>
        <p:txBody>
          <a:bodyPr anchor="t" rtlCol="false" tIns="0" lIns="0" bIns="0" rIns="0">
            <a:spAutoFit/>
          </a:bodyPr>
          <a:lstStyle/>
          <a:p>
            <a:pPr algn="ctr">
              <a:lnSpc>
                <a:spcPts val="10080"/>
              </a:lnSpc>
              <a:spcBef>
                <a:spcPct val="0"/>
              </a:spcBef>
            </a:pPr>
            <a:r>
              <a:rPr lang="en-US" b="true" sz="7200">
                <a:solidFill>
                  <a:srgbClr val="000000"/>
                </a:solidFill>
                <a:latin typeface="Times New Roman Bold"/>
                <a:ea typeface="Times New Roman Bold"/>
                <a:cs typeface="Times New Roman Bold"/>
                <a:sym typeface="Times New Roman Bold"/>
              </a:rPr>
              <a:t>Implementation</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81628" y="282798"/>
            <a:ext cx="1470709" cy="1792426"/>
          </a:xfrm>
          <a:custGeom>
            <a:avLst/>
            <a:gdLst/>
            <a:ahLst/>
            <a:cxnLst/>
            <a:rect r="r" b="b" t="t" l="l"/>
            <a:pathLst>
              <a:path h="1792426" w="1470709">
                <a:moveTo>
                  <a:pt x="0" y="0"/>
                </a:moveTo>
                <a:lnTo>
                  <a:pt x="1470708" y="0"/>
                </a:lnTo>
                <a:lnTo>
                  <a:pt x="1470708" y="1792426"/>
                </a:lnTo>
                <a:lnTo>
                  <a:pt x="0" y="1792426"/>
                </a:lnTo>
                <a:lnTo>
                  <a:pt x="0" y="0"/>
                </a:lnTo>
                <a:close/>
              </a:path>
            </a:pathLst>
          </a:custGeom>
          <a:blipFill>
            <a:blip r:embed="rId2"/>
            <a:stretch>
              <a:fillRect l="0" t="0" r="0" b="0"/>
            </a:stretch>
          </a:blipFill>
        </p:spPr>
      </p:sp>
      <p:sp>
        <p:nvSpPr>
          <p:cNvPr name="Freeform 3" id="3"/>
          <p:cNvSpPr/>
          <p:nvPr/>
        </p:nvSpPr>
        <p:spPr>
          <a:xfrm flipH="false" flipV="false" rot="0">
            <a:off x="1028700" y="2432119"/>
            <a:ext cx="16230600" cy="142018"/>
          </a:xfrm>
          <a:custGeom>
            <a:avLst/>
            <a:gdLst/>
            <a:ahLst/>
            <a:cxnLst/>
            <a:rect r="r" b="b" t="t" l="l"/>
            <a:pathLst>
              <a:path h="142018" w="16230600">
                <a:moveTo>
                  <a:pt x="0" y="0"/>
                </a:moveTo>
                <a:lnTo>
                  <a:pt x="16230600" y="0"/>
                </a:lnTo>
                <a:lnTo>
                  <a:pt x="16230600" y="142017"/>
                </a:lnTo>
                <a:lnTo>
                  <a:pt x="0" y="142017"/>
                </a:lnTo>
                <a:lnTo>
                  <a:pt x="0" y="0"/>
                </a:lnTo>
                <a:close/>
              </a:path>
            </a:pathLst>
          </a:custGeom>
          <a:blipFill>
            <a:blip r:embed="rId3"/>
            <a:stretch>
              <a:fillRect l="0" t="0" r="0" b="0"/>
            </a:stretch>
          </a:blipFill>
        </p:spPr>
      </p:sp>
      <p:sp>
        <p:nvSpPr>
          <p:cNvPr name="AutoShape 4" id="4"/>
          <p:cNvSpPr/>
          <p:nvPr/>
        </p:nvSpPr>
        <p:spPr>
          <a:xfrm>
            <a:off x="3469976" y="282798"/>
            <a:ext cx="0" cy="2084030"/>
          </a:xfrm>
          <a:prstGeom prst="line">
            <a:avLst/>
          </a:prstGeom>
          <a:ln cap="flat" w="38100">
            <a:solidFill>
              <a:srgbClr val="2E6417"/>
            </a:solidFill>
            <a:prstDash val="solid"/>
            <a:headEnd type="none" len="sm" w="sm"/>
            <a:tailEnd type="none" len="sm" w="sm"/>
          </a:ln>
        </p:spPr>
      </p:sp>
      <p:sp>
        <p:nvSpPr>
          <p:cNvPr name="TextBox 5" id="5"/>
          <p:cNvSpPr txBox="true"/>
          <p:nvPr/>
        </p:nvSpPr>
        <p:spPr>
          <a:xfrm rot="0">
            <a:off x="1079695" y="2684442"/>
            <a:ext cx="16870278" cy="6965350"/>
          </a:xfrm>
          <a:prstGeom prst="rect">
            <a:avLst/>
          </a:prstGeom>
        </p:spPr>
        <p:txBody>
          <a:bodyPr anchor="t" rtlCol="false" tIns="0" lIns="0" bIns="0" rIns="0">
            <a:spAutoFit/>
          </a:bodyPr>
          <a:lstStyle/>
          <a:p>
            <a:pPr algn="l" marL="706778" indent="-353389" lvl="1">
              <a:lnSpc>
                <a:spcPts val="4583"/>
              </a:lnSpc>
              <a:buFont typeface="Arial"/>
              <a:buChar char="•"/>
            </a:pPr>
            <a:r>
              <a:rPr lang="en-US" sz="3273">
                <a:solidFill>
                  <a:srgbClr val="000000"/>
                </a:solidFill>
                <a:latin typeface="Times New Roman"/>
                <a:ea typeface="Times New Roman"/>
                <a:cs typeface="Times New Roman"/>
                <a:sym typeface="Times New Roman"/>
              </a:rPr>
              <a:t>The floor slab around the filter was concreted to enhance stability and maintain hygiene.</a:t>
            </a:r>
          </a:p>
          <a:p>
            <a:pPr algn="l" marL="706778" indent="-353389" lvl="1">
              <a:lnSpc>
                <a:spcPts val="4583"/>
              </a:lnSpc>
              <a:buFont typeface="Arial"/>
              <a:buChar char="•"/>
            </a:pPr>
            <a:r>
              <a:rPr lang="en-US" sz="3273">
                <a:solidFill>
                  <a:srgbClr val="000000"/>
                </a:solidFill>
                <a:latin typeface="Times New Roman"/>
                <a:ea typeface="Times New Roman"/>
                <a:cs typeface="Times New Roman"/>
                <a:sym typeface="Times New Roman"/>
              </a:rPr>
              <a:t>A raised platform was built to hold the water tank securely and prevent contamination.</a:t>
            </a:r>
          </a:p>
          <a:p>
            <a:pPr algn="l" marL="706778" indent="-353389" lvl="1">
              <a:lnSpc>
                <a:spcPts val="4583"/>
              </a:lnSpc>
              <a:buFont typeface="Arial"/>
              <a:buChar char="•"/>
            </a:pPr>
            <a:r>
              <a:rPr lang="en-US" sz="3273">
                <a:solidFill>
                  <a:srgbClr val="000000"/>
                </a:solidFill>
                <a:latin typeface="Times New Roman"/>
                <a:ea typeface="Times New Roman"/>
                <a:cs typeface="Times New Roman"/>
                <a:sym typeface="Times New Roman"/>
              </a:rPr>
              <a:t>The pipeline for the lower community was relocated to a new, easily accessible area based on their preference, ensuring equal access.</a:t>
            </a:r>
          </a:p>
          <a:p>
            <a:pPr algn="l" marL="706778" indent="-353389" lvl="1">
              <a:lnSpc>
                <a:spcPts val="4583"/>
              </a:lnSpc>
              <a:buFont typeface="Arial"/>
              <a:buChar char="•"/>
            </a:pPr>
            <a:r>
              <a:rPr lang="en-US" sz="3273">
                <a:solidFill>
                  <a:srgbClr val="000000"/>
                </a:solidFill>
                <a:latin typeface="Times New Roman"/>
                <a:ea typeface="Times New Roman"/>
                <a:cs typeface="Times New Roman"/>
                <a:sym typeface="Times New Roman"/>
              </a:rPr>
              <a:t>Small concrete platforms were constructed near the outlets for villagers to conveniently place water buckets during collection.</a:t>
            </a:r>
          </a:p>
          <a:p>
            <a:pPr algn="l" marL="706778" indent="-353389" lvl="1">
              <a:lnSpc>
                <a:spcPts val="4583"/>
              </a:lnSpc>
              <a:buFont typeface="Arial"/>
              <a:buChar char="•"/>
            </a:pPr>
            <a:r>
              <a:rPr lang="en-US" sz="3273">
                <a:solidFill>
                  <a:srgbClr val="000000"/>
                </a:solidFill>
                <a:latin typeface="Times New Roman"/>
                <a:ea typeface="Times New Roman"/>
                <a:cs typeface="Times New Roman"/>
                <a:sym typeface="Times New Roman"/>
              </a:rPr>
              <a:t>The surroundings were cleaned and leveled, and an awareness wall was prepared for educational posters.</a:t>
            </a:r>
          </a:p>
          <a:p>
            <a:pPr algn="l" marL="706778" indent="-353389" lvl="1">
              <a:lnSpc>
                <a:spcPts val="4583"/>
              </a:lnSpc>
              <a:buFont typeface="Arial"/>
              <a:buChar char="•"/>
            </a:pPr>
            <a:r>
              <a:rPr lang="en-US" sz="3273">
                <a:solidFill>
                  <a:srgbClr val="000000"/>
                </a:solidFill>
                <a:latin typeface="Times New Roman"/>
                <a:ea typeface="Times New Roman"/>
                <a:cs typeface="Times New Roman"/>
                <a:sym typeface="Times New Roman"/>
              </a:rPr>
              <a:t>Three awareness posters were designed and placed — two (91 × 91 cm) for the upper region outlets and one (73 × 86 cm) for the lower region — featuring slogans and visuals on hygiene, safe water use, and filter maintenance.</a:t>
            </a:r>
          </a:p>
          <a:p>
            <a:pPr algn="l">
              <a:lnSpc>
                <a:spcPts val="4583"/>
              </a:lnSpc>
              <a:spcBef>
                <a:spcPct val="0"/>
              </a:spcBef>
            </a:pPr>
          </a:p>
        </p:txBody>
      </p:sp>
      <p:sp>
        <p:nvSpPr>
          <p:cNvPr name="Freeform 6" id="6"/>
          <p:cNvSpPr/>
          <p:nvPr/>
        </p:nvSpPr>
        <p:spPr>
          <a:xfrm flipH="false" flipV="false" rot="0">
            <a:off x="0" y="9258300"/>
            <a:ext cx="18288000" cy="1011582"/>
          </a:xfrm>
          <a:custGeom>
            <a:avLst/>
            <a:gdLst/>
            <a:ahLst/>
            <a:cxnLst/>
            <a:rect r="r" b="b" t="t" l="l"/>
            <a:pathLst>
              <a:path h="1011582" w="18288000">
                <a:moveTo>
                  <a:pt x="0" y="0"/>
                </a:moveTo>
                <a:lnTo>
                  <a:pt x="18288000" y="0"/>
                </a:lnTo>
                <a:lnTo>
                  <a:pt x="18288000" y="1011582"/>
                </a:lnTo>
                <a:lnTo>
                  <a:pt x="0" y="1011582"/>
                </a:lnTo>
                <a:lnTo>
                  <a:pt x="0" y="0"/>
                </a:lnTo>
                <a:close/>
              </a:path>
            </a:pathLst>
          </a:custGeom>
          <a:blipFill>
            <a:blip r:embed="rId4"/>
            <a:stretch>
              <a:fillRect l="-20856" t="0" r="-752" b="-1680"/>
            </a:stretch>
          </a:blipFill>
        </p:spPr>
      </p:sp>
      <p:sp>
        <p:nvSpPr>
          <p:cNvPr name="TextBox 7" id="7"/>
          <p:cNvSpPr txBox="true"/>
          <p:nvPr/>
        </p:nvSpPr>
        <p:spPr>
          <a:xfrm rot="0">
            <a:off x="731401" y="9365816"/>
            <a:ext cx="152400" cy="228600"/>
          </a:xfrm>
          <a:prstGeom prst="rect">
            <a:avLst/>
          </a:prstGeom>
        </p:spPr>
        <p:txBody>
          <a:bodyPr anchor="t" rtlCol="false" tIns="0" lIns="0" bIns="0" rIns="0" wrap="none">
            <a:spAutoFit/>
          </a:bodyPr>
          <a:lstStyle/>
          <a:p>
            <a:pPr algn="ctr">
              <a:lnSpc>
                <a:spcPts val="5970"/>
              </a:lnSpc>
              <a:spcBef>
                <a:spcPct val="0"/>
              </a:spcBef>
            </a:pPr>
            <a:r>
              <a:rPr lang="en-US" sz="4264">
                <a:solidFill>
                  <a:srgbClr val="FFFFFF"/>
                </a:solidFill>
                <a:latin typeface="Canva Sans"/>
                <a:ea typeface="Canva Sans"/>
                <a:cs typeface="Canva Sans"/>
                <a:sym typeface="Canva Sans"/>
              </a:rPr>
              <a:t>29</a:t>
            </a:r>
          </a:p>
        </p:txBody>
      </p:sp>
      <p:sp>
        <p:nvSpPr>
          <p:cNvPr name="TextBox 8" id="8"/>
          <p:cNvSpPr txBox="true"/>
          <p:nvPr/>
        </p:nvSpPr>
        <p:spPr>
          <a:xfrm rot="0">
            <a:off x="3984326" y="810304"/>
            <a:ext cx="6248102" cy="1264920"/>
          </a:xfrm>
          <a:prstGeom prst="rect">
            <a:avLst/>
          </a:prstGeom>
        </p:spPr>
        <p:txBody>
          <a:bodyPr anchor="t" rtlCol="false" tIns="0" lIns="0" bIns="0" rIns="0">
            <a:spAutoFit/>
          </a:bodyPr>
          <a:lstStyle/>
          <a:p>
            <a:pPr algn="ctr">
              <a:lnSpc>
                <a:spcPts val="10080"/>
              </a:lnSpc>
              <a:spcBef>
                <a:spcPct val="0"/>
              </a:spcBef>
            </a:pPr>
            <a:r>
              <a:rPr lang="en-US" b="true" sz="7200">
                <a:solidFill>
                  <a:srgbClr val="000000"/>
                </a:solidFill>
                <a:latin typeface="Times New Roman Bold"/>
                <a:ea typeface="Times New Roman Bold"/>
                <a:cs typeface="Times New Roman Bold"/>
                <a:sym typeface="Times New Roman Bold"/>
              </a:rPr>
              <a:t>Implementation</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81628" y="282798"/>
            <a:ext cx="1470709" cy="1792426"/>
          </a:xfrm>
          <a:custGeom>
            <a:avLst/>
            <a:gdLst/>
            <a:ahLst/>
            <a:cxnLst/>
            <a:rect r="r" b="b" t="t" l="l"/>
            <a:pathLst>
              <a:path h="1792426" w="1470709">
                <a:moveTo>
                  <a:pt x="0" y="0"/>
                </a:moveTo>
                <a:lnTo>
                  <a:pt x="1470708" y="0"/>
                </a:lnTo>
                <a:lnTo>
                  <a:pt x="1470708" y="1792426"/>
                </a:lnTo>
                <a:lnTo>
                  <a:pt x="0" y="1792426"/>
                </a:lnTo>
                <a:lnTo>
                  <a:pt x="0" y="0"/>
                </a:lnTo>
                <a:close/>
              </a:path>
            </a:pathLst>
          </a:custGeom>
          <a:blipFill>
            <a:blip r:embed="rId2"/>
            <a:stretch>
              <a:fillRect l="0" t="0" r="0" b="0"/>
            </a:stretch>
          </a:blipFill>
        </p:spPr>
      </p:sp>
      <p:sp>
        <p:nvSpPr>
          <p:cNvPr name="Freeform 3" id="3"/>
          <p:cNvSpPr/>
          <p:nvPr/>
        </p:nvSpPr>
        <p:spPr>
          <a:xfrm flipH="false" flipV="false" rot="0">
            <a:off x="1028700" y="2432119"/>
            <a:ext cx="16230600" cy="142018"/>
          </a:xfrm>
          <a:custGeom>
            <a:avLst/>
            <a:gdLst/>
            <a:ahLst/>
            <a:cxnLst/>
            <a:rect r="r" b="b" t="t" l="l"/>
            <a:pathLst>
              <a:path h="142018" w="16230600">
                <a:moveTo>
                  <a:pt x="0" y="0"/>
                </a:moveTo>
                <a:lnTo>
                  <a:pt x="16230600" y="0"/>
                </a:lnTo>
                <a:lnTo>
                  <a:pt x="16230600" y="142017"/>
                </a:lnTo>
                <a:lnTo>
                  <a:pt x="0" y="142017"/>
                </a:lnTo>
                <a:lnTo>
                  <a:pt x="0" y="0"/>
                </a:lnTo>
                <a:close/>
              </a:path>
            </a:pathLst>
          </a:custGeom>
          <a:blipFill>
            <a:blip r:embed="rId3"/>
            <a:stretch>
              <a:fillRect l="0" t="0" r="0" b="0"/>
            </a:stretch>
          </a:blipFill>
        </p:spPr>
      </p:sp>
      <p:sp>
        <p:nvSpPr>
          <p:cNvPr name="AutoShape 4" id="4"/>
          <p:cNvSpPr/>
          <p:nvPr/>
        </p:nvSpPr>
        <p:spPr>
          <a:xfrm>
            <a:off x="3469976" y="282798"/>
            <a:ext cx="0" cy="2084030"/>
          </a:xfrm>
          <a:prstGeom prst="line">
            <a:avLst/>
          </a:prstGeom>
          <a:ln cap="flat" w="38100">
            <a:solidFill>
              <a:srgbClr val="2E6417"/>
            </a:solidFill>
            <a:prstDash val="solid"/>
            <a:headEnd type="none" len="sm" w="sm"/>
            <a:tailEnd type="none" len="sm" w="sm"/>
          </a:ln>
        </p:spPr>
      </p:sp>
      <p:sp>
        <p:nvSpPr>
          <p:cNvPr name="TextBox 5" id="5"/>
          <p:cNvSpPr txBox="true"/>
          <p:nvPr/>
        </p:nvSpPr>
        <p:spPr>
          <a:xfrm rot="0">
            <a:off x="217546" y="2873975"/>
            <a:ext cx="11522966" cy="6384325"/>
          </a:xfrm>
          <a:prstGeom prst="rect">
            <a:avLst/>
          </a:prstGeom>
        </p:spPr>
        <p:txBody>
          <a:bodyPr anchor="t" rtlCol="false" tIns="0" lIns="0" bIns="0" rIns="0">
            <a:spAutoFit/>
          </a:bodyPr>
          <a:lstStyle/>
          <a:p>
            <a:pPr algn="just" marL="706778" indent="-353389" lvl="1">
              <a:lnSpc>
                <a:spcPts val="4583"/>
              </a:lnSpc>
              <a:buFont typeface="Arial"/>
              <a:buChar char="•"/>
            </a:pPr>
            <a:r>
              <a:rPr lang="en-US" sz="3273">
                <a:solidFill>
                  <a:srgbClr val="000000"/>
                </a:solidFill>
                <a:latin typeface="Times New Roman"/>
                <a:ea typeface="Times New Roman"/>
                <a:cs typeface="Times New Roman"/>
                <a:sym typeface="Times New Roman"/>
              </a:rPr>
              <a:t>The Jivamritham water filtration system was inaugurated on 18 July 2025 in the presence of:  </a:t>
            </a:r>
            <a:r>
              <a:rPr lang="en-US" sz="3273">
                <a:solidFill>
                  <a:srgbClr val="000000"/>
                </a:solidFill>
                <a:latin typeface="Times New Roman"/>
                <a:ea typeface="Times New Roman"/>
                <a:cs typeface="Times New Roman"/>
                <a:sym typeface="Times New Roman"/>
              </a:rPr>
              <a:t>Panchayat members, ward representative, Water Management Committee, villagers, Jivamritham team, and Live-in-Labs student team.</a:t>
            </a:r>
          </a:p>
          <a:p>
            <a:pPr algn="just" marL="706778" indent="-353389" lvl="1">
              <a:lnSpc>
                <a:spcPts val="4583"/>
              </a:lnSpc>
              <a:buFont typeface="Arial"/>
              <a:buChar char="•"/>
            </a:pPr>
            <a:r>
              <a:rPr lang="en-US" sz="3273">
                <a:solidFill>
                  <a:srgbClr val="000000"/>
                </a:solidFill>
                <a:latin typeface="Times New Roman"/>
                <a:ea typeface="Times New Roman"/>
                <a:cs typeface="Times New Roman"/>
                <a:sym typeface="Times New Roman"/>
              </a:rPr>
              <a:t>During the inauguration, the team conducted live demonstrations showing how the filtration system operates, explaining each stage of the purification process and safety precautions.</a:t>
            </a:r>
          </a:p>
          <a:p>
            <a:pPr algn="just" marL="706778" indent="-353389" lvl="1">
              <a:lnSpc>
                <a:spcPts val="4583"/>
              </a:lnSpc>
              <a:buFont typeface="Arial"/>
              <a:buChar char="•"/>
            </a:pPr>
            <a:r>
              <a:rPr lang="en-US" sz="3273">
                <a:solidFill>
                  <a:srgbClr val="000000"/>
                </a:solidFill>
                <a:latin typeface="Times New Roman"/>
                <a:ea typeface="Times New Roman"/>
                <a:cs typeface="Times New Roman"/>
                <a:sym typeface="Times New Roman"/>
              </a:rPr>
              <a:t>Villagers were invited to observe and operate the unit themselves, helping them gain confidence in handling and maintaining the system.</a:t>
            </a:r>
          </a:p>
          <a:p>
            <a:pPr algn="just">
              <a:lnSpc>
                <a:spcPts val="4583"/>
              </a:lnSpc>
              <a:spcBef>
                <a:spcPct val="0"/>
              </a:spcBef>
            </a:pPr>
          </a:p>
        </p:txBody>
      </p:sp>
      <p:sp>
        <p:nvSpPr>
          <p:cNvPr name="Freeform 6" id="6"/>
          <p:cNvSpPr/>
          <p:nvPr/>
        </p:nvSpPr>
        <p:spPr>
          <a:xfrm flipH="false" flipV="false" rot="0">
            <a:off x="0" y="9258300"/>
            <a:ext cx="18288000" cy="1011582"/>
          </a:xfrm>
          <a:custGeom>
            <a:avLst/>
            <a:gdLst/>
            <a:ahLst/>
            <a:cxnLst/>
            <a:rect r="r" b="b" t="t" l="l"/>
            <a:pathLst>
              <a:path h="1011582" w="18288000">
                <a:moveTo>
                  <a:pt x="0" y="0"/>
                </a:moveTo>
                <a:lnTo>
                  <a:pt x="18288000" y="0"/>
                </a:lnTo>
                <a:lnTo>
                  <a:pt x="18288000" y="1011582"/>
                </a:lnTo>
                <a:lnTo>
                  <a:pt x="0" y="1011582"/>
                </a:lnTo>
                <a:lnTo>
                  <a:pt x="0" y="0"/>
                </a:lnTo>
                <a:close/>
              </a:path>
            </a:pathLst>
          </a:custGeom>
          <a:blipFill>
            <a:blip r:embed="rId4"/>
            <a:stretch>
              <a:fillRect l="-20856" t="0" r="-752" b="-1680"/>
            </a:stretch>
          </a:blipFill>
        </p:spPr>
      </p:sp>
      <p:sp>
        <p:nvSpPr>
          <p:cNvPr name="Freeform 7" id="7"/>
          <p:cNvSpPr/>
          <p:nvPr/>
        </p:nvSpPr>
        <p:spPr>
          <a:xfrm flipH="false" flipV="false" rot="0">
            <a:off x="12132398" y="3805670"/>
            <a:ext cx="5863389" cy="3298156"/>
          </a:xfrm>
          <a:custGeom>
            <a:avLst/>
            <a:gdLst/>
            <a:ahLst/>
            <a:cxnLst/>
            <a:rect r="r" b="b" t="t" l="l"/>
            <a:pathLst>
              <a:path h="3298156" w="5863389">
                <a:moveTo>
                  <a:pt x="0" y="0"/>
                </a:moveTo>
                <a:lnTo>
                  <a:pt x="5863389" y="0"/>
                </a:lnTo>
                <a:lnTo>
                  <a:pt x="5863389" y="3298157"/>
                </a:lnTo>
                <a:lnTo>
                  <a:pt x="0" y="3298157"/>
                </a:lnTo>
                <a:lnTo>
                  <a:pt x="0" y="0"/>
                </a:lnTo>
                <a:close/>
              </a:path>
            </a:pathLst>
          </a:custGeom>
          <a:blipFill>
            <a:blip r:embed="rId5"/>
            <a:stretch>
              <a:fillRect l="0" t="0" r="0" b="0"/>
            </a:stretch>
          </a:blipFill>
        </p:spPr>
      </p:sp>
      <p:sp>
        <p:nvSpPr>
          <p:cNvPr name="TextBox 8" id="8"/>
          <p:cNvSpPr txBox="true"/>
          <p:nvPr/>
        </p:nvSpPr>
        <p:spPr>
          <a:xfrm rot="0">
            <a:off x="731401" y="9365816"/>
            <a:ext cx="152400" cy="228600"/>
          </a:xfrm>
          <a:prstGeom prst="rect">
            <a:avLst/>
          </a:prstGeom>
        </p:spPr>
        <p:txBody>
          <a:bodyPr anchor="t" rtlCol="false" tIns="0" lIns="0" bIns="0" rIns="0" wrap="none">
            <a:spAutoFit/>
          </a:bodyPr>
          <a:lstStyle/>
          <a:p>
            <a:pPr algn="ctr">
              <a:lnSpc>
                <a:spcPts val="5970"/>
              </a:lnSpc>
              <a:spcBef>
                <a:spcPct val="0"/>
              </a:spcBef>
            </a:pPr>
            <a:r>
              <a:rPr lang="en-US" sz="4264">
                <a:solidFill>
                  <a:srgbClr val="FFFFFF"/>
                </a:solidFill>
                <a:latin typeface="Canva Sans"/>
                <a:ea typeface="Canva Sans"/>
                <a:cs typeface="Canva Sans"/>
                <a:sym typeface="Canva Sans"/>
              </a:rPr>
              <a:t>30</a:t>
            </a:r>
          </a:p>
        </p:txBody>
      </p:sp>
      <p:sp>
        <p:nvSpPr>
          <p:cNvPr name="TextBox 9" id="9"/>
          <p:cNvSpPr txBox="true"/>
          <p:nvPr/>
        </p:nvSpPr>
        <p:spPr>
          <a:xfrm rot="0">
            <a:off x="3730276" y="857250"/>
            <a:ext cx="8585002" cy="1264920"/>
          </a:xfrm>
          <a:prstGeom prst="rect">
            <a:avLst/>
          </a:prstGeom>
        </p:spPr>
        <p:txBody>
          <a:bodyPr anchor="t" rtlCol="false" tIns="0" lIns="0" bIns="0" rIns="0">
            <a:spAutoFit/>
          </a:bodyPr>
          <a:lstStyle/>
          <a:p>
            <a:pPr algn="ctr">
              <a:lnSpc>
                <a:spcPts val="10080"/>
              </a:lnSpc>
              <a:spcBef>
                <a:spcPct val="0"/>
              </a:spcBef>
            </a:pPr>
            <a:r>
              <a:rPr lang="en-US" b="true" sz="7200">
                <a:solidFill>
                  <a:srgbClr val="000000"/>
                </a:solidFill>
                <a:latin typeface="Times New Roman Bold"/>
                <a:ea typeface="Times New Roman Bold"/>
                <a:cs typeface="Times New Roman Bold"/>
                <a:sym typeface="Times New Roman Bold"/>
              </a:rPr>
              <a:t>Inauguration of Filter</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81628" y="282798"/>
            <a:ext cx="1470709" cy="1792426"/>
          </a:xfrm>
          <a:custGeom>
            <a:avLst/>
            <a:gdLst/>
            <a:ahLst/>
            <a:cxnLst/>
            <a:rect r="r" b="b" t="t" l="l"/>
            <a:pathLst>
              <a:path h="1792426" w="1470709">
                <a:moveTo>
                  <a:pt x="0" y="0"/>
                </a:moveTo>
                <a:lnTo>
                  <a:pt x="1470708" y="0"/>
                </a:lnTo>
                <a:lnTo>
                  <a:pt x="1470708" y="1792426"/>
                </a:lnTo>
                <a:lnTo>
                  <a:pt x="0" y="1792426"/>
                </a:lnTo>
                <a:lnTo>
                  <a:pt x="0" y="0"/>
                </a:lnTo>
                <a:close/>
              </a:path>
            </a:pathLst>
          </a:custGeom>
          <a:blipFill>
            <a:blip r:embed="rId2"/>
            <a:stretch>
              <a:fillRect l="0" t="0" r="0" b="0"/>
            </a:stretch>
          </a:blipFill>
        </p:spPr>
      </p:sp>
      <p:sp>
        <p:nvSpPr>
          <p:cNvPr name="Freeform 3" id="3"/>
          <p:cNvSpPr/>
          <p:nvPr/>
        </p:nvSpPr>
        <p:spPr>
          <a:xfrm flipH="false" flipV="false" rot="0">
            <a:off x="1028700" y="2432119"/>
            <a:ext cx="16230600" cy="142018"/>
          </a:xfrm>
          <a:custGeom>
            <a:avLst/>
            <a:gdLst/>
            <a:ahLst/>
            <a:cxnLst/>
            <a:rect r="r" b="b" t="t" l="l"/>
            <a:pathLst>
              <a:path h="142018" w="16230600">
                <a:moveTo>
                  <a:pt x="0" y="0"/>
                </a:moveTo>
                <a:lnTo>
                  <a:pt x="16230600" y="0"/>
                </a:lnTo>
                <a:lnTo>
                  <a:pt x="16230600" y="142017"/>
                </a:lnTo>
                <a:lnTo>
                  <a:pt x="0" y="142017"/>
                </a:lnTo>
                <a:lnTo>
                  <a:pt x="0" y="0"/>
                </a:lnTo>
                <a:close/>
              </a:path>
            </a:pathLst>
          </a:custGeom>
          <a:blipFill>
            <a:blip r:embed="rId3"/>
            <a:stretch>
              <a:fillRect l="0" t="0" r="0" b="0"/>
            </a:stretch>
          </a:blipFill>
        </p:spPr>
      </p:sp>
      <p:sp>
        <p:nvSpPr>
          <p:cNvPr name="AutoShape 4" id="4"/>
          <p:cNvSpPr/>
          <p:nvPr/>
        </p:nvSpPr>
        <p:spPr>
          <a:xfrm>
            <a:off x="3469976" y="282798"/>
            <a:ext cx="0" cy="2084030"/>
          </a:xfrm>
          <a:prstGeom prst="line">
            <a:avLst/>
          </a:prstGeom>
          <a:ln cap="flat" w="38100">
            <a:solidFill>
              <a:srgbClr val="2E6417"/>
            </a:solidFill>
            <a:prstDash val="solid"/>
            <a:headEnd type="none" len="sm" w="sm"/>
            <a:tailEnd type="none" len="sm" w="sm"/>
          </a:ln>
        </p:spPr>
      </p:sp>
      <p:sp>
        <p:nvSpPr>
          <p:cNvPr name="Freeform 5" id="5"/>
          <p:cNvSpPr/>
          <p:nvPr/>
        </p:nvSpPr>
        <p:spPr>
          <a:xfrm flipH="false" flipV="false" rot="0">
            <a:off x="1312069" y="3955793"/>
            <a:ext cx="6469658" cy="4380823"/>
          </a:xfrm>
          <a:custGeom>
            <a:avLst/>
            <a:gdLst/>
            <a:ahLst/>
            <a:cxnLst/>
            <a:rect r="r" b="b" t="t" l="l"/>
            <a:pathLst>
              <a:path h="4380823" w="6469658">
                <a:moveTo>
                  <a:pt x="0" y="0"/>
                </a:moveTo>
                <a:lnTo>
                  <a:pt x="6469658" y="0"/>
                </a:lnTo>
                <a:lnTo>
                  <a:pt x="6469658" y="4380823"/>
                </a:lnTo>
                <a:lnTo>
                  <a:pt x="0" y="4380823"/>
                </a:lnTo>
                <a:lnTo>
                  <a:pt x="0" y="0"/>
                </a:lnTo>
                <a:close/>
              </a:path>
            </a:pathLst>
          </a:custGeom>
          <a:blipFill>
            <a:blip r:embed="rId4"/>
            <a:stretch>
              <a:fillRect l="-3488" t="0" r="-12487" b="-28456"/>
            </a:stretch>
          </a:blipFill>
        </p:spPr>
      </p:sp>
      <p:sp>
        <p:nvSpPr>
          <p:cNvPr name="Freeform 6" id="6"/>
          <p:cNvSpPr/>
          <p:nvPr/>
        </p:nvSpPr>
        <p:spPr>
          <a:xfrm flipH="false" flipV="false" rot="0">
            <a:off x="8596307" y="3955793"/>
            <a:ext cx="3901759" cy="4380823"/>
          </a:xfrm>
          <a:custGeom>
            <a:avLst/>
            <a:gdLst/>
            <a:ahLst/>
            <a:cxnLst/>
            <a:rect r="r" b="b" t="t" l="l"/>
            <a:pathLst>
              <a:path h="4380823" w="3901759">
                <a:moveTo>
                  <a:pt x="0" y="0"/>
                </a:moveTo>
                <a:lnTo>
                  <a:pt x="3901759" y="0"/>
                </a:lnTo>
                <a:lnTo>
                  <a:pt x="3901759" y="4380823"/>
                </a:lnTo>
                <a:lnTo>
                  <a:pt x="0" y="4380823"/>
                </a:lnTo>
                <a:lnTo>
                  <a:pt x="0" y="0"/>
                </a:lnTo>
                <a:close/>
              </a:path>
            </a:pathLst>
          </a:custGeom>
          <a:blipFill>
            <a:blip r:embed="rId5"/>
            <a:stretch>
              <a:fillRect l="0" t="-15734" r="-4863" b="-8793"/>
            </a:stretch>
          </a:blipFill>
        </p:spPr>
      </p:sp>
      <p:sp>
        <p:nvSpPr>
          <p:cNvPr name="Freeform 7" id="7"/>
          <p:cNvSpPr/>
          <p:nvPr/>
        </p:nvSpPr>
        <p:spPr>
          <a:xfrm flipH="false" flipV="false" rot="0">
            <a:off x="13139120" y="3955793"/>
            <a:ext cx="3779402" cy="4380823"/>
          </a:xfrm>
          <a:custGeom>
            <a:avLst/>
            <a:gdLst/>
            <a:ahLst/>
            <a:cxnLst/>
            <a:rect r="r" b="b" t="t" l="l"/>
            <a:pathLst>
              <a:path h="4380823" w="3779402">
                <a:moveTo>
                  <a:pt x="0" y="0"/>
                </a:moveTo>
                <a:lnTo>
                  <a:pt x="3779403" y="0"/>
                </a:lnTo>
                <a:lnTo>
                  <a:pt x="3779403" y="4380823"/>
                </a:lnTo>
                <a:lnTo>
                  <a:pt x="0" y="4380823"/>
                </a:lnTo>
                <a:lnTo>
                  <a:pt x="0" y="0"/>
                </a:lnTo>
                <a:close/>
              </a:path>
            </a:pathLst>
          </a:custGeom>
          <a:blipFill>
            <a:blip r:embed="rId6"/>
            <a:stretch>
              <a:fillRect l="-20323" t="-29579" r="0" b="-8827"/>
            </a:stretch>
          </a:blipFill>
        </p:spPr>
      </p:sp>
      <p:sp>
        <p:nvSpPr>
          <p:cNvPr name="TextBox 8" id="8"/>
          <p:cNvSpPr txBox="true"/>
          <p:nvPr/>
        </p:nvSpPr>
        <p:spPr>
          <a:xfrm rot="0">
            <a:off x="1028700" y="2526511"/>
            <a:ext cx="16411512" cy="1181632"/>
          </a:xfrm>
          <a:prstGeom prst="rect">
            <a:avLst/>
          </a:prstGeom>
        </p:spPr>
        <p:txBody>
          <a:bodyPr anchor="t" rtlCol="false" tIns="0" lIns="0" bIns="0" rIns="0">
            <a:spAutoFit/>
          </a:bodyPr>
          <a:lstStyle/>
          <a:p>
            <a:pPr algn="l" marL="724143" indent="-362072" lvl="1">
              <a:lnSpc>
                <a:spcPts val="4695"/>
              </a:lnSpc>
              <a:buFont typeface="Arial"/>
              <a:buChar char="•"/>
            </a:pPr>
            <a:r>
              <a:rPr lang="en-US" sz="3354">
                <a:solidFill>
                  <a:srgbClr val="000000"/>
                </a:solidFill>
                <a:latin typeface="Times New Roman"/>
                <a:ea typeface="Times New Roman"/>
                <a:cs typeface="Times New Roman"/>
                <a:sym typeface="Times New Roman"/>
              </a:rPr>
              <a:t>The filter unit was tested successfully, demonstrating clear, odor-free water and consistent flow during the inauguration event.</a:t>
            </a:r>
          </a:p>
        </p:txBody>
      </p:sp>
      <p:sp>
        <p:nvSpPr>
          <p:cNvPr name="Freeform 9" id="9"/>
          <p:cNvSpPr/>
          <p:nvPr/>
        </p:nvSpPr>
        <p:spPr>
          <a:xfrm flipH="false" flipV="false" rot="0">
            <a:off x="0" y="9258300"/>
            <a:ext cx="18288000" cy="1011582"/>
          </a:xfrm>
          <a:custGeom>
            <a:avLst/>
            <a:gdLst/>
            <a:ahLst/>
            <a:cxnLst/>
            <a:rect r="r" b="b" t="t" l="l"/>
            <a:pathLst>
              <a:path h="1011582" w="18288000">
                <a:moveTo>
                  <a:pt x="0" y="0"/>
                </a:moveTo>
                <a:lnTo>
                  <a:pt x="18288000" y="0"/>
                </a:lnTo>
                <a:lnTo>
                  <a:pt x="18288000" y="1011582"/>
                </a:lnTo>
                <a:lnTo>
                  <a:pt x="0" y="1011582"/>
                </a:lnTo>
                <a:lnTo>
                  <a:pt x="0" y="0"/>
                </a:lnTo>
                <a:close/>
              </a:path>
            </a:pathLst>
          </a:custGeom>
          <a:blipFill>
            <a:blip r:embed="rId7"/>
            <a:stretch>
              <a:fillRect l="-20856" t="0" r="-752" b="-1680"/>
            </a:stretch>
          </a:blipFill>
        </p:spPr>
      </p:sp>
      <p:sp>
        <p:nvSpPr>
          <p:cNvPr name="TextBox 10" id="10"/>
          <p:cNvSpPr txBox="true"/>
          <p:nvPr/>
        </p:nvSpPr>
        <p:spPr>
          <a:xfrm rot="0">
            <a:off x="731401" y="9365816"/>
            <a:ext cx="152400" cy="228600"/>
          </a:xfrm>
          <a:prstGeom prst="rect">
            <a:avLst/>
          </a:prstGeom>
        </p:spPr>
        <p:txBody>
          <a:bodyPr anchor="t" rtlCol="false" tIns="0" lIns="0" bIns="0" rIns="0" wrap="none">
            <a:spAutoFit/>
          </a:bodyPr>
          <a:lstStyle/>
          <a:p>
            <a:pPr algn="ctr">
              <a:lnSpc>
                <a:spcPts val="5970"/>
              </a:lnSpc>
              <a:spcBef>
                <a:spcPct val="0"/>
              </a:spcBef>
            </a:pPr>
            <a:r>
              <a:rPr lang="en-US" sz="4264">
                <a:solidFill>
                  <a:srgbClr val="FFFFFF"/>
                </a:solidFill>
                <a:latin typeface="Canva Sans"/>
                <a:ea typeface="Canva Sans"/>
                <a:cs typeface="Canva Sans"/>
                <a:sym typeface="Canva Sans"/>
              </a:rPr>
              <a:t>31</a:t>
            </a:r>
          </a:p>
        </p:txBody>
      </p:sp>
      <p:sp>
        <p:nvSpPr>
          <p:cNvPr name="TextBox 11" id="11"/>
          <p:cNvSpPr txBox="true"/>
          <p:nvPr/>
        </p:nvSpPr>
        <p:spPr>
          <a:xfrm rot="0">
            <a:off x="2863134" y="8317566"/>
            <a:ext cx="3097054" cy="600335"/>
          </a:xfrm>
          <a:prstGeom prst="rect">
            <a:avLst/>
          </a:prstGeom>
        </p:spPr>
        <p:txBody>
          <a:bodyPr anchor="t" rtlCol="false" tIns="0" lIns="0" bIns="0" rIns="0">
            <a:spAutoFit/>
          </a:bodyPr>
          <a:lstStyle/>
          <a:p>
            <a:pPr algn="ctr">
              <a:lnSpc>
                <a:spcPts val="4710"/>
              </a:lnSpc>
              <a:spcBef>
                <a:spcPct val="0"/>
              </a:spcBef>
            </a:pPr>
            <a:r>
              <a:rPr lang="en-US" b="true" sz="3364">
                <a:solidFill>
                  <a:srgbClr val="000000"/>
                </a:solidFill>
                <a:latin typeface="Times New Roman Bold"/>
                <a:ea typeface="Times New Roman Bold"/>
                <a:cs typeface="Times New Roman Bold"/>
                <a:sym typeface="Times New Roman Bold"/>
              </a:rPr>
              <a:t>Filtration system</a:t>
            </a:r>
          </a:p>
        </p:txBody>
      </p:sp>
      <p:sp>
        <p:nvSpPr>
          <p:cNvPr name="TextBox 12" id="12"/>
          <p:cNvSpPr txBox="true"/>
          <p:nvPr/>
        </p:nvSpPr>
        <p:spPr>
          <a:xfrm rot="0">
            <a:off x="11368880" y="8327091"/>
            <a:ext cx="3891796" cy="591693"/>
          </a:xfrm>
          <a:prstGeom prst="rect">
            <a:avLst/>
          </a:prstGeom>
        </p:spPr>
        <p:txBody>
          <a:bodyPr anchor="t" rtlCol="false" tIns="0" lIns="0" bIns="0" rIns="0">
            <a:spAutoFit/>
          </a:bodyPr>
          <a:lstStyle/>
          <a:p>
            <a:pPr algn="ctr">
              <a:lnSpc>
                <a:spcPts val="4661"/>
              </a:lnSpc>
              <a:spcBef>
                <a:spcPct val="0"/>
              </a:spcBef>
            </a:pPr>
            <a:r>
              <a:rPr lang="en-US" b="true" sz="3329">
                <a:solidFill>
                  <a:srgbClr val="000000"/>
                </a:solidFill>
                <a:latin typeface="Times New Roman Bold"/>
                <a:ea typeface="Times New Roman Bold"/>
                <a:cs typeface="Times New Roman Bold"/>
                <a:sym typeface="Times New Roman Bold"/>
              </a:rPr>
              <a:t>water collecting point</a:t>
            </a:r>
          </a:p>
        </p:txBody>
      </p:sp>
      <p:sp>
        <p:nvSpPr>
          <p:cNvPr name="TextBox 13" id="13"/>
          <p:cNvSpPr txBox="true"/>
          <p:nvPr/>
        </p:nvSpPr>
        <p:spPr>
          <a:xfrm rot="0">
            <a:off x="3984326" y="810304"/>
            <a:ext cx="6248102" cy="1264920"/>
          </a:xfrm>
          <a:prstGeom prst="rect">
            <a:avLst/>
          </a:prstGeom>
        </p:spPr>
        <p:txBody>
          <a:bodyPr anchor="t" rtlCol="false" tIns="0" lIns="0" bIns="0" rIns="0">
            <a:spAutoFit/>
          </a:bodyPr>
          <a:lstStyle/>
          <a:p>
            <a:pPr algn="ctr">
              <a:lnSpc>
                <a:spcPts val="10080"/>
              </a:lnSpc>
              <a:spcBef>
                <a:spcPct val="0"/>
              </a:spcBef>
            </a:pPr>
            <a:r>
              <a:rPr lang="en-US" b="true" sz="7200">
                <a:solidFill>
                  <a:srgbClr val="000000"/>
                </a:solidFill>
                <a:latin typeface="Times New Roman Bold"/>
                <a:ea typeface="Times New Roman Bold"/>
                <a:cs typeface="Times New Roman Bold"/>
                <a:sym typeface="Times New Roman Bold"/>
              </a:rPr>
              <a:t>Implementation</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81628" y="282798"/>
            <a:ext cx="1470709" cy="1792426"/>
          </a:xfrm>
          <a:custGeom>
            <a:avLst/>
            <a:gdLst/>
            <a:ahLst/>
            <a:cxnLst/>
            <a:rect r="r" b="b" t="t" l="l"/>
            <a:pathLst>
              <a:path h="1792426" w="1470709">
                <a:moveTo>
                  <a:pt x="0" y="0"/>
                </a:moveTo>
                <a:lnTo>
                  <a:pt x="1470708" y="0"/>
                </a:lnTo>
                <a:lnTo>
                  <a:pt x="1470708" y="1792426"/>
                </a:lnTo>
                <a:lnTo>
                  <a:pt x="0" y="1792426"/>
                </a:lnTo>
                <a:lnTo>
                  <a:pt x="0" y="0"/>
                </a:lnTo>
                <a:close/>
              </a:path>
            </a:pathLst>
          </a:custGeom>
          <a:blipFill>
            <a:blip r:embed="rId2"/>
            <a:stretch>
              <a:fillRect l="0" t="0" r="0" b="0"/>
            </a:stretch>
          </a:blipFill>
        </p:spPr>
      </p:sp>
      <p:sp>
        <p:nvSpPr>
          <p:cNvPr name="Freeform 3" id="3"/>
          <p:cNvSpPr/>
          <p:nvPr/>
        </p:nvSpPr>
        <p:spPr>
          <a:xfrm flipH="false" flipV="false" rot="0">
            <a:off x="1028700" y="2432119"/>
            <a:ext cx="16230600" cy="142018"/>
          </a:xfrm>
          <a:custGeom>
            <a:avLst/>
            <a:gdLst/>
            <a:ahLst/>
            <a:cxnLst/>
            <a:rect r="r" b="b" t="t" l="l"/>
            <a:pathLst>
              <a:path h="142018" w="16230600">
                <a:moveTo>
                  <a:pt x="0" y="0"/>
                </a:moveTo>
                <a:lnTo>
                  <a:pt x="16230600" y="0"/>
                </a:lnTo>
                <a:lnTo>
                  <a:pt x="16230600" y="142017"/>
                </a:lnTo>
                <a:lnTo>
                  <a:pt x="0" y="142017"/>
                </a:lnTo>
                <a:lnTo>
                  <a:pt x="0" y="0"/>
                </a:lnTo>
                <a:close/>
              </a:path>
            </a:pathLst>
          </a:custGeom>
          <a:blipFill>
            <a:blip r:embed="rId3"/>
            <a:stretch>
              <a:fillRect l="0" t="0" r="0" b="0"/>
            </a:stretch>
          </a:blipFill>
        </p:spPr>
      </p:sp>
      <p:sp>
        <p:nvSpPr>
          <p:cNvPr name="AutoShape 4" id="4"/>
          <p:cNvSpPr/>
          <p:nvPr/>
        </p:nvSpPr>
        <p:spPr>
          <a:xfrm>
            <a:off x="3469976" y="282798"/>
            <a:ext cx="0" cy="2084030"/>
          </a:xfrm>
          <a:prstGeom prst="line">
            <a:avLst/>
          </a:prstGeom>
          <a:ln cap="flat" w="38100">
            <a:solidFill>
              <a:srgbClr val="2E6417"/>
            </a:solidFill>
            <a:prstDash val="solid"/>
            <a:headEnd type="none" len="sm" w="sm"/>
            <a:tailEnd type="none" len="sm" w="sm"/>
          </a:ln>
        </p:spPr>
      </p:sp>
      <p:sp>
        <p:nvSpPr>
          <p:cNvPr name="Freeform 5" id="5"/>
          <p:cNvSpPr/>
          <p:nvPr/>
        </p:nvSpPr>
        <p:spPr>
          <a:xfrm flipH="false" flipV="false" rot="0">
            <a:off x="0" y="9258300"/>
            <a:ext cx="18288000" cy="1011582"/>
          </a:xfrm>
          <a:custGeom>
            <a:avLst/>
            <a:gdLst/>
            <a:ahLst/>
            <a:cxnLst/>
            <a:rect r="r" b="b" t="t" l="l"/>
            <a:pathLst>
              <a:path h="1011582" w="18288000">
                <a:moveTo>
                  <a:pt x="0" y="0"/>
                </a:moveTo>
                <a:lnTo>
                  <a:pt x="18288000" y="0"/>
                </a:lnTo>
                <a:lnTo>
                  <a:pt x="18288000" y="1011582"/>
                </a:lnTo>
                <a:lnTo>
                  <a:pt x="0" y="1011582"/>
                </a:lnTo>
                <a:lnTo>
                  <a:pt x="0" y="0"/>
                </a:lnTo>
                <a:close/>
              </a:path>
            </a:pathLst>
          </a:custGeom>
          <a:blipFill>
            <a:blip r:embed="rId4"/>
            <a:stretch>
              <a:fillRect l="-20856" t="0" r="-752" b="-1680"/>
            </a:stretch>
          </a:blipFill>
        </p:spPr>
      </p:sp>
      <p:sp>
        <p:nvSpPr>
          <p:cNvPr name="Freeform 6" id="6"/>
          <p:cNvSpPr/>
          <p:nvPr/>
        </p:nvSpPr>
        <p:spPr>
          <a:xfrm flipH="false" flipV="false" rot="0">
            <a:off x="1880847" y="2640811"/>
            <a:ext cx="3575789" cy="6356958"/>
          </a:xfrm>
          <a:custGeom>
            <a:avLst/>
            <a:gdLst/>
            <a:ahLst/>
            <a:cxnLst/>
            <a:rect r="r" b="b" t="t" l="l"/>
            <a:pathLst>
              <a:path h="6356958" w="3575789">
                <a:moveTo>
                  <a:pt x="0" y="0"/>
                </a:moveTo>
                <a:lnTo>
                  <a:pt x="3575789" y="0"/>
                </a:lnTo>
                <a:lnTo>
                  <a:pt x="3575789" y="6356958"/>
                </a:lnTo>
                <a:lnTo>
                  <a:pt x="0" y="6356958"/>
                </a:lnTo>
                <a:lnTo>
                  <a:pt x="0" y="0"/>
                </a:lnTo>
                <a:close/>
              </a:path>
            </a:pathLst>
          </a:custGeom>
          <a:blipFill>
            <a:blip r:embed="rId5"/>
            <a:stretch>
              <a:fillRect l="0" t="0" r="0" b="0"/>
            </a:stretch>
          </a:blipFill>
        </p:spPr>
      </p:sp>
      <p:sp>
        <p:nvSpPr>
          <p:cNvPr name="Freeform 7" id="7"/>
          <p:cNvSpPr/>
          <p:nvPr/>
        </p:nvSpPr>
        <p:spPr>
          <a:xfrm flipH="false" flipV="false" rot="0">
            <a:off x="6806351" y="2866764"/>
            <a:ext cx="9955549" cy="5599996"/>
          </a:xfrm>
          <a:custGeom>
            <a:avLst/>
            <a:gdLst/>
            <a:ahLst/>
            <a:cxnLst/>
            <a:rect r="r" b="b" t="t" l="l"/>
            <a:pathLst>
              <a:path h="5599996" w="9955549">
                <a:moveTo>
                  <a:pt x="0" y="0"/>
                </a:moveTo>
                <a:lnTo>
                  <a:pt x="9955549" y="0"/>
                </a:lnTo>
                <a:lnTo>
                  <a:pt x="9955549" y="5599996"/>
                </a:lnTo>
                <a:lnTo>
                  <a:pt x="0" y="5599996"/>
                </a:lnTo>
                <a:lnTo>
                  <a:pt x="0" y="0"/>
                </a:lnTo>
                <a:close/>
              </a:path>
            </a:pathLst>
          </a:custGeom>
          <a:blipFill>
            <a:blip r:embed="rId6"/>
            <a:stretch>
              <a:fillRect l="0" t="0" r="0" b="0"/>
            </a:stretch>
          </a:blipFill>
        </p:spPr>
      </p:sp>
      <p:sp>
        <p:nvSpPr>
          <p:cNvPr name="TextBox 8" id="8"/>
          <p:cNvSpPr txBox="true"/>
          <p:nvPr/>
        </p:nvSpPr>
        <p:spPr>
          <a:xfrm rot="0">
            <a:off x="731401" y="9365816"/>
            <a:ext cx="152400" cy="228600"/>
          </a:xfrm>
          <a:prstGeom prst="rect">
            <a:avLst/>
          </a:prstGeom>
        </p:spPr>
        <p:txBody>
          <a:bodyPr anchor="t" rtlCol="false" tIns="0" lIns="0" bIns="0" rIns="0" wrap="none">
            <a:spAutoFit/>
          </a:bodyPr>
          <a:lstStyle/>
          <a:p>
            <a:pPr algn="ctr">
              <a:lnSpc>
                <a:spcPts val="5970"/>
              </a:lnSpc>
              <a:spcBef>
                <a:spcPct val="0"/>
              </a:spcBef>
            </a:pPr>
            <a:r>
              <a:rPr lang="en-US" sz="4264">
                <a:solidFill>
                  <a:srgbClr val="FFFFFF"/>
                </a:solidFill>
                <a:latin typeface="Canva Sans"/>
                <a:ea typeface="Canva Sans"/>
                <a:cs typeface="Canva Sans"/>
                <a:sym typeface="Canva Sans"/>
              </a:rPr>
              <a:t>32</a:t>
            </a:r>
          </a:p>
        </p:txBody>
      </p:sp>
      <p:sp>
        <p:nvSpPr>
          <p:cNvPr name="TextBox 9" id="9"/>
          <p:cNvSpPr txBox="true"/>
          <p:nvPr/>
        </p:nvSpPr>
        <p:spPr>
          <a:xfrm rot="0">
            <a:off x="3984326" y="810304"/>
            <a:ext cx="6248102" cy="1264920"/>
          </a:xfrm>
          <a:prstGeom prst="rect">
            <a:avLst/>
          </a:prstGeom>
        </p:spPr>
        <p:txBody>
          <a:bodyPr anchor="t" rtlCol="false" tIns="0" lIns="0" bIns="0" rIns="0">
            <a:spAutoFit/>
          </a:bodyPr>
          <a:lstStyle/>
          <a:p>
            <a:pPr algn="ctr">
              <a:lnSpc>
                <a:spcPts val="10080"/>
              </a:lnSpc>
              <a:spcBef>
                <a:spcPct val="0"/>
              </a:spcBef>
            </a:pPr>
            <a:r>
              <a:rPr lang="en-US" b="true" sz="7200">
                <a:solidFill>
                  <a:srgbClr val="000000"/>
                </a:solidFill>
                <a:latin typeface="Times New Roman Bold"/>
                <a:ea typeface="Times New Roman Bold"/>
                <a:cs typeface="Times New Roman Bold"/>
                <a:sym typeface="Times New Roman Bold"/>
              </a:rPr>
              <a:t>Implementation</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62720" y="2926561"/>
            <a:ext cx="8832893" cy="5275375"/>
          </a:xfrm>
          <a:custGeom>
            <a:avLst/>
            <a:gdLst/>
            <a:ahLst/>
            <a:cxnLst/>
            <a:rect r="r" b="b" t="t" l="l"/>
            <a:pathLst>
              <a:path h="5275375" w="8832893">
                <a:moveTo>
                  <a:pt x="0" y="0"/>
                </a:moveTo>
                <a:lnTo>
                  <a:pt x="8832893" y="0"/>
                </a:lnTo>
                <a:lnTo>
                  <a:pt x="8832893" y="5275376"/>
                </a:lnTo>
                <a:lnTo>
                  <a:pt x="0" y="5275376"/>
                </a:lnTo>
                <a:lnTo>
                  <a:pt x="0" y="0"/>
                </a:lnTo>
                <a:close/>
              </a:path>
            </a:pathLst>
          </a:custGeom>
          <a:blipFill>
            <a:blip r:embed="rId2"/>
            <a:stretch>
              <a:fillRect l="-4076" t="-35086" r="-8152" b="-5847"/>
            </a:stretch>
          </a:blipFill>
        </p:spPr>
      </p:sp>
      <p:sp>
        <p:nvSpPr>
          <p:cNvPr name="Freeform 3" id="3"/>
          <p:cNvSpPr/>
          <p:nvPr/>
        </p:nvSpPr>
        <p:spPr>
          <a:xfrm flipH="false" flipV="false" rot="0">
            <a:off x="13604749" y="2917036"/>
            <a:ext cx="4063295" cy="5275375"/>
          </a:xfrm>
          <a:custGeom>
            <a:avLst/>
            <a:gdLst/>
            <a:ahLst/>
            <a:cxnLst/>
            <a:rect r="r" b="b" t="t" l="l"/>
            <a:pathLst>
              <a:path h="5275375" w="4063295">
                <a:moveTo>
                  <a:pt x="0" y="0"/>
                </a:moveTo>
                <a:lnTo>
                  <a:pt x="4063295" y="0"/>
                </a:lnTo>
                <a:lnTo>
                  <a:pt x="4063295" y="5275376"/>
                </a:lnTo>
                <a:lnTo>
                  <a:pt x="0" y="5275376"/>
                </a:lnTo>
                <a:lnTo>
                  <a:pt x="0" y="0"/>
                </a:lnTo>
                <a:close/>
              </a:path>
            </a:pathLst>
          </a:custGeom>
          <a:blipFill>
            <a:blip r:embed="rId3"/>
            <a:stretch>
              <a:fillRect l="-7252" t="-14802" r="-9066" b="-4655"/>
            </a:stretch>
          </a:blipFill>
        </p:spPr>
      </p:sp>
      <p:sp>
        <p:nvSpPr>
          <p:cNvPr name="Freeform 4" id="4"/>
          <p:cNvSpPr/>
          <p:nvPr/>
        </p:nvSpPr>
        <p:spPr>
          <a:xfrm flipH="false" flipV="false" rot="0">
            <a:off x="9915004" y="2917036"/>
            <a:ext cx="3689746" cy="5275375"/>
          </a:xfrm>
          <a:custGeom>
            <a:avLst/>
            <a:gdLst/>
            <a:ahLst/>
            <a:cxnLst/>
            <a:rect r="r" b="b" t="t" l="l"/>
            <a:pathLst>
              <a:path h="5275375" w="3689746">
                <a:moveTo>
                  <a:pt x="0" y="0"/>
                </a:moveTo>
                <a:lnTo>
                  <a:pt x="3689745" y="0"/>
                </a:lnTo>
                <a:lnTo>
                  <a:pt x="3689745" y="5275376"/>
                </a:lnTo>
                <a:lnTo>
                  <a:pt x="0" y="5275376"/>
                </a:lnTo>
                <a:lnTo>
                  <a:pt x="0" y="0"/>
                </a:lnTo>
                <a:close/>
              </a:path>
            </a:pathLst>
          </a:custGeom>
          <a:blipFill>
            <a:blip r:embed="rId4"/>
            <a:stretch>
              <a:fillRect l="-30324" t="-37543" r="-37851" b="-19292"/>
            </a:stretch>
          </a:blipFill>
        </p:spPr>
      </p:sp>
      <p:sp>
        <p:nvSpPr>
          <p:cNvPr name="TextBox 5" id="5"/>
          <p:cNvSpPr txBox="true"/>
          <p:nvPr/>
        </p:nvSpPr>
        <p:spPr>
          <a:xfrm rot="0">
            <a:off x="17443016" y="9365816"/>
            <a:ext cx="152400" cy="228600"/>
          </a:xfrm>
          <a:prstGeom prst="rect">
            <a:avLst/>
          </a:prstGeom>
        </p:spPr>
        <p:txBody>
          <a:bodyPr anchor="t" rtlCol="false" tIns="0" lIns="0" bIns="0" rIns="0" wrap="none">
            <a:spAutoFit/>
          </a:bodyPr>
          <a:lstStyle/>
          <a:p>
            <a:pPr algn="ctr">
              <a:lnSpc>
                <a:spcPts val="5970"/>
              </a:lnSpc>
              <a:spcBef>
                <a:spcPct val="0"/>
              </a:spcBef>
            </a:pPr>
            <a:r>
              <a:rPr lang="en-US" sz="4264">
                <a:solidFill>
                  <a:srgbClr val="FFFFFF"/>
                </a:solidFill>
                <a:latin typeface="Canva Sans"/>
                <a:ea typeface="Canva Sans"/>
                <a:cs typeface="Canva Sans"/>
                <a:sym typeface="Canva Sans"/>
              </a:rPr>
              <a:t>33</a:t>
            </a:r>
          </a:p>
        </p:txBody>
      </p:sp>
      <p:sp>
        <p:nvSpPr>
          <p:cNvPr name="Freeform 6" id="6"/>
          <p:cNvSpPr/>
          <p:nvPr/>
        </p:nvSpPr>
        <p:spPr>
          <a:xfrm flipH="false" flipV="false" rot="0">
            <a:off x="1481628" y="282798"/>
            <a:ext cx="1470709" cy="1792426"/>
          </a:xfrm>
          <a:custGeom>
            <a:avLst/>
            <a:gdLst/>
            <a:ahLst/>
            <a:cxnLst/>
            <a:rect r="r" b="b" t="t" l="l"/>
            <a:pathLst>
              <a:path h="1792426" w="1470709">
                <a:moveTo>
                  <a:pt x="0" y="0"/>
                </a:moveTo>
                <a:lnTo>
                  <a:pt x="1470708" y="0"/>
                </a:lnTo>
                <a:lnTo>
                  <a:pt x="1470708" y="1792426"/>
                </a:lnTo>
                <a:lnTo>
                  <a:pt x="0" y="1792426"/>
                </a:lnTo>
                <a:lnTo>
                  <a:pt x="0" y="0"/>
                </a:lnTo>
                <a:close/>
              </a:path>
            </a:pathLst>
          </a:custGeom>
          <a:blipFill>
            <a:blip r:embed="rId5"/>
            <a:stretch>
              <a:fillRect l="0" t="0" r="0" b="0"/>
            </a:stretch>
          </a:blipFill>
        </p:spPr>
      </p:sp>
      <p:sp>
        <p:nvSpPr>
          <p:cNvPr name="Freeform 7" id="7"/>
          <p:cNvSpPr/>
          <p:nvPr/>
        </p:nvSpPr>
        <p:spPr>
          <a:xfrm flipH="false" flipV="false" rot="0">
            <a:off x="1028700" y="2432119"/>
            <a:ext cx="16230600" cy="142018"/>
          </a:xfrm>
          <a:custGeom>
            <a:avLst/>
            <a:gdLst/>
            <a:ahLst/>
            <a:cxnLst/>
            <a:rect r="r" b="b" t="t" l="l"/>
            <a:pathLst>
              <a:path h="142018" w="16230600">
                <a:moveTo>
                  <a:pt x="0" y="0"/>
                </a:moveTo>
                <a:lnTo>
                  <a:pt x="16230600" y="0"/>
                </a:lnTo>
                <a:lnTo>
                  <a:pt x="16230600" y="142017"/>
                </a:lnTo>
                <a:lnTo>
                  <a:pt x="0" y="142017"/>
                </a:lnTo>
                <a:lnTo>
                  <a:pt x="0" y="0"/>
                </a:lnTo>
                <a:close/>
              </a:path>
            </a:pathLst>
          </a:custGeom>
          <a:blipFill>
            <a:blip r:embed="rId6"/>
            <a:stretch>
              <a:fillRect l="0" t="0" r="0" b="0"/>
            </a:stretch>
          </a:blipFill>
        </p:spPr>
      </p:sp>
      <p:sp>
        <p:nvSpPr>
          <p:cNvPr name="AutoShape 8" id="8"/>
          <p:cNvSpPr/>
          <p:nvPr/>
        </p:nvSpPr>
        <p:spPr>
          <a:xfrm>
            <a:off x="3469976" y="282798"/>
            <a:ext cx="0" cy="2084030"/>
          </a:xfrm>
          <a:prstGeom prst="line">
            <a:avLst/>
          </a:prstGeom>
          <a:ln cap="flat" w="38100">
            <a:solidFill>
              <a:srgbClr val="2E6417"/>
            </a:solidFill>
            <a:prstDash val="solid"/>
            <a:headEnd type="none" len="sm" w="sm"/>
            <a:tailEnd type="none" len="sm" w="sm"/>
          </a:ln>
        </p:spPr>
      </p:sp>
      <p:sp>
        <p:nvSpPr>
          <p:cNvPr name="Freeform 9" id="9"/>
          <p:cNvSpPr/>
          <p:nvPr/>
        </p:nvSpPr>
        <p:spPr>
          <a:xfrm flipH="false" flipV="false" rot="0">
            <a:off x="0" y="9258300"/>
            <a:ext cx="18288000" cy="1011582"/>
          </a:xfrm>
          <a:custGeom>
            <a:avLst/>
            <a:gdLst/>
            <a:ahLst/>
            <a:cxnLst/>
            <a:rect r="r" b="b" t="t" l="l"/>
            <a:pathLst>
              <a:path h="1011582" w="18288000">
                <a:moveTo>
                  <a:pt x="0" y="0"/>
                </a:moveTo>
                <a:lnTo>
                  <a:pt x="18288000" y="0"/>
                </a:lnTo>
                <a:lnTo>
                  <a:pt x="18288000" y="1011582"/>
                </a:lnTo>
                <a:lnTo>
                  <a:pt x="0" y="1011582"/>
                </a:lnTo>
                <a:lnTo>
                  <a:pt x="0" y="0"/>
                </a:lnTo>
                <a:close/>
              </a:path>
            </a:pathLst>
          </a:custGeom>
          <a:blipFill>
            <a:blip r:embed="rId7"/>
            <a:stretch>
              <a:fillRect l="-20856" t="0" r="-752" b="-1680"/>
            </a:stretch>
          </a:blipFill>
        </p:spPr>
      </p:sp>
      <p:sp>
        <p:nvSpPr>
          <p:cNvPr name="TextBox 10" id="10"/>
          <p:cNvSpPr txBox="true"/>
          <p:nvPr/>
        </p:nvSpPr>
        <p:spPr>
          <a:xfrm rot="0">
            <a:off x="7356130" y="8394229"/>
            <a:ext cx="4403746" cy="586054"/>
          </a:xfrm>
          <a:prstGeom prst="rect">
            <a:avLst/>
          </a:prstGeom>
        </p:spPr>
        <p:txBody>
          <a:bodyPr anchor="t" rtlCol="false" tIns="0" lIns="0" bIns="0" rIns="0">
            <a:spAutoFit/>
          </a:bodyPr>
          <a:lstStyle/>
          <a:p>
            <a:pPr algn="ctr">
              <a:lnSpc>
                <a:spcPts val="4620"/>
              </a:lnSpc>
              <a:spcBef>
                <a:spcPct val="0"/>
              </a:spcBef>
            </a:pPr>
            <a:r>
              <a:rPr lang="en-US" b="true" sz="3300">
                <a:solidFill>
                  <a:srgbClr val="000000"/>
                </a:solidFill>
                <a:latin typeface="Times New Roman Bold"/>
                <a:ea typeface="Times New Roman Bold"/>
                <a:cs typeface="Times New Roman Bold"/>
                <a:sym typeface="Times New Roman Bold"/>
              </a:rPr>
              <a:t>Women collecting water </a:t>
            </a:r>
          </a:p>
        </p:txBody>
      </p:sp>
      <p:sp>
        <p:nvSpPr>
          <p:cNvPr name="TextBox 11" id="11"/>
          <p:cNvSpPr txBox="true"/>
          <p:nvPr/>
        </p:nvSpPr>
        <p:spPr>
          <a:xfrm rot="0">
            <a:off x="762720" y="9347661"/>
            <a:ext cx="607457" cy="738505"/>
          </a:xfrm>
          <a:prstGeom prst="rect">
            <a:avLst/>
          </a:prstGeom>
        </p:spPr>
        <p:txBody>
          <a:bodyPr anchor="t" rtlCol="false" tIns="0" lIns="0" bIns="0" rIns="0">
            <a:spAutoFit/>
          </a:bodyPr>
          <a:lstStyle/>
          <a:p>
            <a:pPr algn="ctr">
              <a:lnSpc>
                <a:spcPts val="6019"/>
              </a:lnSpc>
              <a:spcBef>
                <a:spcPct val="0"/>
              </a:spcBef>
            </a:pPr>
            <a:r>
              <a:rPr lang="en-US" sz="4299">
                <a:solidFill>
                  <a:srgbClr val="FFFFFF"/>
                </a:solidFill>
                <a:latin typeface="Canva Sans"/>
                <a:ea typeface="Canva Sans"/>
                <a:cs typeface="Canva Sans"/>
                <a:sym typeface="Canva Sans"/>
              </a:rPr>
              <a:t>31</a:t>
            </a:r>
          </a:p>
        </p:txBody>
      </p:sp>
      <p:sp>
        <p:nvSpPr>
          <p:cNvPr name="TextBox 12" id="12"/>
          <p:cNvSpPr txBox="true"/>
          <p:nvPr/>
        </p:nvSpPr>
        <p:spPr>
          <a:xfrm rot="0">
            <a:off x="3984326" y="810304"/>
            <a:ext cx="6248102" cy="1264920"/>
          </a:xfrm>
          <a:prstGeom prst="rect">
            <a:avLst/>
          </a:prstGeom>
        </p:spPr>
        <p:txBody>
          <a:bodyPr anchor="t" rtlCol="false" tIns="0" lIns="0" bIns="0" rIns="0">
            <a:spAutoFit/>
          </a:bodyPr>
          <a:lstStyle/>
          <a:p>
            <a:pPr algn="ctr">
              <a:lnSpc>
                <a:spcPts val="10080"/>
              </a:lnSpc>
              <a:spcBef>
                <a:spcPct val="0"/>
              </a:spcBef>
            </a:pPr>
            <a:r>
              <a:rPr lang="en-US" b="true" sz="7200">
                <a:solidFill>
                  <a:srgbClr val="000000"/>
                </a:solidFill>
                <a:latin typeface="Times New Roman Bold"/>
                <a:ea typeface="Times New Roman Bold"/>
                <a:cs typeface="Times New Roman Bold"/>
                <a:sym typeface="Times New Roman Bold"/>
              </a:rPr>
              <a:t>Implementation</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81628" y="282798"/>
            <a:ext cx="1470709" cy="1792426"/>
          </a:xfrm>
          <a:custGeom>
            <a:avLst/>
            <a:gdLst/>
            <a:ahLst/>
            <a:cxnLst/>
            <a:rect r="r" b="b" t="t" l="l"/>
            <a:pathLst>
              <a:path h="1792426" w="1470709">
                <a:moveTo>
                  <a:pt x="0" y="0"/>
                </a:moveTo>
                <a:lnTo>
                  <a:pt x="1470708" y="0"/>
                </a:lnTo>
                <a:lnTo>
                  <a:pt x="1470708" y="1792426"/>
                </a:lnTo>
                <a:lnTo>
                  <a:pt x="0" y="1792426"/>
                </a:lnTo>
                <a:lnTo>
                  <a:pt x="0" y="0"/>
                </a:lnTo>
                <a:close/>
              </a:path>
            </a:pathLst>
          </a:custGeom>
          <a:blipFill>
            <a:blip r:embed="rId2"/>
            <a:stretch>
              <a:fillRect l="0" t="0" r="0" b="0"/>
            </a:stretch>
          </a:blipFill>
        </p:spPr>
      </p:sp>
      <p:sp>
        <p:nvSpPr>
          <p:cNvPr name="Freeform 3" id="3"/>
          <p:cNvSpPr/>
          <p:nvPr/>
        </p:nvSpPr>
        <p:spPr>
          <a:xfrm flipH="false" flipV="false" rot="0">
            <a:off x="1028700" y="2432119"/>
            <a:ext cx="16230600" cy="142018"/>
          </a:xfrm>
          <a:custGeom>
            <a:avLst/>
            <a:gdLst/>
            <a:ahLst/>
            <a:cxnLst/>
            <a:rect r="r" b="b" t="t" l="l"/>
            <a:pathLst>
              <a:path h="142018" w="16230600">
                <a:moveTo>
                  <a:pt x="0" y="0"/>
                </a:moveTo>
                <a:lnTo>
                  <a:pt x="16230600" y="0"/>
                </a:lnTo>
                <a:lnTo>
                  <a:pt x="16230600" y="142017"/>
                </a:lnTo>
                <a:lnTo>
                  <a:pt x="0" y="142017"/>
                </a:lnTo>
                <a:lnTo>
                  <a:pt x="0" y="0"/>
                </a:lnTo>
                <a:close/>
              </a:path>
            </a:pathLst>
          </a:custGeom>
          <a:blipFill>
            <a:blip r:embed="rId3"/>
            <a:stretch>
              <a:fillRect l="0" t="0" r="0" b="0"/>
            </a:stretch>
          </a:blipFill>
        </p:spPr>
      </p:sp>
      <p:sp>
        <p:nvSpPr>
          <p:cNvPr name="AutoShape 4" id="4"/>
          <p:cNvSpPr/>
          <p:nvPr/>
        </p:nvSpPr>
        <p:spPr>
          <a:xfrm>
            <a:off x="3469976" y="282798"/>
            <a:ext cx="0" cy="2084030"/>
          </a:xfrm>
          <a:prstGeom prst="line">
            <a:avLst/>
          </a:prstGeom>
          <a:ln cap="flat" w="38100">
            <a:solidFill>
              <a:srgbClr val="2E6417"/>
            </a:solidFill>
            <a:prstDash val="solid"/>
            <a:headEnd type="none" len="sm" w="sm"/>
            <a:tailEnd type="none" len="sm" w="sm"/>
          </a:ln>
        </p:spPr>
      </p:sp>
      <p:sp>
        <p:nvSpPr>
          <p:cNvPr name="TextBox 5" id="5"/>
          <p:cNvSpPr txBox="true"/>
          <p:nvPr/>
        </p:nvSpPr>
        <p:spPr>
          <a:xfrm rot="0">
            <a:off x="519436" y="2555086"/>
            <a:ext cx="17535681" cy="7310120"/>
          </a:xfrm>
          <a:prstGeom prst="rect">
            <a:avLst/>
          </a:prstGeom>
        </p:spPr>
        <p:txBody>
          <a:bodyPr anchor="t" rtlCol="false" tIns="0" lIns="0" bIns="0" rIns="0">
            <a:spAutoFit/>
          </a:bodyPr>
          <a:lstStyle/>
          <a:p>
            <a:pPr algn="just"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Safe Drinking Water for All:</a:t>
            </a:r>
          </a:p>
          <a:p>
            <a:pPr algn="just">
              <a:lnSpc>
                <a:spcPts val="4480"/>
              </a:lnSpc>
            </a:pPr>
            <a:r>
              <a:rPr lang="en-US" sz="3200">
                <a:solidFill>
                  <a:srgbClr val="000000"/>
                </a:solidFill>
                <a:latin typeface="Times New Roman"/>
                <a:ea typeface="Times New Roman"/>
                <a:cs typeface="Times New Roman"/>
                <a:sym typeface="Times New Roman"/>
              </a:rPr>
              <a:t> The installed Jivamritham filtration unit now provides clean, odor-free, and biologically safe water to every household in the village.</a:t>
            </a:r>
          </a:p>
          <a:p>
            <a:pPr algn="just"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Improved Hygiene &amp; Reduced Effort:</a:t>
            </a:r>
          </a:p>
          <a:p>
            <a:pPr algn="just">
              <a:lnSpc>
                <a:spcPts val="4480"/>
              </a:lnSpc>
            </a:pPr>
            <a:r>
              <a:rPr lang="en-US" sz="3200">
                <a:solidFill>
                  <a:srgbClr val="000000"/>
                </a:solidFill>
                <a:latin typeface="Times New Roman"/>
                <a:ea typeface="Times New Roman"/>
                <a:cs typeface="Times New Roman"/>
                <a:sym typeface="Times New Roman"/>
              </a:rPr>
              <a:t> The new system and nearby collection points have reduced the physical strain of fetching water from distant or unsafe sources. Distance reduced by 500 metres.</a:t>
            </a:r>
          </a:p>
          <a:p>
            <a:pPr algn="just">
              <a:lnSpc>
                <a:spcPts val="4480"/>
              </a:lnSpc>
            </a:pPr>
            <a:r>
              <a:rPr lang="en-US" sz="3200">
                <a:solidFill>
                  <a:srgbClr val="000000"/>
                </a:solidFill>
                <a:latin typeface="Times New Roman"/>
                <a:ea typeface="Times New Roman"/>
                <a:cs typeface="Times New Roman"/>
                <a:sym typeface="Times New Roman"/>
              </a:rPr>
              <a:t>F</a:t>
            </a:r>
            <a:r>
              <a:rPr lang="en-US" sz="3200" b="true">
                <a:solidFill>
                  <a:srgbClr val="000000"/>
                </a:solidFill>
                <a:latin typeface="Times New Roman Bold"/>
                <a:ea typeface="Times New Roman Bold"/>
                <a:cs typeface="Times New Roman Bold"/>
                <a:sym typeface="Times New Roman Bold"/>
              </a:rPr>
              <a:t>ollow-Up and Monitoring</a:t>
            </a:r>
          </a:p>
          <a:p>
            <a:pPr algn="just"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 Continuous contact is maintained with the village coordinator and temple priest to ensure the filtration system remains functional and well-maintained.</a:t>
            </a:r>
          </a:p>
          <a:p>
            <a:pPr algn="just" marL="690881" indent="-345440" lvl="1">
              <a:lnSpc>
                <a:spcPts val="4480"/>
              </a:lnSpc>
              <a:buFont typeface="Arial"/>
              <a:buChar char="•"/>
            </a:pPr>
            <a:r>
              <a:rPr lang="en-US" sz="3200">
                <a:solidFill>
                  <a:srgbClr val="000000"/>
                </a:solidFill>
                <a:latin typeface="Times New Roman"/>
                <a:ea typeface="Times New Roman"/>
                <a:cs typeface="Times New Roman"/>
                <a:sym typeface="Times New Roman"/>
              </a:rPr>
              <a:t> An agreement with the Panchayat ensures that the costs of filter maintenance and repair are handled locally, securing long-term sustainability.</a:t>
            </a:r>
          </a:p>
          <a:p>
            <a:pPr algn="just">
              <a:lnSpc>
                <a:spcPts val="4480"/>
              </a:lnSpc>
            </a:pPr>
          </a:p>
          <a:p>
            <a:pPr algn="just">
              <a:lnSpc>
                <a:spcPts val="4480"/>
              </a:lnSpc>
              <a:spcBef>
                <a:spcPct val="0"/>
              </a:spcBef>
            </a:pPr>
          </a:p>
        </p:txBody>
      </p:sp>
      <p:sp>
        <p:nvSpPr>
          <p:cNvPr name="Freeform 6" id="6"/>
          <p:cNvSpPr/>
          <p:nvPr/>
        </p:nvSpPr>
        <p:spPr>
          <a:xfrm flipH="false" flipV="false" rot="0">
            <a:off x="0" y="9258300"/>
            <a:ext cx="18288000" cy="1011582"/>
          </a:xfrm>
          <a:custGeom>
            <a:avLst/>
            <a:gdLst/>
            <a:ahLst/>
            <a:cxnLst/>
            <a:rect r="r" b="b" t="t" l="l"/>
            <a:pathLst>
              <a:path h="1011582" w="18288000">
                <a:moveTo>
                  <a:pt x="0" y="0"/>
                </a:moveTo>
                <a:lnTo>
                  <a:pt x="18288000" y="0"/>
                </a:lnTo>
                <a:lnTo>
                  <a:pt x="18288000" y="1011582"/>
                </a:lnTo>
                <a:lnTo>
                  <a:pt x="0" y="1011582"/>
                </a:lnTo>
                <a:lnTo>
                  <a:pt x="0" y="0"/>
                </a:lnTo>
                <a:close/>
              </a:path>
            </a:pathLst>
          </a:custGeom>
          <a:blipFill>
            <a:blip r:embed="rId4"/>
            <a:stretch>
              <a:fillRect l="-20856" t="0" r="-752" b="-1680"/>
            </a:stretch>
          </a:blipFill>
        </p:spPr>
      </p:sp>
      <p:sp>
        <p:nvSpPr>
          <p:cNvPr name="TextBox 7" id="7"/>
          <p:cNvSpPr txBox="true"/>
          <p:nvPr/>
        </p:nvSpPr>
        <p:spPr>
          <a:xfrm rot="0">
            <a:off x="731401" y="9365816"/>
            <a:ext cx="152400" cy="228600"/>
          </a:xfrm>
          <a:prstGeom prst="rect">
            <a:avLst/>
          </a:prstGeom>
        </p:spPr>
        <p:txBody>
          <a:bodyPr anchor="t" rtlCol="false" tIns="0" lIns="0" bIns="0" rIns="0" wrap="none">
            <a:spAutoFit/>
          </a:bodyPr>
          <a:lstStyle/>
          <a:p>
            <a:pPr algn="ctr">
              <a:lnSpc>
                <a:spcPts val="5970"/>
              </a:lnSpc>
              <a:spcBef>
                <a:spcPct val="0"/>
              </a:spcBef>
            </a:pPr>
            <a:r>
              <a:rPr lang="en-US" sz="4264">
                <a:solidFill>
                  <a:srgbClr val="FFFFFF"/>
                </a:solidFill>
                <a:latin typeface="Canva Sans"/>
                <a:ea typeface="Canva Sans"/>
                <a:cs typeface="Canva Sans"/>
                <a:sym typeface="Canva Sans"/>
              </a:rPr>
              <a:t>34</a:t>
            </a:r>
          </a:p>
        </p:txBody>
      </p:sp>
      <p:sp>
        <p:nvSpPr>
          <p:cNvPr name="TextBox 8" id="8"/>
          <p:cNvSpPr txBox="true"/>
          <p:nvPr/>
        </p:nvSpPr>
        <p:spPr>
          <a:xfrm rot="0">
            <a:off x="3625799" y="810304"/>
            <a:ext cx="6965156" cy="1264920"/>
          </a:xfrm>
          <a:prstGeom prst="rect">
            <a:avLst/>
          </a:prstGeom>
        </p:spPr>
        <p:txBody>
          <a:bodyPr anchor="t" rtlCol="false" tIns="0" lIns="0" bIns="0" rIns="0">
            <a:spAutoFit/>
          </a:bodyPr>
          <a:lstStyle/>
          <a:p>
            <a:pPr algn="ctr">
              <a:lnSpc>
                <a:spcPts val="10080"/>
              </a:lnSpc>
              <a:spcBef>
                <a:spcPct val="0"/>
              </a:spcBef>
            </a:pPr>
            <a:r>
              <a:rPr lang="en-US" b="true" sz="7200">
                <a:solidFill>
                  <a:srgbClr val="000000"/>
                </a:solidFill>
                <a:latin typeface="Times New Roman Bold"/>
                <a:ea typeface="Times New Roman Bold"/>
                <a:cs typeface="Times New Roman Bold"/>
                <a:sym typeface="Times New Roman Bold"/>
              </a:rPr>
              <a:t>Project Outcomes</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81628" y="282798"/>
            <a:ext cx="1470709" cy="1792426"/>
          </a:xfrm>
          <a:custGeom>
            <a:avLst/>
            <a:gdLst/>
            <a:ahLst/>
            <a:cxnLst/>
            <a:rect r="r" b="b" t="t" l="l"/>
            <a:pathLst>
              <a:path h="1792426" w="1470709">
                <a:moveTo>
                  <a:pt x="0" y="0"/>
                </a:moveTo>
                <a:lnTo>
                  <a:pt x="1470708" y="0"/>
                </a:lnTo>
                <a:lnTo>
                  <a:pt x="1470708" y="1792426"/>
                </a:lnTo>
                <a:lnTo>
                  <a:pt x="0" y="1792426"/>
                </a:lnTo>
                <a:lnTo>
                  <a:pt x="0" y="0"/>
                </a:lnTo>
                <a:close/>
              </a:path>
            </a:pathLst>
          </a:custGeom>
          <a:blipFill>
            <a:blip r:embed="rId2"/>
            <a:stretch>
              <a:fillRect l="0" t="0" r="0" b="0"/>
            </a:stretch>
          </a:blipFill>
        </p:spPr>
      </p:sp>
      <p:sp>
        <p:nvSpPr>
          <p:cNvPr name="Freeform 3" id="3"/>
          <p:cNvSpPr/>
          <p:nvPr/>
        </p:nvSpPr>
        <p:spPr>
          <a:xfrm flipH="false" flipV="false" rot="0">
            <a:off x="1028700" y="2432119"/>
            <a:ext cx="16230600" cy="142018"/>
          </a:xfrm>
          <a:custGeom>
            <a:avLst/>
            <a:gdLst/>
            <a:ahLst/>
            <a:cxnLst/>
            <a:rect r="r" b="b" t="t" l="l"/>
            <a:pathLst>
              <a:path h="142018" w="16230600">
                <a:moveTo>
                  <a:pt x="0" y="0"/>
                </a:moveTo>
                <a:lnTo>
                  <a:pt x="16230600" y="0"/>
                </a:lnTo>
                <a:lnTo>
                  <a:pt x="16230600" y="142017"/>
                </a:lnTo>
                <a:lnTo>
                  <a:pt x="0" y="142017"/>
                </a:lnTo>
                <a:lnTo>
                  <a:pt x="0" y="0"/>
                </a:lnTo>
                <a:close/>
              </a:path>
            </a:pathLst>
          </a:custGeom>
          <a:blipFill>
            <a:blip r:embed="rId3"/>
            <a:stretch>
              <a:fillRect l="0" t="0" r="0" b="0"/>
            </a:stretch>
          </a:blipFill>
        </p:spPr>
      </p:sp>
      <p:sp>
        <p:nvSpPr>
          <p:cNvPr name="AutoShape 4" id="4"/>
          <p:cNvSpPr/>
          <p:nvPr/>
        </p:nvSpPr>
        <p:spPr>
          <a:xfrm>
            <a:off x="3469976" y="282798"/>
            <a:ext cx="0" cy="2084030"/>
          </a:xfrm>
          <a:prstGeom prst="line">
            <a:avLst/>
          </a:prstGeom>
          <a:ln cap="flat" w="38100">
            <a:solidFill>
              <a:srgbClr val="2E6417"/>
            </a:solidFill>
            <a:prstDash val="solid"/>
            <a:headEnd type="none" len="sm" w="sm"/>
            <a:tailEnd type="none" len="sm" w="sm"/>
          </a:ln>
        </p:spPr>
      </p:sp>
      <p:sp>
        <p:nvSpPr>
          <p:cNvPr name="TextBox 5" id="5"/>
          <p:cNvSpPr txBox="true"/>
          <p:nvPr/>
        </p:nvSpPr>
        <p:spPr>
          <a:xfrm rot="0">
            <a:off x="2216982" y="683637"/>
            <a:ext cx="13789324" cy="2611725"/>
          </a:xfrm>
          <a:prstGeom prst="rect">
            <a:avLst/>
          </a:prstGeom>
        </p:spPr>
        <p:txBody>
          <a:bodyPr anchor="t" rtlCol="false" tIns="0" lIns="0" bIns="0" rIns="0">
            <a:spAutoFit/>
          </a:bodyPr>
          <a:lstStyle/>
          <a:p>
            <a:pPr algn="ctr">
              <a:lnSpc>
                <a:spcPts val="10396"/>
              </a:lnSpc>
              <a:spcBef>
                <a:spcPct val="0"/>
              </a:spcBef>
            </a:pPr>
            <a:r>
              <a:rPr lang="en-US" b="true" sz="7426">
                <a:solidFill>
                  <a:srgbClr val="000000"/>
                </a:solidFill>
                <a:latin typeface="Times New Roman Bold"/>
                <a:ea typeface="Times New Roman Bold"/>
                <a:cs typeface="Times New Roman Bold"/>
                <a:sym typeface="Times New Roman Bold"/>
              </a:rPr>
              <a:t>Conclus</a:t>
            </a:r>
            <a:r>
              <a:rPr lang="en-US" b="true" sz="7426">
                <a:solidFill>
                  <a:srgbClr val="000000"/>
                </a:solidFill>
                <a:latin typeface="Times New Roman Bold"/>
                <a:ea typeface="Times New Roman Bold"/>
                <a:cs typeface="Times New Roman Bold"/>
                <a:sym typeface="Times New Roman Bold"/>
              </a:rPr>
              <a:t>ion</a:t>
            </a:r>
          </a:p>
          <a:p>
            <a:pPr algn="r">
              <a:lnSpc>
                <a:spcPts val="10396"/>
              </a:lnSpc>
              <a:spcBef>
                <a:spcPct val="0"/>
              </a:spcBef>
            </a:pPr>
          </a:p>
        </p:txBody>
      </p:sp>
      <p:sp>
        <p:nvSpPr>
          <p:cNvPr name="TextBox 6" id="6"/>
          <p:cNvSpPr txBox="true"/>
          <p:nvPr/>
        </p:nvSpPr>
        <p:spPr>
          <a:xfrm rot="0">
            <a:off x="1481628" y="2536036"/>
            <a:ext cx="15993582" cy="7022074"/>
          </a:xfrm>
          <a:prstGeom prst="rect">
            <a:avLst/>
          </a:prstGeom>
        </p:spPr>
        <p:txBody>
          <a:bodyPr anchor="t" rtlCol="false" tIns="0" lIns="0" bIns="0" rIns="0">
            <a:spAutoFit/>
          </a:bodyPr>
          <a:lstStyle/>
          <a:p>
            <a:pPr algn="l" marL="953280" indent="-476640" lvl="1">
              <a:lnSpc>
                <a:spcPts val="6181"/>
              </a:lnSpc>
              <a:buFont typeface="Arial"/>
              <a:buChar char="•"/>
            </a:pPr>
            <a:r>
              <a:rPr lang="en-US" sz="4415">
                <a:solidFill>
                  <a:srgbClr val="000000"/>
                </a:solidFill>
                <a:latin typeface="Times New Roman"/>
                <a:ea typeface="Times New Roman"/>
                <a:cs typeface="Times New Roman"/>
                <a:sym typeface="Times New Roman"/>
              </a:rPr>
              <a:t>The pr</a:t>
            </a:r>
            <a:r>
              <a:rPr lang="en-US" sz="4415">
                <a:solidFill>
                  <a:srgbClr val="000000"/>
                </a:solidFill>
                <a:latin typeface="Times New Roman"/>
                <a:ea typeface="Times New Roman"/>
                <a:cs typeface="Times New Roman"/>
                <a:sym typeface="Times New Roman"/>
              </a:rPr>
              <a:t>oject enabled safe, rel</a:t>
            </a:r>
            <a:r>
              <a:rPr lang="en-US" sz="4415">
                <a:solidFill>
                  <a:srgbClr val="000000"/>
                </a:solidFill>
                <a:latin typeface="Times New Roman"/>
                <a:ea typeface="Times New Roman"/>
                <a:cs typeface="Times New Roman"/>
                <a:sym typeface="Times New Roman"/>
              </a:rPr>
              <a:t>iable, and inclusive drinking water access for all households in Naala via a participatory approach.</a:t>
            </a:r>
          </a:p>
          <a:p>
            <a:pPr algn="l" marL="953280" indent="-476640" lvl="1">
              <a:lnSpc>
                <a:spcPts val="6181"/>
              </a:lnSpc>
              <a:buFont typeface="Arial"/>
              <a:buChar char="•"/>
            </a:pPr>
            <a:r>
              <a:rPr lang="en-US" sz="4415">
                <a:solidFill>
                  <a:srgbClr val="000000"/>
                </a:solidFill>
                <a:latin typeface="Times New Roman"/>
                <a:ea typeface="Times New Roman"/>
                <a:cs typeface="Times New Roman"/>
                <a:sym typeface="Times New Roman"/>
              </a:rPr>
              <a:t>The installed multistage filtration system with community management improved water safety, reduced disease risks, and addressed local social sensitivities.</a:t>
            </a:r>
          </a:p>
          <a:p>
            <a:pPr algn="l" marL="953280" indent="-476640" lvl="1">
              <a:lnSpc>
                <a:spcPts val="6181"/>
              </a:lnSpc>
              <a:buFont typeface="Arial"/>
              <a:buChar char="•"/>
            </a:pPr>
            <a:r>
              <a:rPr lang="en-US" sz="4415">
                <a:solidFill>
                  <a:srgbClr val="000000"/>
                </a:solidFill>
                <a:latin typeface="Times New Roman"/>
                <a:ea typeface="Times New Roman"/>
                <a:cs typeface="Times New Roman"/>
                <a:sym typeface="Times New Roman"/>
              </a:rPr>
              <a:t>Community ownership was enhanced by inclusive decision-making, awareness sessions, and hands on participation, ensuring sustainability.</a:t>
            </a:r>
          </a:p>
          <a:p>
            <a:pPr algn="l">
              <a:lnSpc>
                <a:spcPts val="6181"/>
              </a:lnSpc>
              <a:spcBef>
                <a:spcPct val="0"/>
              </a:spcBef>
            </a:pPr>
          </a:p>
        </p:txBody>
      </p:sp>
      <p:sp>
        <p:nvSpPr>
          <p:cNvPr name="Freeform 7" id="7"/>
          <p:cNvSpPr/>
          <p:nvPr/>
        </p:nvSpPr>
        <p:spPr>
          <a:xfrm flipH="false" flipV="false" rot="0">
            <a:off x="0" y="9258300"/>
            <a:ext cx="18288000" cy="1011582"/>
          </a:xfrm>
          <a:custGeom>
            <a:avLst/>
            <a:gdLst/>
            <a:ahLst/>
            <a:cxnLst/>
            <a:rect r="r" b="b" t="t" l="l"/>
            <a:pathLst>
              <a:path h="1011582" w="18288000">
                <a:moveTo>
                  <a:pt x="0" y="0"/>
                </a:moveTo>
                <a:lnTo>
                  <a:pt x="18288000" y="0"/>
                </a:lnTo>
                <a:lnTo>
                  <a:pt x="18288000" y="1011582"/>
                </a:lnTo>
                <a:lnTo>
                  <a:pt x="0" y="1011582"/>
                </a:lnTo>
                <a:lnTo>
                  <a:pt x="0" y="0"/>
                </a:lnTo>
                <a:close/>
              </a:path>
            </a:pathLst>
          </a:custGeom>
          <a:blipFill>
            <a:blip r:embed="rId4"/>
            <a:stretch>
              <a:fillRect l="-20856" t="0" r="-752" b="-1680"/>
            </a:stretch>
          </a:blipFill>
        </p:spPr>
      </p:sp>
      <p:sp>
        <p:nvSpPr>
          <p:cNvPr name="TextBox 8" id="8"/>
          <p:cNvSpPr txBox="true"/>
          <p:nvPr/>
        </p:nvSpPr>
        <p:spPr>
          <a:xfrm rot="0">
            <a:off x="731401" y="9365816"/>
            <a:ext cx="152400" cy="228600"/>
          </a:xfrm>
          <a:prstGeom prst="rect">
            <a:avLst/>
          </a:prstGeom>
        </p:spPr>
        <p:txBody>
          <a:bodyPr anchor="t" rtlCol="false" tIns="0" lIns="0" bIns="0" rIns="0" wrap="none">
            <a:spAutoFit/>
          </a:bodyPr>
          <a:lstStyle/>
          <a:p>
            <a:pPr algn="ctr">
              <a:lnSpc>
                <a:spcPts val="5970"/>
              </a:lnSpc>
              <a:spcBef>
                <a:spcPct val="0"/>
              </a:spcBef>
            </a:pPr>
            <a:r>
              <a:rPr lang="en-US" sz="4264">
                <a:solidFill>
                  <a:srgbClr val="FFFFFF"/>
                </a:solidFill>
                <a:latin typeface="Canva Sans"/>
                <a:ea typeface="Canva Sans"/>
                <a:cs typeface="Canva Sans"/>
                <a:sym typeface="Canva Sans"/>
              </a:rPr>
              <a:t>35</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81628" y="282798"/>
            <a:ext cx="1470709" cy="1792426"/>
          </a:xfrm>
          <a:custGeom>
            <a:avLst/>
            <a:gdLst/>
            <a:ahLst/>
            <a:cxnLst/>
            <a:rect r="r" b="b" t="t" l="l"/>
            <a:pathLst>
              <a:path h="1792426" w="1470709">
                <a:moveTo>
                  <a:pt x="0" y="0"/>
                </a:moveTo>
                <a:lnTo>
                  <a:pt x="1470708" y="0"/>
                </a:lnTo>
                <a:lnTo>
                  <a:pt x="1470708" y="1792426"/>
                </a:lnTo>
                <a:lnTo>
                  <a:pt x="0" y="1792426"/>
                </a:lnTo>
                <a:lnTo>
                  <a:pt x="0" y="0"/>
                </a:lnTo>
                <a:close/>
              </a:path>
            </a:pathLst>
          </a:custGeom>
          <a:blipFill>
            <a:blip r:embed="rId2"/>
            <a:stretch>
              <a:fillRect l="0" t="0" r="0" b="0"/>
            </a:stretch>
          </a:blipFill>
        </p:spPr>
      </p:sp>
      <p:sp>
        <p:nvSpPr>
          <p:cNvPr name="Freeform 3" id="3"/>
          <p:cNvSpPr/>
          <p:nvPr/>
        </p:nvSpPr>
        <p:spPr>
          <a:xfrm flipH="false" flipV="false" rot="0">
            <a:off x="1028700" y="2432119"/>
            <a:ext cx="16230600" cy="142018"/>
          </a:xfrm>
          <a:custGeom>
            <a:avLst/>
            <a:gdLst/>
            <a:ahLst/>
            <a:cxnLst/>
            <a:rect r="r" b="b" t="t" l="l"/>
            <a:pathLst>
              <a:path h="142018" w="16230600">
                <a:moveTo>
                  <a:pt x="0" y="0"/>
                </a:moveTo>
                <a:lnTo>
                  <a:pt x="16230600" y="0"/>
                </a:lnTo>
                <a:lnTo>
                  <a:pt x="16230600" y="142017"/>
                </a:lnTo>
                <a:lnTo>
                  <a:pt x="0" y="142017"/>
                </a:lnTo>
                <a:lnTo>
                  <a:pt x="0" y="0"/>
                </a:lnTo>
                <a:close/>
              </a:path>
            </a:pathLst>
          </a:custGeom>
          <a:blipFill>
            <a:blip r:embed="rId3"/>
            <a:stretch>
              <a:fillRect l="0" t="0" r="0" b="0"/>
            </a:stretch>
          </a:blipFill>
        </p:spPr>
      </p:sp>
      <p:sp>
        <p:nvSpPr>
          <p:cNvPr name="AutoShape 4" id="4"/>
          <p:cNvSpPr/>
          <p:nvPr/>
        </p:nvSpPr>
        <p:spPr>
          <a:xfrm>
            <a:off x="3469976" y="282798"/>
            <a:ext cx="0" cy="2084030"/>
          </a:xfrm>
          <a:prstGeom prst="line">
            <a:avLst/>
          </a:prstGeom>
          <a:ln cap="flat" w="38100">
            <a:solidFill>
              <a:srgbClr val="2E6417"/>
            </a:solidFill>
            <a:prstDash val="solid"/>
            <a:headEnd type="none" len="sm" w="sm"/>
            <a:tailEnd type="none" len="sm" w="sm"/>
          </a:ln>
        </p:spPr>
      </p:sp>
      <p:sp>
        <p:nvSpPr>
          <p:cNvPr name="TextBox 5" id="5"/>
          <p:cNvSpPr txBox="true"/>
          <p:nvPr/>
        </p:nvSpPr>
        <p:spPr>
          <a:xfrm rot="0">
            <a:off x="2249338" y="683637"/>
            <a:ext cx="13789324" cy="2611725"/>
          </a:xfrm>
          <a:prstGeom prst="rect">
            <a:avLst/>
          </a:prstGeom>
        </p:spPr>
        <p:txBody>
          <a:bodyPr anchor="t" rtlCol="false" tIns="0" lIns="0" bIns="0" rIns="0">
            <a:spAutoFit/>
          </a:bodyPr>
          <a:lstStyle/>
          <a:p>
            <a:pPr algn="ctr">
              <a:lnSpc>
                <a:spcPts val="10396"/>
              </a:lnSpc>
              <a:spcBef>
                <a:spcPct val="0"/>
              </a:spcBef>
            </a:pPr>
            <a:r>
              <a:rPr lang="en-US" b="true" sz="7426">
                <a:solidFill>
                  <a:srgbClr val="000000"/>
                </a:solidFill>
                <a:latin typeface="Times New Roman Bold"/>
                <a:ea typeface="Times New Roman Bold"/>
                <a:cs typeface="Times New Roman Bold"/>
                <a:sym typeface="Times New Roman Bold"/>
              </a:rPr>
              <a:t>Conclus</a:t>
            </a:r>
            <a:r>
              <a:rPr lang="en-US" b="true" sz="7426">
                <a:solidFill>
                  <a:srgbClr val="000000"/>
                </a:solidFill>
                <a:latin typeface="Times New Roman Bold"/>
                <a:ea typeface="Times New Roman Bold"/>
                <a:cs typeface="Times New Roman Bold"/>
                <a:sym typeface="Times New Roman Bold"/>
              </a:rPr>
              <a:t>ion</a:t>
            </a:r>
          </a:p>
          <a:p>
            <a:pPr algn="r">
              <a:lnSpc>
                <a:spcPts val="10396"/>
              </a:lnSpc>
              <a:spcBef>
                <a:spcPct val="0"/>
              </a:spcBef>
            </a:pPr>
          </a:p>
        </p:txBody>
      </p:sp>
      <p:sp>
        <p:nvSpPr>
          <p:cNvPr name="TextBox 6" id="6"/>
          <p:cNvSpPr txBox="true"/>
          <p:nvPr/>
        </p:nvSpPr>
        <p:spPr>
          <a:xfrm rot="0">
            <a:off x="1359753" y="2469361"/>
            <a:ext cx="15993582" cy="7145918"/>
          </a:xfrm>
          <a:prstGeom prst="rect">
            <a:avLst/>
          </a:prstGeom>
        </p:spPr>
        <p:txBody>
          <a:bodyPr anchor="t" rtlCol="false" tIns="0" lIns="0" bIns="0" rIns="0">
            <a:spAutoFit/>
          </a:bodyPr>
          <a:lstStyle/>
          <a:p>
            <a:pPr algn="l" marL="872160" indent="-436080" lvl="1">
              <a:lnSpc>
                <a:spcPts val="5655"/>
              </a:lnSpc>
              <a:buFont typeface="Arial"/>
              <a:buChar char="•"/>
            </a:pPr>
            <a:r>
              <a:rPr lang="en-US" sz="4039">
                <a:solidFill>
                  <a:srgbClr val="000000"/>
                </a:solidFill>
                <a:latin typeface="Times New Roman"/>
                <a:ea typeface="Times New Roman"/>
                <a:cs typeface="Times New Roman"/>
                <a:sym typeface="Times New Roman"/>
              </a:rPr>
              <a:t>Instead of imp</a:t>
            </a:r>
            <a:r>
              <a:rPr lang="en-US" sz="4039">
                <a:solidFill>
                  <a:srgbClr val="000000"/>
                </a:solidFill>
                <a:latin typeface="Times New Roman"/>
                <a:ea typeface="Times New Roman"/>
                <a:cs typeface="Times New Roman"/>
                <a:sym typeface="Times New Roman"/>
              </a:rPr>
              <a:t>osing a solution, we work</a:t>
            </a:r>
            <a:r>
              <a:rPr lang="en-US" sz="4039">
                <a:solidFill>
                  <a:srgbClr val="000000"/>
                </a:solidFill>
                <a:latin typeface="Times New Roman"/>
                <a:ea typeface="Times New Roman"/>
                <a:cs typeface="Times New Roman"/>
                <a:sym typeface="Times New Roman"/>
              </a:rPr>
              <a:t>ed hand-in-hand with the community using Human Centered Design tools  from storytelling , sketching ,voting etc. This helped us design and implement a culturally sensitive, low maintenance Jivamritam filtration unit that the villagers could truly own and sustain.</a:t>
            </a:r>
          </a:p>
          <a:p>
            <a:pPr algn="l" marL="872160" indent="-436080" lvl="1">
              <a:lnSpc>
                <a:spcPts val="5655"/>
              </a:lnSpc>
              <a:buFont typeface="Arial"/>
              <a:buChar char="•"/>
            </a:pPr>
            <a:r>
              <a:rPr lang="en-US" sz="4039">
                <a:solidFill>
                  <a:srgbClr val="000000"/>
                </a:solidFill>
                <a:latin typeface="Times New Roman"/>
                <a:ea typeface="Times New Roman"/>
                <a:cs typeface="Times New Roman"/>
                <a:sym typeface="Times New Roman"/>
              </a:rPr>
              <a:t>Com</a:t>
            </a:r>
            <a:r>
              <a:rPr lang="en-US" sz="4039">
                <a:solidFill>
                  <a:srgbClr val="000000"/>
                </a:solidFill>
                <a:latin typeface="Times New Roman"/>
                <a:ea typeface="Times New Roman"/>
                <a:cs typeface="Times New Roman"/>
                <a:sym typeface="Times New Roman"/>
              </a:rPr>
              <a:t>munity ownership was enhanced by inclusive decision-making, awareness sessions, and hands-on participation, ensuring sustainability.</a:t>
            </a:r>
          </a:p>
          <a:p>
            <a:pPr algn="l" marL="872160" indent="-436080" lvl="1">
              <a:lnSpc>
                <a:spcPts val="5655"/>
              </a:lnSpc>
              <a:buFont typeface="Arial"/>
              <a:buChar char="•"/>
            </a:pPr>
            <a:r>
              <a:rPr lang="en-US" sz="4039">
                <a:solidFill>
                  <a:srgbClr val="000000"/>
                </a:solidFill>
                <a:latin typeface="Times New Roman"/>
                <a:ea typeface="Times New Roman"/>
                <a:cs typeface="Times New Roman"/>
                <a:sym typeface="Times New Roman"/>
              </a:rPr>
              <a:t>A re</a:t>
            </a:r>
            <a:r>
              <a:rPr lang="en-US" sz="4039">
                <a:solidFill>
                  <a:srgbClr val="000000"/>
                </a:solidFill>
                <a:latin typeface="Times New Roman"/>
                <a:ea typeface="Times New Roman"/>
                <a:cs typeface="Times New Roman"/>
                <a:sym typeface="Times New Roman"/>
              </a:rPr>
              <a:t>gular cleaning schedule, continued community education, and monitoring of health outcomes.</a:t>
            </a:r>
          </a:p>
          <a:p>
            <a:pPr algn="l">
              <a:lnSpc>
                <a:spcPts val="5655"/>
              </a:lnSpc>
              <a:spcBef>
                <a:spcPct val="0"/>
              </a:spcBef>
            </a:pPr>
          </a:p>
        </p:txBody>
      </p:sp>
      <p:sp>
        <p:nvSpPr>
          <p:cNvPr name="Freeform 7" id="7"/>
          <p:cNvSpPr/>
          <p:nvPr/>
        </p:nvSpPr>
        <p:spPr>
          <a:xfrm flipH="false" flipV="false" rot="0">
            <a:off x="0" y="9258300"/>
            <a:ext cx="18288000" cy="1011582"/>
          </a:xfrm>
          <a:custGeom>
            <a:avLst/>
            <a:gdLst/>
            <a:ahLst/>
            <a:cxnLst/>
            <a:rect r="r" b="b" t="t" l="l"/>
            <a:pathLst>
              <a:path h="1011582" w="18288000">
                <a:moveTo>
                  <a:pt x="0" y="0"/>
                </a:moveTo>
                <a:lnTo>
                  <a:pt x="18288000" y="0"/>
                </a:lnTo>
                <a:lnTo>
                  <a:pt x="18288000" y="1011582"/>
                </a:lnTo>
                <a:lnTo>
                  <a:pt x="0" y="1011582"/>
                </a:lnTo>
                <a:lnTo>
                  <a:pt x="0" y="0"/>
                </a:lnTo>
                <a:close/>
              </a:path>
            </a:pathLst>
          </a:custGeom>
          <a:blipFill>
            <a:blip r:embed="rId4"/>
            <a:stretch>
              <a:fillRect l="-20856" t="0" r="-752" b="-1680"/>
            </a:stretch>
          </a:blipFill>
        </p:spPr>
      </p:sp>
      <p:sp>
        <p:nvSpPr>
          <p:cNvPr name="TextBox 8" id="8"/>
          <p:cNvSpPr txBox="true"/>
          <p:nvPr/>
        </p:nvSpPr>
        <p:spPr>
          <a:xfrm rot="0">
            <a:off x="731401" y="9365816"/>
            <a:ext cx="152400" cy="228600"/>
          </a:xfrm>
          <a:prstGeom prst="rect">
            <a:avLst/>
          </a:prstGeom>
        </p:spPr>
        <p:txBody>
          <a:bodyPr anchor="t" rtlCol="false" tIns="0" lIns="0" bIns="0" rIns="0" wrap="none">
            <a:spAutoFit/>
          </a:bodyPr>
          <a:lstStyle/>
          <a:p>
            <a:pPr algn="ctr">
              <a:lnSpc>
                <a:spcPts val="5970"/>
              </a:lnSpc>
              <a:spcBef>
                <a:spcPct val="0"/>
              </a:spcBef>
            </a:pPr>
            <a:r>
              <a:rPr lang="en-US" sz="4264">
                <a:solidFill>
                  <a:srgbClr val="FFFFFF"/>
                </a:solidFill>
                <a:latin typeface="Canva Sans"/>
                <a:ea typeface="Canva Sans"/>
                <a:cs typeface="Canva Sans"/>
                <a:sym typeface="Canva Sans"/>
              </a:rPr>
              <a:t>36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DAG3pUnFeeY</dc:identifier>
  <dcterms:modified xsi:type="dcterms:W3CDTF">2011-08-01T06:04:30Z</dcterms:modified>
  <cp:revision>1</cp:revision>
  <dc:title>Live in Labs II TEAM : ABHYUDAYA</dc:title>
</cp:coreProperties>
</file>