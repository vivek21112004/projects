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HK Grotesk Bold" charset="1" panose="00000800000000000000"/>
      <p:regular r:id="rId20"/>
    </p:embeddedFont>
    <p:embeddedFont>
      <p:font typeface="HK Grotesk Medium" charset="1" panose="00000600000000000000"/>
      <p:regular r:id="rId21"/>
    </p:embeddedFont>
    <p:embeddedFont>
      <p:font typeface="HK Grotesk"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62406B"/>
        </a:solidFill>
      </p:bgPr>
    </p:bg>
    <p:spTree>
      <p:nvGrpSpPr>
        <p:cNvPr id="1" name=""/>
        <p:cNvGrpSpPr/>
        <p:nvPr/>
      </p:nvGrpSpPr>
      <p:grpSpPr>
        <a:xfrm>
          <a:off x="0" y="0"/>
          <a:ext cx="0" cy="0"/>
          <a:chOff x="0" y="0"/>
          <a:chExt cx="0" cy="0"/>
        </a:xfrm>
      </p:grpSpPr>
      <p:sp>
        <p:nvSpPr>
          <p:cNvPr name="AutoShape 2" id="2"/>
          <p:cNvSpPr/>
          <p:nvPr/>
        </p:nvSpPr>
        <p:spPr>
          <a:xfrm rot="0">
            <a:off x="17223649" y="1028700"/>
            <a:ext cx="35651" cy="1142120"/>
          </a:xfrm>
          <a:prstGeom prst="rect">
            <a:avLst/>
          </a:prstGeom>
          <a:solidFill>
            <a:srgbClr val="FFFFFF"/>
          </a:solidFill>
        </p:spPr>
      </p:sp>
      <p:sp>
        <p:nvSpPr>
          <p:cNvPr name="TextBox 3" id="3"/>
          <p:cNvSpPr txBox="true"/>
          <p:nvPr/>
        </p:nvSpPr>
        <p:spPr>
          <a:xfrm rot="0">
            <a:off x="849581" y="5816362"/>
            <a:ext cx="16537404" cy="1550231"/>
          </a:xfrm>
          <a:prstGeom prst="rect">
            <a:avLst/>
          </a:prstGeom>
        </p:spPr>
        <p:txBody>
          <a:bodyPr anchor="t" rtlCol="false" tIns="0" lIns="0" bIns="0" rIns="0">
            <a:spAutoFit/>
          </a:bodyPr>
          <a:lstStyle/>
          <a:p>
            <a:pPr algn="l">
              <a:lnSpc>
                <a:spcPts val="5931"/>
              </a:lnSpc>
            </a:pPr>
            <a:r>
              <a:rPr lang="en-US" sz="6052" b="true">
                <a:solidFill>
                  <a:srgbClr val="FFFFFF"/>
                </a:solidFill>
                <a:latin typeface="HK Grotesk Bold"/>
                <a:ea typeface="HK Grotesk Bold"/>
                <a:cs typeface="HK Grotesk Bold"/>
                <a:sym typeface="HK Grotesk Bold"/>
              </a:rPr>
              <a:t>Smart Medicine Reminder with Heartbeat Detection and RTC Alarm System</a:t>
            </a:r>
          </a:p>
        </p:txBody>
      </p:sp>
      <p:sp>
        <p:nvSpPr>
          <p:cNvPr name="TextBox 4" id="4"/>
          <p:cNvSpPr txBox="true"/>
          <p:nvPr/>
        </p:nvSpPr>
        <p:spPr>
          <a:xfrm rot="0">
            <a:off x="1028700" y="8856990"/>
            <a:ext cx="1529329" cy="401310"/>
          </a:xfrm>
          <a:prstGeom prst="rect">
            <a:avLst/>
          </a:prstGeom>
        </p:spPr>
        <p:txBody>
          <a:bodyPr anchor="t" rtlCol="false" tIns="0" lIns="0" bIns="0" rIns="0">
            <a:spAutoFit/>
          </a:bodyPr>
          <a:lstStyle/>
          <a:p>
            <a:pPr algn="l">
              <a:lnSpc>
                <a:spcPts val="3360"/>
              </a:lnSpc>
              <a:spcBef>
                <a:spcPct val="0"/>
              </a:spcBef>
            </a:pPr>
            <a:r>
              <a:rPr lang="en-US" sz="2400" b="true">
                <a:solidFill>
                  <a:srgbClr val="FFFFFF"/>
                </a:solidFill>
                <a:latin typeface="HK Grotesk Bold"/>
                <a:ea typeface="HK Grotesk Bold"/>
                <a:cs typeface="HK Grotesk Bold"/>
                <a:sym typeface="HK Grotesk Bold"/>
              </a:rPr>
              <a:t>01</a:t>
            </a:r>
          </a:p>
        </p:txBody>
      </p:sp>
      <p:sp>
        <p:nvSpPr>
          <p:cNvPr name="Freeform 5" id="5"/>
          <p:cNvSpPr/>
          <p:nvPr/>
        </p:nvSpPr>
        <p:spPr>
          <a:xfrm flipH="false" flipV="false" rot="0">
            <a:off x="737679" y="0"/>
            <a:ext cx="16485970" cy="4663333"/>
          </a:xfrm>
          <a:custGeom>
            <a:avLst/>
            <a:gdLst/>
            <a:ahLst/>
            <a:cxnLst/>
            <a:rect r="r" b="b" t="t" l="l"/>
            <a:pathLst>
              <a:path h="4663333" w="16485970">
                <a:moveTo>
                  <a:pt x="0" y="0"/>
                </a:moveTo>
                <a:lnTo>
                  <a:pt x="16485970" y="0"/>
                </a:lnTo>
                <a:lnTo>
                  <a:pt x="16485970" y="4663333"/>
                </a:lnTo>
                <a:lnTo>
                  <a:pt x="0" y="4663333"/>
                </a:lnTo>
                <a:lnTo>
                  <a:pt x="0" y="0"/>
                </a:lnTo>
                <a:close/>
              </a:path>
            </a:pathLst>
          </a:custGeom>
          <a:blipFill>
            <a:blip r:embed="rId2">
              <a:alphaModFix amt="61000"/>
            </a:blip>
            <a:stretch>
              <a:fillRect l="0" t="-36474" r="0" b="-99060"/>
            </a:stretch>
          </a:blipFill>
        </p:spPr>
      </p:sp>
    </p:spTree>
  </p:cSld>
  <p:clrMapOvr>
    <a:masterClrMapping/>
  </p:clrMapOvr>
</p:sld>
</file>

<file path=ppt/slides/slide2.xml><?xml version="1.0" encoding="utf-8"?>
<p:sld xmlns:p="http://schemas.openxmlformats.org/presentationml/2006/main" xmlns:a="http://schemas.openxmlformats.org/drawingml/2006/main">
  <p:cSld>
    <p:bg>
      <p:bgPr>
        <a:solidFill>
          <a:srgbClr val="62406B"/>
        </a:solidFill>
      </p:bgPr>
    </p:bg>
    <p:spTree>
      <p:nvGrpSpPr>
        <p:cNvPr id="1" name=""/>
        <p:cNvGrpSpPr/>
        <p:nvPr/>
      </p:nvGrpSpPr>
      <p:grpSpPr>
        <a:xfrm>
          <a:off x="0" y="0"/>
          <a:ext cx="0" cy="0"/>
          <a:chOff x="0" y="0"/>
          <a:chExt cx="0" cy="0"/>
        </a:xfrm>
      </p:grpSpPr>
      <p:sp>
        <p:nvSpPr>
          <p:cNvPr name="AutoShape 2" id="2"/>
          <p:cNvSpPr/>
          <p:nvPr/>
        </p:nvSpPr>
        <p:spPr>
          <a:xfrm rot="0">
            <a:off x="0" y="2743200"/>
            <a:ext cx="18288000" cy="7543800"/>
          </a:xfrm>
          <a:prstGeom prst="rect">
            <a:avLst/>
          </a:prstGeom>
          <a:solidFill>
            <a:srgbClr val="FFFFFF"/>
          </a:solidFill>
        </p:spPr>
      </p:sp>
      <p:sp>
        <p:nvSpPr>
          <p:cNvPr name="TextBox 3" id="3"/>
          <p:cNvSpPr txBox="true"/>
          <p:nvPr/>
        </p:nvSpPr>
        <p:spPr>
          <a:xfrm rot="0">
            <a:off x="15729971" y="981075"/>
            <a:ext cx="1529329" cy="401310"/>
          </a:xfrm>
          <a:prstGeom prst="rect">
            <a:avLst/>
          </a:prstGeom>
        </p:spPr>
        <p:txBody>
          <a:bodyPr anchor="t" rtlCol="false" tIns="0" lIns="0" bIns="0" rIns="0">
            <a:spAutoFit/>
          </a:bodyPr>
          <a:lstStyle/>
          <a:p>
            <a:pPr algn="r">
              <a:lnSpc>
                <a:spcPts val="3360"/>
              </a:lnSpc>
              <a:spcBef>
                <a:spcPct val="0"/>
              </a:spcBef>
            </a:pPr>
            <a:r>
              <a:rPr lang="en-US" b="true" sz="2400">
                <a:solidFill>
                  <a:srgbClr val="FFFFFF"/>
                </a:solidFill>
                <a:latin typeface="HK Grotesk Bold"/>
                <a:ea typeface="HK Grotesk Bold"/>
                <a:cs typeface="HK Grotesk Bold"/>
                <a:sym typeface="HK Grotesk Bold"/>
              </a:rPr>
              <a:t>09</a:t>
            </a:r>
          </a:p>
        </p:txBody>
      </p:sp>
      <p:sp>
        <p:nvSpPr>
          <p:cNvPr name="TextBox 4" id="4"/>
          <p:cNvSpPr txBox="true"/>
          <p:nvPr/>
        </p:nvSpPr>
        <p:spPr>
          <a:xfrm rot="0">
            <a:off x="6624667" y="866775"/>
            <a:ext cx="6458337" cy="1394407"/>
          </a:xfrm>
          <a:prstGeom prst="rect">
            <a:avLst/>
          </a:prstGeom>
        </p:spPr>
        <p:txBody>
          <a:bodyPr anchor="t" rtlCol="false" tIns="0" lIns="0" bIns="0" rIns="0">
            <a:spAutoFit/>
          </a:bodyPr>
          <a:lstStyle/>
          <a:p>
            <a:pPr algn="l">
              <a:lnSpc>
                <a:spcPts val="11342"/>
              </a:lnSpc>
              <a:spcBef>
                <a:spcPct val="0"/>
              </a:spcBef>
            </a:pPr>
            <a:r>
              <a:rPr lang="en-US" sz="8102" b="true">
                <a:solidFill>
                  <a:srgbClr val="FFFFFF"/>
                </a:solidFill>
                <a:latin typeface="HK Grotesk Medium"/>
                <a:ea typeface="HK Grotesk Medium"/>
                <a:cs typeface="HK Grotesk Medium"/>
                <a:sym typeface="HK Grotesk Medium"/>
              </a:rPr>
              <a:t>ABSTRACT</a:t>
            </a:r>
          </a:p>
        </p:txBody>
      </p:sp>
      <p:sp>
        <p:nvSpPr>
          <p:cNvPr name="TextBox 5" id="5"/>
          <p:cNvSpPr txBox="true"/>
          <p:nvPr/>
        </p:nvSpPr>
        <p:spPr>
          <a:xfrm rot="0">
            <a:off x="3020601" y="3689803"/>
            <a:ext cx="12246798" cy="583435"/>
          </a:xfrm>
          <a:prstGeom prst="rect">
            <a:avLst/>
          </a:prstGeom>
        </p:spPr>
        <p:txBody>
          <a:bodyPr anchor="t" rtlCol="false" tIns="0" lIns="0" bIns="0" rIns="0">
            <a:spAutoFit/>
          </a:bodyPr>
          <a:lstStyle/>
          <a:p>
            <a:pPr algn="ctr">
              <a:lnSpc>
                <a:spcPts val="4760"/>
              </a:lnSpc>
              <a:spcBef>
                <a:spcPct val="0"/>
              </a:spcBef>
            </a:pPr>
          </a:p>
        </p:txBody>
      </p:sp>
      <p:sp>
        <p:nvSpPr>
          <p:cNvPr name="TextBox 6" id="6"/>
          <p:cNvSpPr txBox="true"/>
          <p:nvPr/>
        </p:nvSpPr>
        <p:spPr>
          <a:xfrm rot="0">
            <a:off x="671490" y="3153410"/>
            <a:ext cx="16945021" cy="6647180"/>
          </a:xfrm>
          <a:prstGeom prst="rect">
            <a:avLst/>
          </a:prstGeom>
        </p:spPr>
        <p:txBody>
          <a:bodyPr anchor="t" rtlCol="false" tIns="0" lIns="0" bIns="0" rIns="0">
            <a:spAutoFit/>
          </a:bodyPr>
          <a:lstStyle/>
          <a:p>
            <a:pPr algn="ctr">
              <a:lnSpc>
                <a:spcPts val="5319"/>
              </a:lnSpc>
              <a:spcBef>
                <a:spcPct val="0"/>
              </a:spcBef>
            </a:pPr>
            <a:r>
              <a:rPr lang="en-US" b="true" sz="3799">
                <a:solidFill>
                  <a:srgbClr val="000000"/>
                </a:solidFill>
                <a:latin typeface="HK Grotesk Medium"/>
                <a:ea typeface="HK Grotesk Medium"/>
                <a:cs typeface="HK Grotesk Medium"/>
                <a:sym typeface="HK Grotesk Medium"/>
              </a:rPr>
              <a:t>This project implements a microcontroller-based real-time clock and alarm system with an integrated heartbeat monitoring feature. Using the LPC2138 microcontroller, the system includes a 16x2 LCD for displaying time, alarms, and heartbeat data, a keypad for user input, a buzzer for notifications, and an ADC-connected heartbeat sensor. Users can set alarms via the keypad, triggering medication reminders displayed on the LCD alongside buzzer alerts. The heartbeat module will generate the pulse which will be displayed in the digital oscilloscope. Designed for healthcare and wellness applications, the system ensures precise timekeeping, efficient alarm management, and real-time health monitoring in a compact, user-friendly design.</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9144000" cy="10287000"/>
          </a:xfrm>
          <a:prstGeom prst="rect">
            <a:avLst/>
          </a:prstGeom>
          <a:solidFill>
            <a:srgbClr val="62406B"/>
          </a:solidFill>
        </p:spPr>
      </p:sp>
      <p:sp>
        <p:nvSpPr>
          <p:cNvPr name="TextBox 3" id="3"/>
          <p:cNvSpPr txBox="true"/>
          <p:nvPr/>
        </p:nvSpPr>
        <p:spPr>
          <a:xfrm rot="0">
            <a:off x="1208347" y="4245356"/>
            <a:ext cx="6727305" cy="1958214"/>
          </a:xfrm>
          <a:prstGeom prst="rect">
            <a:avLst/>
          </a:prstGeom>
        </p:spPr>
        <p:txBody>
          <a:bodyPr anchor="t" rtlCol="false" tIns="0" lIns="0" bIns="0" rIns="0">
            <a:spAutoFit/>
          </a:bodyPr>
          <a:lstStyle/>
          <a:p>
            <a:pPr algn="ctr">
              <a:lnSpc>
                <a:spcPts val="7546"/>
              </a:lnSpc>
            </a:pPr>
            <a:r>
              <a:rPr lang="en-US" sz="7700" b="true">
                <a:solidFill>
                  <a:srgbClr val="FFFFFF"/>
                </a:solidFill>
                <a:latin typeface="HK Grotesk Bold"/>
                <a:ea typeface="HK Grotesk Bold"/>
                <a:cs typeface="HK Grotesk Bold"/>
                <a:sym typeface="HK Grotesk Bold"/>
              </a:rPr>
              <a:t>COMPONENTS USED</a:t>
            </a:r>
          </a:p>
        </p:txBody>
      </p:sp>
      <p:sp>
        <p:nvSpPr>
          <p:cNvPr name="AutoShape 4" id="4"/>
          <p:cNvSpPr/>
          <p:nvPr/>
        </p:nvSpPr>
        <p:spPr>
          <a:xfrm rot="0">
            <a:off x="1028700" y="8116180"/>
            <a:ext cx="35651" cy="1142120"/>
          </a:xfrm>
          <a:prstGeom prst="rect">
            <a:avLst/>
          </a:prstGeom>
          <a:solidFill>
            <a:srgbClr val="FFFFFF"/>
          </a:solidFill>
        </p:spPr>
      </p:sp>
      <p:sp>
        <p:nvSpPr>
          <p:cNvPr name="TextBox 5" id="5"/>
          <p:cNvSpPr txBox="true"/>
          <p:nvPr/>
        </p:nvSpPr>
        <p:spPr>
          <a:xfrm rot="0">
            <a:off x="1028700" y="981075"/>
            <a:ext cx="1529329" cy="401310"/>
          </a:xfrm>
          <a:prstGeom prst="rect">
            <a:avLst/>
          </a:prstGeom>
        </p:spPr>
        <p:txBody>
          <a:bodyPr anchor="t" rtlCol="false" tIns="0" lIns="0" bIns="0" rIns="0">
            <a:spAutoFit/>
          </a:bodyPr>
          <a:lstStyle/>
          <a:p>
            <a:pPr algn="l">
              <a:lnSpc>
                <a:spcPts val="3360"/>
              </a:lnSpc>
              <a:spcBef>
                <a:spcPct val="0"/>
              </a:spcBef>
            </a:pPr>
            <a:r>
              <a:rPr lang="en-US" sz="2400" b="true">
                <a:solidFill>
                  <a:srgbClr val="FFFFFF"/>
                </a:solidFill>
                <a:latin typeface="HK Grotesk Bold"/>
                <a:ea typeface="HK Grotesk Bold"/>
                <a:cs typeface="HK Grotesk Bold"/>
                <a:sym typeface="HK Grotesk Bold"/>
              </a:rPr>
              <a:t>04</a:t>
            </a:r>
          </a:p>
        </p:txBody>
      </p:sp>
      <p:sp>
        <p:nvSpPr>
          <p:cNvPr name="TextBox 6" id="6"/>
          <p:cNvSpPr txBox="true"/>
          <p:nvPr/>
        </p:nvSpPr>
        <p:spPr>
          <a:xfrm rot="0">
            <a:off x="9945383" y="1757788"/>
            <a:ext cx="7864165" cy="683242"/>
          </a:xfrm>
          <a:prstGeom prst="rect">
            <a:avLst/>
          </a:prstGeom>
        </p:spPr>
        <p:txBody>
          <a:bodyPr anchor="t" rtlCol="false" tIns="0" lIns="0" bIns="0" rIns="0">
            <a:spAutoFit/>
          </a:bodyPr>
          <a:lstStyle/>
          <a:p>
            <a:pPr algn="ctr">
              <a:lnSpc>
                <a:spcPts val="5325"/>
              </a:lnSpc>
              <a:spcBef>
                <a:spcPct val="0"/>
              </a:spcBef>
            </a:pPr>
            <a:r>
              <a:rPr lang="en-US" b="true" sz="4438">
                <a:solidFill>
                  <a:srgbClr val="000000"/>
                </a:solidFill>
                <a:latin typeface="HK Grotesk Bold"/>
                <a:ea typeface="HK Grotesk Bold"/>
                <a:cs typeface="HK Grotesk Bold"/>
                <a:sym typeface="HK Grotesk Bold"/>
              </a:rPr>
              <a:t>LPC2148 MICROCONTROLLER</a:t>
            </a:r>
          </a:p>
        </p:txBody>
      </p:sp>
      <p:sp>
        <p:nvSpPr>
          <p:cNvPr name="TextBox 7" id="7"/>
          <p:cNvSpPr txBox="true"/>
          <p:nvPr/>
        </p:nvSpPr>
        <p:spPr>
          <a:xfrm rot="0">
            <a:off x="11256805" y="3326856"/>
            <a:ext cx="4954117" cy="679479"/>
          </a:xfrm>
          <a:prstGeom prst="rect">
            <a:avLst/>
          </a:prstGeom>
        </p:spPr>
        <p:txBody>
          <a:bodyPr anchor="t" rtlCol="false" tIns="0" lIns="0" bIns="0" rIns="0">
            <a:spAutoFit/>
          </a:bodyPr>
          <a:lstStyle/>
          <a:p>
            <a:pPr algn="ctr">
              <a:lnSpc>
                <a:spcPts val="5371"/>
              </a:lnSpc>
              <a:spcBef>
                <a:spcPct val="0"/>
              </a:spcBef>
            </a:pPr>
            <a:r>
              <a:rPr lang="en-US" b="true" sz="4476">
                <a:solidFill>
                  <a:srgbClr val="000000"/>
                </a:solidFill>
                <a:latin typeface="HK Grotesk Bold"/>
                <a:ea typeface="HK Grotesk Bold"/>
                <a:cs typeface="HK Grotesk Bold"/>
                <a:sym typeface="HK Grotesk Bold"/>
              </a:rPr>
              <a:t>16X2 LCD DISPLAY</a:t>
            </a:r>
          </a:p>
        </p:txBody>
      </p:sp>
      <p:sp>
        <p:nvSpPr>
          <p:cNvPr name="TextBox 8" id="8"/>
          <p:cNvSpPr txBox="true"/>
          <p:nvPr/>
        </p:nvSpPr>
        <p:spPr>
          <a:xfrm rot="0">
            <a:off x="11055834" y="4809825"/>
            <a:ext cx="5356060" cy="657795"/>
          </a:xfrm>
          <a:prstGeom prst="rect">
            <a:avLst/>
          </a:prstGeom>
        </p:spPr>
        <p:txBody>
          <a:bodyPr anchor="t" rtlCol="false" tIns="0" lIns="0" bIns="0" rIns="0">
            <a:spAutoFit/>
          </a:bodyPr>
          <a:lstStyle/>
          <a:p>
            <a:pPr algn="ctr">
              <a:lnSpc>
                <a:spcPts val="5124"/>
              </a:lnSpc>
              <a:spcBef>
                <a:spcPct val="0"/>
              </a:spcBef>
            </a:pPr>
            <a:r>
              <a:rPr lang="en-US" b="true" sz="4270">
                <a:solidFill>
                  <a:srgbClr val="000000"/>
                </a:solidFill>
                <a:latin typeface="HK Grotesk Bold"/>
                <a:ea typeface="HK Grotesk Bold"/>
                <a:cs typeface="HK Grotesk Bold"/>
                <a:sym typeface="HK Grotesk Bold"/>
              </a:rPr>
              <a:t>4X4 MATRIX KEYPAD</a:t>
            </a:r>
          </a:p>
        </p:txBody>
      </p:sp>
      <p:sp>
        <p:nvSpPr>
          <p:cNvPr name="TextBox 9" id="9"/>
          <p:cNvSpPr txBox="true"/>
          <p:nvPr/>
        </p:nvSpPr>
        <p:spPr>
          <a:xfrm rot="0">
            <a:off x="11962080" y="6049786"/>
            <a:ext cx="3543568" cy="644464"/>
          </a:xfrm>
          <a:prstGeom prst="rect">
            <a:avLst/>
          </a:prstGeom>
        </p:spPr>
        <p:txBody>
          <a:bodyPr anchor="t" rtlCol="false" tIns="0" lIns="0" bIns="0" rIns="0">
            <a:spAutoFit/>
          </a:bodyPr>
          <a:lstStyle/>
          <a:p>
            <a:pPr algn="ctr">
              <a:lnSpc>
                <a:spcPts val="5019"/>
              </a:lnSpc>
              <a:spcBef>
                <a:spcPct val="0"/>
              </a:spcBef>
            </a:pPr>
            <a:r>
              <a:rPr lang="en-US" b="true" sz="4182">
                <a:solidFill>
                  <a:srgbClr val="000000"/>
                </a:solidFill>
                <a:latin typeface="HK Grotesk Bold"/>
                <a:ea typeface="HK Grotesk Bold"/>
                <a:cs typeface="HK Grotesk Bold"/>
                <a:sym typeface="HK Grotesk Bold"/>
              </a:rPr>
              <a:t>PUSH BUTTON</a:t>
            </a:r>
          </a:p>
        </p:txBody>
      </p:sp>
      <p:sp>
        <p:nvSpPr>
          <p:cNvPr name="TextBox 10" id="10"/>
          <p:cNvSpPr txBox="true"/>
          <p:nvPr/>
        </p:nvSpPr>
        <p:spPr>
          <a:xfrm rot="0">
            <a:off x="12580259" y="7206588"/>
            <a:ext cx="2307210" cy="644464"/>
          </a:xfrm>
          <a:prstGeom prst="rect">
            <a:avLst/>
          </a:prstGeom>
        </p:spPr>
        <p:txBody>
          <a:bodyPr anchor="t" rtlCol="false" tIns="0" lIns="0" bIns="0" rIns="0">
            <a:spAutoFit/>
          </a:bodyPr>
          <a:lstStyle/>
          <a:p>
            <a:pPr algn="ctr">
              <a:lnSpc>
                <a:spcPts val="5019"/>
              </a:lnSpc>
              <a:spcBef>
                <a:spcPct val="0"/>
              </a:spcBef>
            </a:pPr>
            <a:r>
              <a:rPr lang="en-US" b="true" sz="4182">
                <a:solidFill>
                  <a:srgbClr val="000000"/>
                </a:solidFill>
                <a:latin typeface="HK Grotesk Bold"/>
                <a:ea typeface="HK Grotesk Bold"/>
                <a:cs typeface="HK Grotesk Bold"/>
                <a:sym typeface="HK Grotesk Bold"/>
              </a:rPr>
              <a:t>SPEAKER</a:t>
            </a:r>
          </a:p>
        </p:txBody>
      </p:sp>
      <p:sp>
        <p:nvSpPr>
          <p:cNvPr name="TextBox 11" id="11"/>
          <p:cNvSpPr txBox="true"/>
          <p:nvPr/>
        </p:nvSpPr>
        <p:spPr>
          <a:xfrm rot="0">
            <a:off x="11256732" y="8363390"/>
            <a:ext cx="5398798" cy="638152"/>
          </a:xfrm>
          <a:prstGeom prst="rect">
            <a:avLst/>
          </a:prstGeom>
        </p:spPr>
        <p:txBody>
          <a:bodyPr anchor="t" rtlCol="false" tIns="0" lIns="0" bIns="0" rIns="0">
            <a:spAutoFit/>
          </a:bodyPr>
          <a:lstStyle/>
          <a:p>
            <a:pPr algn="ctr">
              <a:lnSpc>
                <a:spcPts val="5019"/>
              </a:lnSpc>
              <a:spcBef>
                <a:spcPct val="0"/>
              </a:spcBef>
            </a:pPr>
            <a:r>
              <a:rPr lang="en-US" b="true" sz="4182">
                <a:solidFill>
                  <a:srgbClr val="000000"/>
                </a:solidFill>
                <a:latin typeface="HK Grotesk Bold"/>
                <a:ea typeface="HK Grotesk Bold"/>
                <a:cs typeface="HK Grotesk Bold"/>
                <a:sym typeface="HK Grotesk Bold"/>
              </a:rPr>
              <a:t>HEART BEAT SENSOR </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9144000" cy="10287000"/>
          </a:xfrm>
          <a:prstGeom prst="rect">
            <a:avLst/>
          </a:prstGeom>
          <a:solidFill>
            <a:srgbClr val="62406B"/>
          </a:solidFill>
        </p:spPr>
      </p:sp>
      <p:sp>
        <p:nvSpPr>
          <p:cNvPr name="TextBox 3" id="3"/>
          <p:cNvSpPr txBox="true"/>
          <p:nvPr/>
        </p:nvSpPr>
        <p:spPr>
          <a:xfrm rot="0">
            <a:off x="1208347" y="4245356"/>
            <a:ext cx="6727305" cy="1958214"/>
          </a:xfrm>
          <a:prstGeom prst="rect">
            <a:avLst/>
          </a:prstGeom>
        </p:spPr>
        <p:txBody>
          <a:bodyPr anchor="t" rtlCol="false" tIns="0" lIns="0" bIns="0" rIns="0">
            <a:spAutoFit/>
          </a:bodyPr>
          <a:lstStyle/>
          <a:p>
            <a:pPr algn="ctr">
              <a:lnSpc>
                <a:spcPts val="7546"/>
              </a:lnSpc>
            </a:pPr>
            <a:r>
              <a:rPr lang="en-US" sz="7700" b="true">
                <a:solidFill>
                  <a:srgbClr val="FFFFFF"/>
                </a:solidFill>
                <a:latin typeface="HK Grotesk Bold"/>
                <a:ea typeface="HK Grotesk Bold"/>
                <a:cs typeface="HK Grotesk Bold"/>
                <a:sym typeface="HK Grotesk Bold"/>
              </a:rPr>
              <a:t>PERIPHERALS USED</a:t>
            </a:r>
          </a:p>
        </p:txBody>
      </p:sp>
      <p:sp>
        <p:nvSpPr>
          <p:cNvPr name="AutoShape 4" id="4"/>
          <p:cNvSpPr/>
          <p:nvPr/>
        </p:nvSpPr>
        <p:spPr>
          <a:xfrm rot="0">
            <a:off x="1028700" y="8116180"/>
            <a:ext cx="35651" cy="1142120"/>
          </a:xfrm>
          <a:prstGeom prst="rect">
            <a:avLst/>
          </a:prstGeom>
          <a:solidFill>
            <a:srgbClr val="FFFFFF"/>
          </a:solidFill>
        </p:spPr>
      </p:sp>
      <p:sp>
        <p:nvSpPr>
          <p:cNvPr name="TextBox 5" id="5"/>
          <p:cNvSpPr txBox="true"/>
          <p:nvPr/>
        </p:nvSpPr>
        <p:spPr>
          <a:xfrm rot="0">
            <a:off x="1028700" y="981075"/>
            <a:ext cx="1529329" cy="401310"/>
          </a:xfrm>
          <a:prstGeom prst="rect">
            <a:avLst/>
          </a:prstGeom>
        </p:spPr>
        <p:txBody>
          <a:bodyPr anchor="t" rtlCol="false" tIns="0" lIns="0" bIns="0" rIns="0">
            <a:spAutoFit/>
          </a:bodyPr>
          <a:lstStyle/>
          <a:p>
            <a:pPr algn="l">
              <a:lnSpc>
                <a:spcPts val="3360"/>
              </a:lnSpc>
              <a:spcBef>
                <a:spcPct val="0"/>
              </a:spcBef>
            </a:pPr>
            <a:r>
              <a:rPr lang="en-US" sz="2400" b="true">
                <a:solidFill>
                  <a:srgbClr val="FFFFFF"/>
                </a:solidFill>
                <a:latin typeface="HK Grotesk Bold"/>
                <a:ea typeface="HK Grotesk Bold"/>
                <a:cs typeface="HK Grotesk Bold"/>
                <a:sym typeface="HK Grotesk Bold"/>
              </a:rPr>
              <a:t>04</a:t>
            </a:r>
          </a:p>
        </p:txBody>
      </p:sp>
      <p:sp>
        <p:nvSpPr>
          <p:cNvPr name="TextBox 6" id="6"/>
          <p:cNvSpPr txBox="true"/>
          <p:nvPr/>
        </p:nvSpPr>
        <p:spPr>
          <a:xfrm rot="0">
            <a:off x="9466932" y="2100315"/>
            <a:ext cx="8821068" cy="1356896"/>
          </a:xfrm>
          <a:prstGeom prst="rect">
            <a:avLst/>
          </a:prstGeom>
        </p:spPr>
        <p:txBody>
          <a:bodyPr anchor="t" rtlCol="false" tIns="0" lIns="0" bIns="0" rIns="0">
            <a:spAutoFit/>
          </a:bodyPr>
          <a:lstStyle/>
          <a:p>
            <a:pPr algn="ctr">
              <a:lnSpc>
                <a:spcPts val="5325"/>
              </a:lnSpc>
              <a:spcBef>
                <a:spcPct val="0"/>
              </a:spcBef>
            </a:pPr>
            <a:r>
              <a:rPr lang="en-US" b="true" sz="4438">
                <a:solidFill>
                  <a:srgbClr val="000000"/>
                </a:solidFill>
                <a:latin typeface="HK Grotesk Bold"/>
                <a:ea typeface="HK Grotesk Bold"/>
                <a:cs typeface="HK Grotesk Bold"/>
                <a:sym typeface="HK Grotesk Bold"/>
              </a:rPr>
              <a:t>GPIO( GENERAL PURPOSE INPUT OUTPUT PINS)</a:t>
            </a:r>
          </a:p>
        </p:txBody>
      </p:sp>
      <p:sp>
        <p:nvSpPr>
          <p:cNvPr name="TextBox 7" id="7"/>
          <p:cNvSpPr txBox="true"/>
          <p:nvPr/>
        </p:nvSpPr>
        <p:spPr>
          <a:xfrm rot="0">
            <a:off x="9179727" y="4809825"/>
            <a:ext cx="9108273" cy="1306065"/>
          </a:xfrm>
          <a:prstGeom prst="rect">
            <a:avLst/>
          </a:prstGeom>
        </p:spPr>
        <p:txBody>
          <a:bodyPr anchor="t" rtlCol="false" tIns="0" lIns="0" bIns="0" rIns="0">
            <a:spAutoFit/>
          </a:bodyPr>
          <a:lstStyle/>
          <a:p>
            <a:pPr algn="ctr">
              <a:lnSpc>
                <a:spcPts val="5124"/>
              </a:lnSpc>
              <a:spcBef>
                <a:spcPct val="0"/>
              </a:spcBef>
            </a:pPr>
            <a:r>
              <a:rPr lang="en-US" b="true" sz="4270">
                <a:solidFill>
                  <a:srgbClr val="000000"/>
                </a:solidFill>
                <a:latin typeface="HK Grotesk Bold"/>
                <a:ea typeface="HK Grotesk Bold"/>
                <a:cs typeface="HK Grotesk Bold"/>
                <a:sym typeface="HK Grotesk Bold"/>
              </a:rPr>
              <a:t>ADC ( ANALOG TO DIGITAL CONVERTER)</a:t>
            </a:r>
          </a:p>
        </p:txBody>
      </p:sp>
      <p:sp>
        <p:nvSpPr>
          <p:cNvPr name="TextBox 8" id="8"/>
          <p:cNvSpPr txBox="true"/>
          <p:nvPr/>
        </p:nvSpPr>
        <p:spPr>
          <a:xfrm rot="0">
            <a:off x="10675815" y="7471686"/>
            <a:ext cx="6116096" cy="644464"/>
          </a:xfrm>
          <a:prstGeom prst="rect">
            <a:avLst/>
          </a:prstGeom>
        </p:spPr>
        <p:txBody>
          <a:bodyPr anchor="t" rtlCol="false" tIns="0" lIns="0" bIns="0" rIns="0">
            <a:spAutoFit/>
          </a:bodyPr>
          <a:lstStyle/>
          <a:p>
            <a:pPr algn="ctr">
              <a:lnSpc>
                <a:spcPts val="5019"/>
              </a:lnSpc>
              <a:spcBef>
                <a:spcPct val="0"/>
              </a:spcBef>
            </a:pPr>
            <a:r>
              <a:rPr lang="en-US" b="true" sz="4182">
                <a:solidFill>
                  <a:srgbClr val="000000"/>
                </a:solidFill>
                <a:latin typeface="HK Grotesk Bold"/>
                <a:ea typeface="HK Grotesk Bold"/>
                <a:cs typeface="HK Grotesk Bold"/>
                <a:sym typeface="HK Grotesk Bold"/>
              </a:rPr>
              <a:t>REAL-TIME CLOCK (RTC)</a:t>
            </a:r>
          </a:p>
        </p:txBody>
      </p:sp>
      <p:sp>
        <p:nvSpPr>
          <p:cNvPr name="TextBox 9" id="9"/>
          <p:cNvSpPr txBox="true"/>
          <p:nvPr/>
        </p:nvSpPr>
        <p:spPr>
          <a:xfrm rot="0">
            <a:off x="9069645" y="4819650"/>
            <a:ext cx="148709" cy="638175"/>
          </a:xfrm>
          <a:prstGeom prst="rect">
            <a:avLst/>
          </a:prstGeom>
        </p:spPr>
        <p:txBody>
          <a:bodyPr anchor="t" rtlCol="false" tIns="0" lIns="0" bIns="0" rIns="0">
            <a:spAutoFit/>
          </a:bodyPr>
          <a:lstStyle/>
          <a:p>
            <a:pPr algn="ctr">
              <a:lnSpc>
                <a:spcPts val="5019"/>
              </a:lnSpc>
              <a:spcBef>
                <a:spcPct val="0"/>
              </a:spcBef>
            </a:pPr>
            <a:r>
              <a:rPr lang="en-US" b="true" sz="4182">
                <a:solidFill>
                  <a:srgbClr val="000000"/>
                </a:solidFill>
                <a:latin typeface="HK Grotesk Bold"/>
                <a:ea typeface="HK Grotesk Bold"/>
                <a:cs typeface="HK Grotesk Bold"/>
                <a:sym typeface="HK Grotesk Bold"/>
              </a:rPr>
              <a: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9144000" cy="10287000"/>
          </a:xfrm>
          <a:prstGeom prst="rect">
            <a:avLst/>
          </a:prstGeom>
          <a:solidFill>
            <a:srgbClr val="62406B"/>
          </a:solidFill>
        </p:spPr>
      </p:sp>
      <p:sp>
        <p:nvSpPr>
          <p:cNvPr name="AutoShape 3" id="3"/>
          <p:cNvSpPr/>
          <p:nvPr/>
        </p:nvSpPr>
        <p:spPr>
          <a:xfrm rot="0">
            <a:off x="1028700" y="8116180"/>
            <a:ext cx="35651" cy="1142120"/>
          </a:xfrm>
          <a:prstGeom prst="rect">
            <a:avLst/>
          </a:prstGeom>
          <a:solidFill>
            <a:srgbClr val="FFFFFF"/>
          </a:solidFill>
        </p:spPr>
      </p:sp>
      <p:sp>
        <p:nvSpPr>
          <p:cNvPr name="Freeform 4" id="4"/>
          <p:cNvSpPr/>
          <p:nvPr/>
        </p:nvSpPr>
        <p:spPr>
          <a:xfrm flipH="false" flipV="false" rot="0">
            <a:off x="9144000" y="2212381"/>
            <a:ext cx="9012180" cy="5735969"/>
          </a:xfrm>
          <a:custGeom>
            <a:avLst/>
            <a:gdLst/>
            <a:ahLst/>
            <a:cxnLst/>
            <a:rect r="r" b="b" t="t" l="l"/>
            <a:pathLst>
              <a:path h="5735969" w="9012180">
                <a:moveTo>
                  <a:pt x="0" y="0"/>
                </a:moveTo>
                <a:lnTo>
                  <a:pt x="9012180" y="0"/>
                </a:lnTo>
                <a:lnTo>
                  <a:pt x="9012180" y="5735969"/>
                </a:lnTo>
                <a:lnTo>
                  <a:pt x="0" y="5735969"/>
                </a:lnTo>
                <a:lnTo>
                  <a:pt x="0" y="0"/>
                </a:lnTo>
                <a:close/>
              </a:path>
            </a:pathLst>
          </a:custGeom>
          <a:blipFill>
            <a:blip r:embed="rId2"/>
            <a:stretch>
              <a:fillRect l="-5602" t="0" r="-5602" b="0"/>
            </a:stretch>
          </a:blipFill>
        </p:spPr>
      </p:sp>
      <p:grpSp>
        <p:nvGrpSpPr>
          <p:cNvPr name="Group 5" id="5"/>
          <p:cNvGrpSpPr/>
          <p:nvPr/>
        </p:nvGrpSpPr>
        <p:grpSpPr>
          <a:xfrm rot="0">
            <a:off x="453816" y="639763"/>
            <a:ext cx="8236368" cy="9459138"/>
            <a:chOff x="0" y="0"/>
            <a:chExt cx="10981824" cy="12612184"/>
          </a:xfrm>
        </p:grpSpPr>
        <p:sp>
          <p:nvSpPr>
            <p:cNvPr name="TextBox 6" id="6"/>
            <p:cNvSpPr txBox="true"/>
            <p:nvPr/>
          </p:nvSpPr>
          <p:spPr>
            <a:xfrm rot="0">
              <a:off x="0" y="123825"/>
              <a:ext cx="10981824" cy="1090299"/>
            </a:xfrm>
            <a:prstGeom prst="rect">
              <a:avLst/>
            </a:prstGeom>
          </p:spPr>
          <p:txBody>
            <a:bodyPr anchor="t" rtlCol="false" tIns="0" lIns="0" bIns="0" rIns="0">
              <a:spAutoFit/>
            </a:bodyPr>
            <a:lstStyle/>
            <a:p>
              <a:pPr algn="ctr">
                <a:lnSpc>
                  <a:spcPts val="5880"/>
                </a:lnSpc>
              </a:pPr>
              <a:r>
                <a:rPr lang="en-US" sz="6000" b="true">
                  <a:solidFill>
                    <a:srgbClr val="FFFFFF"/>
                  </a:solidFill>
                  <a:latin typeface="HK Grotesk Bold"/>
                  <a:ea typeface="HK Grotesk Bold"/>
                  <a:cs typeface="HK Grotesk Bold"/>
                  <a:sym typeface="HK Grotesk Bold"/>
                </a:rPr>
                <a:t>WORKING PRINCIPLE</a:t>
              </a:r>
            </a:p>
          </p:txBody>
        </p:sp>
        <p:sp>
          <p:nvSpPr>
            <p:cNvPr name="TextBox 7" id="7"/>
            <p:cNvSpPr txBox="true"/>
            <p:nvPr/>
          </p:nvSpPr>
          <p:spPr>
            <a:xfrm rot="0">
              <a:off x="1020283" y="1758976"/>
              <a:ext cx="8941257" cy="10853208"/>
            </a:xfrm>
            <a:prstGeom prst="rect">
              <a:avLst/>
            </a:prstGeom>
          </p:spPr>
          <p:txBody>
            <a:bodyPr anchor="t" rtlCol="false" tIns="0" lIns="0" bIns="0" rIns="0">
              <a:spAutoFit/>
            </a:bodyPr>
            <a:lstStyle/>
            <a:p>
              <a:pPr algn="ctr">
                <a:lnSpc>
                  <a:spcPts val="4899"/>
                </a:lnSpc>
              </a:pPr>
              <a:r>
                <a:rPr lang="en-US" sz="3499" b="true">
                  <a:solidFill>
                    <a:srgbClr val="FFFFFF"/>
                  </a:solidFill>
                  <a:latin typeface="HK Grotesk Medium"/>
                  <a:ea typeface="HK Grotesk Medium"/>
                  <a:cs typeface="HK Grotesk Medium"/>
                  <a:sym typeface="HK Grotesk Medium"/>
                </a:rPr>
                <a:t>Real-Time Clock (RTC) Functionality:</a:t>
              </a:r>
            </a:p>
            <a:p>
              <a:pPr algn="ctr" marL="647702" indent="-323851" lvl="1">
                <a:lnSpc>
                  <a:spcPts val="4200"/>
                </a:lnSpc>
                <a:buFont typeface="Arial"/>
                <a:buChar char="•"/>
              </a:pPr>
              <a:r>
                <a:rPr lang="en-US" sz="3000">
                  <a:solidFill>
                    <a:srgbClr val="FFFFFF"/>
                  </a:solidFill>
                  <a:latin typeface="HK Grotesk"/>
                  <a:ea typeface="HK Grotesk"/>
                  <a:cs typeface="HK Grotesk"/>
                  <a:sym typeface="HK Grotesk"/>
                </a:rPr>
                <a:t>The LPC2148 microcontroller, which includes an inbuilt Real-Time Clock (RTC), is responsible for continuously counting real-time data, including seconds, minutes, hours, days, months, and years.</a:t>
              </a:r>
            </a:p>
            <a:p>
              <a:pPr algn="ctr" marL="647702" indent="-323851" lvl="1">
                <a:lnSpc>
                  <a:spcPts val="4200"/>
                </a:lnSpc>
                <a:buFont typeface="Arial"/>
                <a:buChar char="•"/>
              </a:pPr>
              <a:r>
                <a:rPr lang="en-US" sz="3000">
                  <a:solidFill>
                    <a:srgbClr val="FFFFFF"/>
                  </a:solidFill>
                  <a:latin typeface="HK Grotesk"/>
                  <a:ea typeface="HK Grotesk"/>
                  <a:cs typeface="HK Grotesk"/>
                  <a:sym typeface="HK Grotesk"/>
                </a:rPr>
                <a:t>The RTC is powered by a 32.768 kHz oscillator or a programmable prescaler divider from the APB clock. It maintains accurate time and calendar functionality even in low-power mode.</a:t>
              </a:r>
            </a:p>
            <a:p>
              <a:pPr algn="ctr">
                <a:lnSpc>
                  <a:spcPts val="4200"/>
                </a:lnSpc>
                <a:spcBef>
                  <a:spcPct val="0"/>
                </a:spcBef>
              </a:pPr>
            </a:p>
          </p:txBody>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62406B"/>
        </a:solidFill>
      </p:bgPr>
    </p:bg>
    <p:spTree>
      <p:nvGrpSpPr>
        <p:cNvPr id="1" name=""/>
        <p:cNvGrpSpPr/>
        <p:nvPr/>
      </p:nvGrpSpPr>
      <p:grpSpPr>
        <a:xfrm>
          <a:off x="0" y="0"/>
          <a:ext cx="0" cy="0"/>
          <a:chOff x="0" y="0"/>
          <a:chExt cx="0" cy="0"/>
        </a:xfrm>
      </p:grpSpPr>
      <p:sp>
        <p:nvSpPr>
          <p:cNvPr name="TextBox 2" id="2"/>
          <p:cNvSpPr txBox="true"/>
          <p:nvPr/>
        </p:nvSpPr>
        <p:spPr>
          <a:xfrm rot="0">
            <a:off x="3305216" y="588830"/>
            <a:ext cx="12211128" cy="1041666"/>
          </a:xfrm>
          <a:prstGeom prst="rect">
            <a:avLst/>
          </a:prstGeom>
        </p:spPr>
        <p:txBody>
          <a:bodyPr anchor="t" rtlCol="false" tIns="0" lIns="0" bIns="0" rIns="0">
            <a:spAutoFit/>
          </a:bodyPr>
          <a:lstStyle/>
          <a:p>
            <a:pPr algn="ctr">
              <a:lnSpc>
                <a:spcPts val="7839"/>
              </a:lnSpc>
            </a:pPr>
            <a:r>
              <a:rPr lang="en-US" sz="7999" b="true">
                <a:solidFill>
                  <a:srgbClr val="FFFFFF"/>
                </a:solidFill>
                <a:latin typeface="HK Grotesk Bold"/>
                <a:ea typeface="HK Grotesk Bold"/>
                <a:cs typeface="HK Grotesk Bold"/>
                <a:sym typeface="HK Grotesk Bold"/>
              </a:rPr>
              <a:t>WORKING PRINCIPLE</a:t>
            </a:r>
          </a:p>
        </p:txBody>
      </p:sp>
      <p:sp>
        <p:nvSpPr>
          <p:cNvPr name="TextBox 3" id="3"/>
          <p:cNvSpPr txBox="true"/>
          <p:nvPr/>
        </p:nvSpPr>
        <p:spPr>
          <a:xfrm rot="0">
            <a:off x="1663593" y="2698011"/>
            <a:ext cx="6782436" cy="5762340"/>
          </a:xfrm>
          <a:prstGeom prst="rect">
            <a:avLst/>
          </a:prstGeom>
        </p:spPr>
        <p:txBody>
          <a:bodyPr anchor="t" rtlCol="false" tIns="0" lIns="0" bIns="0" rIns="0">
            <a:spAutoFit/>
          </a:bodyPr>
          <a:lstStyle/>
          <a:p>
            <a:pPr algn="ctr">
              <a:lnSpc>
                <a:spcPts val="7980"/>
              </a:lnSpc>
              <a:spcBef>
                <a:spcPct val="0"/>
              </a:spcBef>
            </a:pPr>
            <a:r>
              <a:rPr lang="en-US" b="true" sz="5700">
                <a:solidFill>
                  <a:srgbClr val="FFFFFF"/>
                </a:solidFill>
                <a:latin typeface="HK Grotesk Medium"/>
                <a:ea typeface="HK Grotesk Medium"/>
                <a:cs typeface="HK Grotesk Medium"/>
                <a:sym typeface="HK Grotesk Medium"/>
              </a:rPr>
              <a:t>Alarm Setup:</a:t>
            </a:r>
          </a:p>
          <a:p>
            <a:pPr algn="ctr">
              <a:lnSpc>
                <a:spcPts val="5396"/>
              </a:lnSpc>
              <a:spcBef>
                <a:spcPct val="0"/>
              </a:spcBef>
            </a:pPr>
            <a:r>
              <a:rPr lang="en-US" b="true" sz="3854">
                <a:solidFill>
                  <a:srgbClr val="FFFFFF"/>
                </a:solidFill>
                <a:latin typeface="HK Grotesk Medium"/>
                <a:ea typeface="HK Grotesk Medium"/>
                <a:cs typeface="HK Grotesk Medium"/>
                <a:sym typeface="HK Grotesk Medium"/>
              </a:rPr>
              <a:t>The microcontroller supports alarm functionality. When the set alarm time matches the real-time clock, an interrupt is triggered. The speaker can be triggered to produce sounds</a:t>
            </a:r>
          </a:p>
          <a:p>
            <a:pPr algn="ctr">
              <a:lnSpc>
                <a:spcPts val="5396"/>
              </a:lnSpc>
              <a:spcBef>
                <a:spcPct val="0"/>
              </a:spcBef>
            </a:pPr>
          </a:p>
        </p:txBody>
      </p:sp>
      <p:sp>
        <p:nvSpPr>
          <p:cNvPr name="TextBox 4" id="4"/>
          <p:cNvSpPr txBox="true"/>
          <p:nvPr/>
        </p:nvSpPr>
        <p:spPr>
          <a:xfrm rot="0">
            <a:off x="10587739" y="2707536"/>
            <a:ext cx="5528889" cy="6669672"/>
          </a:xfrm>
          <a:prstGeom prst="rect">
            <a:avLst/>
          </a:prstGeom>
        </p:spPr>
        <p:txBody>
          <a:bodyPr anchor="t" rtlCol="false" tIns="0" lIns="0" bIns="0" rIns="0">
            <a:spAutoFit/>
          </a:bodyPr>
          <a:lstStyle/>
          <a:p>
            <a:pPr algn="ctr">
              <a:lnSpc>
                <a:spcPts val="6323"/>
              </a:lnSpc>
              <a:spcBef>
                <a:spcPct val="0"/>
              </a:spcBef>
            </a:pPr>
            <a:r>
              <a:rPr lang="en-US" b="true" sz="4516">
                <a:solidFill>
                  <a:srgbClr val="FFFFFF"/>
                </a:solidFill>
                <a:latin typeface="HK Grotesk Medium"/>
                <a:ea typeface="HK Grotesk Medium"/>
                <a:cs typeface="HK Grotesk Medium"/>
                <a:sym typeface="HK Grotesk Medium"/>
              </a:rPr>
              <a:t>User Interaction:</a:t>
            </a:r>
          </a:p>
          <a:p>
            <a:pPr algn="ctr">
              <a:lnSpc>
                <a:spcPts val="4626"/>
              </a:lnSpc>
              <a:spcBef>
                <a:spcPct val="0"/>
              </a:spcBef>
            </a:pPr>
            <a:r>
              <a:rPr lang="en-US" b="true" sz="3304">
                <a:solidFill>
                  <a:srgbClr val="FFFFFF"/>
                </a:solidFill>
                <a:latin typeface="HK Grotesk Medium"/>
                <a:ea typeface="HK Grotesk Medium"/>
                <a:cs typeface="HK Grotesk Medium"/>
                <a:sym typeface="HK Grotesk Medium"/>
              </a:rPr>
              <a:t>A 4x4 matrix keypad is interfaced with the microcontroller to allow user input.</a:t>
            </a:r>
          </a:p>
          <a:p>
            <a:pPr algn="ctr">
              <a:lnSpc>
                <a:spcPts val="4626"/>
              </a:lnSpc>
              <a:spcBef>
                <a:spcPct val="0"/>
              </a:spcBef>
            </a:pPr>
            <a:r>
              <a:rPr lang="en-US" b="true" sz="3304">
                <a:solidFill>
                  <a:srgbClr val="FFFFFF"/>
                </a:solidFill>
                <a:latin typeface="HK Grotesk Medium"/>
                <a:ea typeface="HK Grotesk Medium"/>
                <a:cs typeface="HK Grotesk Medium"/>
                <a:sym typeface="HK Grotesk Medium"/>
              </a:rPr>
              <a:t>Users can configure the clock, edit the current time, or set alarm times via the keypad. Pressing the edit button generates an interrupt, enabling these functionalities.</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62406B"/>
        </a:solidFill>
      </p:bgPr>
    </p:bg>
    <p:spTree>
      <p:nvGrpSpPr>
        <p:cNvPr id="1" name=""/>
        <p:cNvGrpSpPr/>
        <p:nvPr/>
      </p:nvGrpSpPr>
      <p:grpSpPr>
        <a:xfrm>
          <a:off x="0" y="0"/>
          <a:ext cx="0" cy="0"/>
          <a:chOff x="0" y="0"/>
          <a:chExt cx="0" cy="0"/>
        </a:xfrm>
      </p:grpSpPr>
      <p:sp>
        <p:nvSpPr>
          <p:cNvPr name="TextBox 2" id="2"/>
          <p:cNvSpPr txBox="true"/>
          <p:nvPr/>
        </p:nvSpPr>
        <p:spPr>
          <a:xfrm rot="0">
            <a:off x="3305216" y="588830"/>
            <a:ext cx="12211128" cy="1041666"/>
          </a:xfrm>
          <a:prstGeom prst="rect">
            <a:avLst/>
          </a:prstGeom>
        </p:spPr>
        <p:txBody>
          <a:bodyPr anchor="t" rtlCol="false" tIns="0" lIns="0" bIns="0" rIns="0">
            <a:spAutoFit/>
          </a:bodyPr>
          <a:lstStyle/>
          <a:p>
            <a:pPr algn="ctr">
              <a:lnSpc>
                <a:spcPts val="7839"/>
              </a:lnSpc>
            </a:pPr>
            <a:r>
              <a:rPr lang="en-US" sz="7999" b="true">
                <a:solidFill>
                  <a:srgbClr val="FFFFFF"/>
                </a:solidFill>
                <a:latin typeface="HK Grotesk Bold"/>
                <a:ea typeface="HK Grotesk Bold"/>
                <a:cs typeface="HK Grotesk Bold"/>
                <a:sym typeface="HK Grotesk Bold"/>
              </a:rPr>
              <a:t>WORKING PRINCIPLE</a:t>
            </a:r>
          </a:p>
        </p:txBody>
      </p:sp>
      <p:sp>
        <p:nvSpPr>
          <p:cNvPr name="TextBox 3" id="3"/>
          <p:cNvSpPr txBox="true"/>
          <p:nvPr/>
        </p:nvSpPr>
        <p:spPr>
          <a:xfrm rot="0">
            <a:off x="855320" y="2709674"/>
            <a:ext cx="7413389" cy="5651826"/>
          </a:xfrm>
          <a:prstGeom prst="rect">
            <a:avLst/>
          </a:prstGeom>
        </p:spPr>
        <p:txBody>
          <a:bodyPr anchor="t" rtlCol="false" tIns="0" lIns="0" bIns="0" rIns="0">
            <a:spAutoFit/>
          </a:bodyPr>
          <a:lstStyle/>
          <a:p>
            <a:pPr algn="ctr">
              <a:lnSpc>
                <a:spcPts val="6807"/>
              </a:lnSpc>
              <a:spcBef>
                <a:spcPct val="0"/>
              </a:spcBef>
            </a:pPr>
            <a:r>
              <a:rPr lang="en-US" b="true" sz="4862">
                <a:solidFill>
                  <a:srgbClr val="FFFFFF"/>
                </a:solidFill>
                <a:latin typeface="HK Grotesk Medium"/>
                <a:ea typeface="HK Grotesk Medium"/>
                <a:cs typeface="HK Grotesk Medium"/>
                <a:sym typeface="HK Grotesk Medium"/>
              </a:rPr>
              <a:t>LCD Display:</a:t>
            </a:r>
          </a:p>
          <a:p>
            <a:pPr algn="ctr">
              <a:lnSpc>
                <a:spcPts val="5407"/>
              </a:lnSpc>
              <a:spcBef>
                <a:spcPct val="0"/>
              </a:spcBef>
            </a:pPr>
            <a:r>
              <a:rPr lang="en-US" b="true" sz="3862">
                <a:solidFill>
                  <a:srgbClr val="FFFFFF"/>
                </a:solidFill>
                <a:latin typeface="HK Grotesk Medium"/>
                <a:ea typeface="HK Grotesk Medium"/>
                <a:cs typeface="HK Grotesk Medium"/>
                <a:sym typeface="HK Grotesk Medium"/>
              </a:rPr>
              <a:t>A 16x2 LCD is used to display the current time, alarm settings, and notifications like medicine reminders.</a:t>
            </a:r>
          </a:p>
          <a:p>
            <a:pPr algn="ctr">
              <a:lnSpc>
                <a:spcPts val="5407"/>
              </a:lnSpc>
              <a:spcBef>
                <a:spcPct val="0"/>
              </a:spcBef>
            </a:pPr>
            <a:r>
              <a:rPr lang="en-US" b="true" sz="3862">
                <a:solidFill>
                  <a:srgbClr val="FFFFFF"/>
                </a:solidFill>
                <a:latin typeface="HK Grotesk Medium"/>
                <a:ea typeface="HK Grotesk Medium"/>
                <a:cs typeface="HK Grotesk Medium"/>
                <a:sym typeface="HK Grotesk Medium"/>
              </a:rPr>
              <a:t>The display updates in real-time, reflecting changes made by the user.</a:t>
            </a:r>
          </a:p>
        </p:txBody>
      </p:sp>
      <p:sp>
        <p:nvSpPr>
          <p:cNvPr name="TextBox 4" id="4"/>
          <p:cNvSpPr txBox="true"/>
          <p:nvPr/>
        </p:nvSpPr>
        <p:spPr>
          <a:xfrm rot="0">
            <a:off x="9144000" y="2709674"/>
            <a:ext cx="8728182" cy="4632782"/>
          </a:xfrm>
          <a:prstGeom prst="rect">
            <a:avLst/>
          </a:prstGeom>
        </p:spPr>
        <p:txBody>
          <a:bodyPr anchor="t" rtlCol="false" tIns="0" lIns="0" bIns="0" rIns="0">
            <a:spAutoFit/>
          </a:bodyPr>
          <a:lstStyle/>
          <a:p>
            <a:pPr algn="ctr">
              <a:lnSpc>
                <a:spcPts val="7394"/>
              </a:lnSpc>
              <a:spcBef>
                <a:spcPct val="0"/>
              </a:spcBef>
            </a:pPr>
            <a:r>
              <a:rPr lang="en-US" b="true" sz="5281">
                <a:solidFill>
                  <a:srgbClr val="FFFFFF"/>
                </a:solidFill>
                <a:latin typeface="HK Grotesk Medium"/>
                <a:ea typeface="HK Grotesk Medium"/>
                <a:cs typeface="HK Grotesk Medium"/>
                <a:sym typeface="HK Grotesk Medium"/>
              </a:rPr>
              <a:t>Power Supply:</a:t>
            </a:r>
          </a:p>
          <a:p>
            <a:pPr algn="ctr">
              <a:lnSpc>
                <a:spcPts val="5854"/>
              </a:lnSpc>
              <a:spcBef>
                <a:spcPct val="0"/>
              </a:spcBef>
            </a:pPr>
            <a:r>
              <a:rPr lang="en-US" b="true" sz="4182">
                <a:solidFill>
                  <a:srgbClr val="FFFFFF"/>
                </a:solidFill>
                <a:latin typeface="HK Grotesk Medium"/>
                <a:ea typeface="HK Grotesk Medium"/>
                <a:cs typeface="HK Grotesk Medium"/>
                <a:sym typeface="HK Grotesk Medium"/>
              </a:rPr>
              <a:t>The system is powered by a 3.3V DC power supply. The RTC is also capable of operating on battery backup for low-power modes, ensuring uninterrupted operation.</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62406B"/>
        </a:solidFill>
      </p:bgPr>
    </p:bg>
    <p:spTree>
      <p:nvGrpSpPr>
        <p:cNvPr id="1" name=""/>
        <p:cNvGrpSpPr/>
        <p:nvPr/>
      </p:nvGrpSpPr>
      <p:grpSpPr>
        <a:xfrm>
          <a:off x="0" y="0"/>
          <a:ext cx="0" cy="0"/>
          <a:chOff x="0" y="0"/>
          <a:chExt cx="0" cy="0"/>
        </a:xfrm>
      </p:grpSpPr>
      <p:sp>
        <p:nvSpPr>
          <p:cNvPr name="TextBox 2" id="2"/>
          <p:cNvSpPr txBox="true"/>
          <p:nvPr/>
        </p:nvSpPr>
        <p:spPr>
          <a:xfrm rot="0">
            <a:off x="3305216" y="588830"/>
            <a:ext cx="12211128" cy="1041666"/>
          </a:xfrm>
          <a:prstGeom prst="rect">
            <a:avLst/>
          </a:prstGeom>
        </p:spPr>
        <p:txBody>
          <a:bodyPr anchor="t" rtlCol="false" tIns="0" lIns="0" bIns="0" rIns="0">
            <a:spAutoFit/>
          </a:bodyPr>
          <a:lstStyle/>
          <a:p>
            <a:pPr algn="ctr">
              <a:lnSpc>
                <a:spcPts val="7839"/>
              </a:lnSpc>
            </a:pPr>
            <a:r>
              <a:rPr lang="en-US" sz="7999" b="true">
                <a:solidFill>
                  <a:srgbClr val="FFFFFF"/>
                </a:solidFill>
                <a:latin typeface="HK Grotesk Bold"/>
                <a:ea typeface="HK Grotesk Bold"/>
                <a:cs typeface="HK Grotesk Bold"/>
                <a:sym typeface="HK Grotesk Bold"/>
              </a:rPr>
              <a:t>WORKING PRINCIPLE</a:t>
            </a:r>
          </a:p>
        </p:txBody>
      </p:sp>
      <p:sp>
        <p:nvSpPr>
          <p:cNvPr name="TextBox 3" id="3"/>
          <p:cNvSpPr txBox="true"/>
          <p:nvPr/>
        </p:nvSpPr>
        <p:spPr>
          <a:xfrm rot="0">
            <a:off x="711597" y="2728724"/>
            <a:ext cx="16864805" cy="5833528"/>
          </a:xfrm>
          <a:prstGeom prst="rect">
            <a:avLst/>
          </a:prstGeom>
        </p:spPr>
        <p:txBody>
          <a:bodyPr anchor="t" rtlCol="false" tIns="0" lIns="0" bIns="0" rIns="0">
            <a:spAutoFit/>
          </a:bodyPr>
          <a:lstStyle/>
          <a:p>
            <a:pPr algn="ctr">
              <a:lnSpc>
                <a:spcPts val="6277"/>
              </a:lnSpc>
              <a:spcBef>
                <a:spcPct val="0"/>
              </a:spcBef>
            </a:pPr>
            <a:r>
              <a:rPr lang="en-US" b="true" sz="4483">
                <a:solidFill>
                  <a:srgbClr val="FFFFFF"/>
                </a:solidFill>
                <a:latin typeface="HK Grotesk Medium"/>
                <a:ea typeface="HK Grotesk Medium"/>
                <a:cs typeface="HK Grotesk Medium"/>
                <a:sym typeface="HK Grotesk Medium"/>
              </a:rPr>
              <a:t>HEART BEAT SENSOR</a:t>
            </a:r>
          </a:p>
          <a:p>
            <a:pPr algn="ctr">
              <a:lnSpc>
                <a:spcPts val="4986"/>
              </a:lnSpc>
              <a:spcBef>
                <a:spcPct val="0"/>
              </a:spcBef>
            </a:pPr>
            <a:r>
              <a:rPr lang="en-US" b="true" sz="3561">
                <a:solidFill>
                  <a:srgbClr val="FFFFFF"/>
                </a:solidFill>
                <a:latin typeface="HK Grotesk Medium"/>
                <a:ea typeface="HK Grotesk Medium"/>
                <a:cs typeface="HK Grotesk Medium"/>
                <a:sym typeface="HK Grotesk Medium"/>
              </a:rPr>
              <a:t>The heartbeat sensor works by detecting the blood flow variations in the fingertip caused by heartbeats. It uses a light-emitting diode (LED) and a photodetector to measure these variations. When the fingertip is placed on the sensor, the LED emits light, and some of this light is absorbed by the blood, while the rest is reflected back to the photodetector. During each heartbeat, the blood volume increases, causing a corresponding change in the amount of light absorbed and reflected. These fluctuations are converted into electrical signals, processed by the microcontroller, and used to calculate the beats per minute (BPM).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580546" y="1520301"/>
            <a:ext cx="12423833" cy="8091021"/>
          </a:xfrm>
          <a:custGeom>
            <a:avLst/>
            <a:gdLst/>
            <a:ahLst/>
            <a:cxnLst/>
            <a:rect r="r" b="b" t="t" l="l"/>
            <a:pathLst>
              <a:path h="8091021" w="12423833">
                <a:moveTo>
                  <a:pt x="0" y="0"/>
                </a:moveTo>
                <a:lnTo>
                  <a:pt x="12423833" y="0"/>
                </a:lnTo>
                <a:lnTo>
                  <a:pt x="12423833" y="8091021"/>
                </a:lnTo>
                <a:lnTo>
                  <a:pt x="0" y="8091021"/>
                </a:lnTo>
                <a:lnTo>
                  <a:pt x="0" y="0"/>
                </a:lnTo>
                <a:close/>
              </a:path>
            </a:pathLst>
          </a:custGeom>
          <a:blipFill>
            <a:blip r:embed="rId2"/>
            <a:stretch>
              <a:fillRect l="0" t="0" r="0" b="0"/>
            </a:stretch>
          </a:blipFill>
        </p:spPr>
      </p:sp>
      <p:sp>
        <p:nvSpPr>
          <p:cNvPr name="TextBox 3" id="3"/>
          <p:cNvSpPr txBox="true"/>
          <p:nvPr/>
        </p:nvSpPr>
        <p:spPr>
          <a:xfrm rot="0">
            <a:off x="3580546" y="155699"/>
            <a:ext cx="12211128" cy="873001"/>
          </a:xfrm>
          <a:prstGeom prst="rect">
            <a:avLst/>
          </a:prstGeom>
        </p:spPr>
        <p:txBody>
          <a:bodyPr anchor="t" rtlCol="false" tIns="0" lIns="0" bIns="0" rIns="0">
            <a:spAutoFit/>
          </a:bodyPr>
          <a:lstStyle/>
          <a:p>
            <a:pPr algn="ctr">
              <a:lnSpc>
                <a:spcPts val="6566"/>
              </a:lnSpc>
            </a:pPr>
            <a:r>
              <a:rPr lang="en-US" sz="6700" b="true">
                <a:solidFill>
                  <a:srgbClr val="171717"/>
                </a:solidFill>
                <a:latin typeface="HK Grotesk Bold"/>
                <a:ea typeface="HK Grotesk Bold"/>
                <a:cs typeface="HK Grotesk Bold"/>
                <a:sym typeface="HK Grotesk Bold"/>
              </a:rPr>
              <a:t>CIRCUIT DIAGRAM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41576" y="1270034"/>
            <a:ext cx="13203746" cy="7988266"/>
          </a:xfrm>
          <a:custGeom>
            <a:avLst/>
            <a:gdLst/>
            <a:ahLst/>
            <a:cxnLst/>
            <a:rect r="r" b="b" t="t" l="l"/>
            <a:pathLst>
              <a:path h="7988266" w="13203746">
                <a:moveTo>
                  <a:pt x="0" y="0"/>
                </a:moveTo>
                <a:lnTo>
                  <a:pt x="13203746" y="0"/>
                </a:lnTo>
                <a:lnTo>
                  <a:pt x="13203746" y="7988266"/>
                </a:lnTo>
                <a:lnTo>
                  <a:pt x="0" y="7988266"/>
                </a:lnTo>
                <a:lnTo>
                  <a:pt x="0" y="0"/>
                </a:lnTo>
                <a:close/>
              </a:path>
            </a:pathLst>
          </a:custGeom>
          <a:blipFill>
            <a:blip r:embed="rId2"/>
            <a:stretch>
              <a:fillRect l="0" t="0" r="0" b="0"/>
            </a:stretch>
          </a:blipFill>
        </p:spPr>
      </p:sp>
      <p:sp>
        <p:nvSpPr>
          <p:cNvPr name="TextBox 3" id="3"/>
          <p:cNvSpPr txBox="true"/>
          <p:nvPr/>
        </p:nvSpPr>
        <p:spPr>
          <a:xfrm rot="0">
            <a:off x="3580546" y="155699"/>
            <a:ext cx="12211128" cy="873001"/>
          </a:xfrm>
          <a:prstGeom prst="rect">
            <a:avLst/>
          </a:prstGeom>
        </p:spPr>
        <p:txBody>
          <a:bodyPr anchor="t" rtlCol="false" tIns="0" lIns="0" bIns="0" rIns="0">
            <a:spAutoFit/>
          </a:bodyPr>
          <a:lstStyle/>
          <a:p>
            <a:pPr algn="ctr">
              <a:lnSpc>
                <a:spcPts val="6566"/>
              </a:lnSpc>
            </a:pPr>
            <a:r>
              <a:rPr lang="en-US" sz="6700" b="true">
                <a:solidFill>
                  <a:srgbClr val="171717"/>
                </a:solidFill>
                <a:latin typeface="HK Grotesk Bold"/>
                <a:ea typeface="HK Grotesk Bold"/>
                <a:cs typeface="HK Grotesk Bold"/>
                <a:sym typeface="HK Grotesk Bold"/>
              </a:rPr>
              <a:t>SIMULATION RESULTS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965432" y="1467252"/>
            <a:ext cx="13536792" cy="8054391"/>
          </a:xfrm>
          <a:custGeom>
            <a:avLst/>
            <a:gdLst/>
            <a:ahLst/>
            <a:cxnLst/>
            <a:rect r="r" b="b" t="t" l="l"/>
            <a:pathLst>
              <a:path h="8054391" w="13536792">
                <a:moveTo>
                  <a:pt x="0" y="0"/>
                </a:moveTo>
                <a:lnTo>
                  <a:pt x="13536792" y="0"/>
                </a:lnTo>
                <a:lnTo>
                  <a:pt x="13536792" y="8054391"/>
                </a:lnTo>
                <a:lnTo>
                  <a:pt x="0" y="8054391"/>
                </a:lnTo>
                <a:lnTo>
                  <a:pt x="0" y="0"/>
                </a:lnTo>
                <a:close/>
              </a:path>
            </a:pathLst>
          </a:custGeom>
          <a:blipFill>
            <a:blip r:embed="rId2"/>
            <a:stretch>
              <a:fillRect l="0" t="0" r="0" b="0"/>
            </a:stretch>
          </a:blipFill>
        </p:spPr>
      </p:sp>
      <p:sp>
        <p:nvSpPr>
          <p:cNvPr name="TextBox 3" id="3"/>
          <p:cNvSpPr txBox="true"/>
          <p:nvPr/>
        </p:nvSpPr>
        <p:spPr>
          <a:xfrm rot="0">
            <a:off x="3580546" y="155699"/>
            <a:ext cx="12211128" cy="873001"/>
          </a:xfrm>
          <a:prstGeom prst="rect">
            <a:avLst/>
          </a:prstGeom>
        </p:spPr>
        <p:txBody>
          <a:bodyPr anchor="t" rtlCol="false" tIns="0" lIns="0" bIns="0" rIns="0">
            <a:spAutoFit/>
          </a:bodyPr>
          <a:lstStyle/>
          <a:p>
            <a:pPr algn="ctr">
              <a:lnSpc>
                <a:spcPts val="6566"/>
              </a:lnSpc>
            </a:pPr>
            <a:r>
              <a:rPr lang="en-US" sz="6700" b="true">
                <a:solidFill>
                  <a:srgbClr val="171717"/>
                </a:solidFill>
                <a:latin typeface="HK Grotesk Bold"/>
                <a:ea typeface="HK Grotesk Bold"/>
                <a:cs typeface="HK Grotesk Bold"/>
                <a:sym typeface="HK Grotesk Bold"/>
              </a:rPr>
              <a:t>SIMULATION RESULTS</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62406B"/>
        </a:solidFill>
      </p:bgPr>
    </p:bg>
    <p:spTree>
      <p:nvGrpSpPr>
        <p:cNvPr id="1" name=""/>
        <p:cNvGrpSpPr/>
        <p:nvPr/>
      </p:nvGrpSpPr>
      <p:grpSpPr>
        <a:xfrm>
          <a:off x="0" y="0"/>
          <a:ext cx="0" cy="0"/>
          <a:chOff x="0" y="0"/>
          <a:chExt cx="0" cy="0"/>
        </a:xfrm>
      </p:grpSpPr>
      <p:sp>
        <p:nvSpPr>
          <p:cNvPr name="TextBox 2" id="2"/>
          <p:cNvSpPr txBox="true"/>
          <p:nvPr/>
        </p:nvSpPr>
        <p:spPr>
          <a:xfrm rot="0">
            <a:off x="0" y="778207"/>
            <a:ext cx="18288000" cy="9086850"/>
          </a:xfrm>
          <a:prstGeom prst="rect">
            <a:avLst/>
          </a:prstGeom>
        </p:spPr>
        <p:txBody>
          <a:bodyPr anchor="t" rtlCol="false" tIns="0" lIns="0" bIns="0" rIns="0">
            <a:spAutoFit/>
          </a:bodyPr>
          <a:lstStyle/>
          <a:p>
            <a:pPr algn="ctr">
              <a:lnSpc>
                <a:spcPts val="8582"/>
              </a:lnSpc>
              <a:spcBef>
                <a:spcPct val="0"/>
              </a:spcBef>
            </a:pPr>
            <a:r>
              <a:rPr lang="en-US" b="true" sz="7152">
                <a:solidFill>
                  <a:srgbClr val="FFFFFF"/>
                </a:solidFill>
                <a:latin typeface="HK Grotesk Bold"/>
                <a:ea typeface="HK Grotesk Bold"/>
                <a:cs typeface="HK Grotesk Bold"/>
                <a:sym typeface="HK Grotesk Bold"/>
              </a:rPr>
              <a:t>CONCLUSION </a:t>
            </a:r>
          </a:p>
          <a:p>
            <a:pPr algn="ctr">
              <a:lnSpc>
                <a:spcPts val="5268"/>
              </a:lnSpc>
              <a:spcBef>
                <a:spcPct val="0"/>
              </a:spcBef>
            </a:pPr>
            <a:r>
              <a:rPr lang="en-US" b="true" sz="4390">
                <a:solidFill>
                  <a:srgbClr val="FFFFFF"/>
                </a:solidFill>
                <a:latin typeface="HK Grotesk Bold"/>
                <a:ea typeface="HK Grotesk Bold"/>
                <a:cs typeface="HK Grotesk Bold"/>
                <a:sym typeface="HK Grotesk Bold"/>
              </a:rPr>
              <a:t>THE SMART MEDICINE REMINDER WITH HEARTBEAT DETECTION AND RTC ALARM SYSTEM EFFECTIVELY COMBINES REAL-TIME CLOCK (RTC) FUNCTIONALITY WITH HEARTBEAT MONITORING TO ADDRESS CRITICAL HEALTHCARE NEEDS. THE SYSTEM PROVIDES TIMELY MEDICINE REMINDERS THROUGH AN AUDIBLE BUZZER AND VISUAL ALERTS ON AN LCD, ENSURING PATIENTS ADHERE TO THEIR MEDICATION SCHEDULES. ADDITIONALLY, THE HEARTBEAT DETECTION FEATURE ENABLES BASIC HEALTH MONITORING BY CALCULATING BEATS PER MINUTE (BPM), WHICH IS ESPECIALLY USEFUL FOR INDIVIDUALS WITH MEDICAL CONDITIONS. BY INTEGRATING PERIPHERALS SUCH AS A KEYPAD, LCD, AND HEARTBEAT SENSOR WITH THE LPC2138 MICROCONTROLLER, THIS PROJECT DEMONSTRATES A RELIABLE, USER-FRIENDLY, AND COST-EFFECTIVE HEALTHCARE SOLUTION.</a:t>
            </a:r>
          </a:p>
          <a:p>
            <a:pPr algn="ctr">
              <a:lnSpc>
                <a:spcPts val="5268"/>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62406B"/>
        </a:solidFill>
      </p:bgPr>
    </p:bg>
    <p:spTree>
      <p:nvGrpSpPr>
        <p:cNvPr id="1" name=""/>
        <p:cNvGrpSpPr/>
        <p:nvPr/>
      </p:nvGrpSpPr>
      <p:grpSpPr>
        <a:xfrm>
          <a:off x="0" y="0"/>
          <a:ext cx="0" cy="0"/>
          <a:chOff x="0" y="0"/>
          <a:chExt cx="0" cy="0"/>
        </a:xfrm>
      </p:grpSpPr>
      <p:sp>
        <p:nvSpPr>
          <p:cNvPr name="AutoShape 2" id="2"/>
          <p:cNvSpPr/>
          <p:nvPr/>
        </p:nvSpPr>
        <p:spPr>
          <a:xfrm rot="0">
            <a:off x="9144000" y="0"/>
            <a:ext cx="9144000" cy="10347474"/>
          </a:xfrm>
          <a:prstGeom prst="rect">
            <a:avLst/>
          </a:prstGeom>
          <a:solidFill>
            <a:srgbClr val="FFFFFF"/>
          </a:solidFill>
        </p:spPr>
      </p:sp>
      <p:sp>
        <p:nvSpPr>
          <p:cNvPr name="AutoShape 3" id="3"/>
          <p:cNvSpPr/>
          <p:nvPr/>
        </p:nvSpPr>
        <p:spPr>
          <a:xfrm rot="-5400000">
            <a:off x="7583203" y="616657"/>
            <a:ext cx="35651" cy="1142120"/>
          </a:xfrm>
          <a:prstGeom prst="rect">
            <a:avLst/>
          </a:prstGeom>
          <a:solidFill>
            <a:srgbClr val="FFFFFF"/>
          </a:solidFill>
        </p:spPr>
      </p:sp>
      <p:sp>
        <p:nvSpPr>
          <p:cNvPr name="TextBox 4" id="4"/>
          <p:cNvSpPr txBox="true"/>
          <p:nvPr/>
        </p:nvSpPr>
        <p:spPr>
          <a:xfrm rot="0">
            <a:off x="0" y="4521444"/>
            <a:ext cx="9088466" cy="1435771"/>
          </a:xfrm>
          <a:prstGeom prst="rect">
            <a:avLst/>
          </a:prstGeom>
        </p:spPr>
        <p:txBody>
          <a:bodyPr anchor="t" rtlCol="false" tIns="0" lIns="0" bIns="0" rIns="0">
            <a:spAutoFit/>
          </a:bodyPr>
          <a:lstStyle/>
          <a:p>
            <a:pPr algn="ctr">
              <a:lnSpc>
                <a:spcPts val="10841"/>
              </a:lnSpc>
            </a:pPr>
            <a:r>
              <a:rPr lang="en-US" sz="11062" b="true">
                <a:solidFill>
                  <a:srgbClr val="FFFFFF"/>
                </a:solidFill>
                <a:latin typeface="HK Grotesk Bold"/>
                <a:ea typeface="HK Grotesk Bold"/>
                <a:cs typeface="HK Grotesk Bold"/>
                <a:sym typeface="HK Grotesk Bold"/>
              </a:rPr>
              <a:t>GROUP 5</a:t>
            </a:r>
          </a:p>
        </p:txBody>
      </p:sp>
      <p:grpSp>
        <p:nvGrpSpPr>
          <p:cNvPr name="Group 5" id="5"/>
          <p:cNvGrpSpPr/>
          <p:nvPr/>
        </p:nvGrpSpPr>
        <p:grpSpPr>
          <a:xfrm rot="0">
            <a:off x="9852839" y="828379"/>
            <a:ext cx="5571662" cy="2038853"/>
            <a:chOff x="0" y="0"/>
            <a:chExt cx="7428882" cy="2718471"/>
          </a:xfrm>
        </p:grpSpPr>
        <p:sp>
          <p:nvSpPr>
            <p:cNvPr name="TextBox 6" id="6"/>
            <p:cNvSpPr txBox="true"/>
            <p:nvPr/>
          </p:nvSpPr>
          <p:spPr>
            <a:xfrm rot="0">
              <a:off x="0" y="0"/>
              <a:ext cx="7428882" cy="1510616"/>
            </a:xfrm>
            <a:prstGeom prst="rect">
              <a:avLst/>
            </a:prstGeom>
          </p:spPr>
          <p:txBody>
            <a:bodyPr anchor="t" rtlCol="false" tIns="0" lIns="0" bIns="0" rIns="0">
              <a:spAutoFit/>
            </a:bodyPr>
            <a:lstStyle/>
            <a:p>
              <a:pPr algn="l">
                <a:lnSpc>
                  <a:spcPts val="4477"/>
                </a:lnSpc>
              </a:pPr>
              <a:r>
                <a:rPr lang="en-US" sz="3731" b="true">
                  <a:solidFill>
                    <a:srgbClr val="000000"/>
                  </a:solidFill>
                  <a:latin typeface="HK Grotesk Bold"/>
                  <a:ea typeface="HK Grotesk Bold"/>
                  <a:cs typeface="HK Grotesk Bold"/>
                  <a:sym typeface="HK Grotesk Bold"/>
                </a:rPr>
                <a:t>RAVI TEJA.M</a:t>
              </a:r>
            </a:p>
            <a:p>
              <a:pPr algn="l">
                <a:lnSpc>
                  <a:spcPts val="4477"/>
                </a:lnSpc>
              </a:pPr>
              <a:r>
                <a:rPr lang="en-US" sz="3731" b="true">
                  <a:solidFill>
                    <a:srgbClr val="000000"/>
                  </a:solidFill>
                  <a:latin typeface="HK Grotesk Bold"/>
                  <a:ea typeface="HK Grotesk Bold"/>
                  <a:cs typeface="HK Grotesk Bold"/>
                  <a:sym typeface="HK Grotesk Bold"/>
                </a:rPr>
                <a:t>AM.EN.U4ECE22024</a:t>
              </a:r>
            </a:p>
          </p:txBody>
        </p:sp>
        <p:sp>
          <p:nvSpPr>
            <p:cNvPr name="TextBox 7" id="7"/>
            <p:cNvSpPr txBox="true"/>
            <p:nvPr/>
          </p:nvSpPr>
          <p:spPr>
            <a:xfrm rot="0">
              <a:off x="0" y="1949733"/>
              <a:ext cx="7428882" cy="768738"/>
            </a:xfrm>
            <a:prstGeom prst="rect">
              <a:avLst/>
            </a:prstGeom>
          </p:spPr>
          <p:txBody>
            <a:bodyPr anchor="t" rtlCol="false" tIns="0" lIns="0" bIns="0" rIns="0">
              <a:spAutoFit/>
            </a:bodyPr>
            <a:lstStyle/>
            <a:p>
              <a:pPr algn="l">
                <a:lnSpc>
                  <a:spcPts val="4897"/>
                </a:lnSpc>
                <a:spcBef>
                  <a:spcPct val="0"/>
                </a:spcBef>
              </a:pPr>
              <a:r>
                <a:rPr lang="en-US" sz="3498" b="true">
                  <a:solidFill>
                    <a:srgbClr val="FFFFFF"/>
                  </a:solidFill>
                  <a:latin typeface="HK Grotesk Medium"/>
                  <a:ea typeface="HK Grotesk Medium"/>
                  <a:cs typeface="HK Grotesk Medium"/>
                  <a:sym typeface="HK Grotesk Medium"/>
                </a:rPr>
                <a:t>President</a:t>
              </a:r>
            </a:p>
          </p:txBody>
        </p:sp>
      </p:grpSp>
      <p:grpSp>
        <p:nvGrpSpPr>
          <p:cNvPr name="Group 8" id="8"/>
          <p:cNvGrpSpPr/>
          <p:nvPr/>
        </p:nvGrpSpPr>
        <p:grpSpPr>
          <a:xfrm rot="0">
            <a:off x="9852839" y="2442377"/>
            <a:ext cx="5571662" cy="2038853"/>
            <a:chOff x="0" y="0"/>
            <a:chExt cx="7428882" cy="2718471"/>
          </a:xfrm>
        </p:grpSpPr>
        <p:sp>
          <p:nvSpPr>
            <p:cNvPr name="TextBox 9" id="9"/>
            <p:cNvSpPr txBox="true"/>
            <p:nvPr/>
          </p:nvSpPr>
          <p:spPr>
            <a:xfrm rot="0">
              <a:off x="0" y="0"/>
              <a:ext cx="7428882" cy="1510616"/>
            </a:xfrm>
            <a:prstGeom prst="rect">
              <a:avLst/>
            </a:prstGeom>
          </p:spPr>
          <p:txBody>
            <a:bodyPr anchor="t" rtlCol="false" tIns="0" lIns="0" bIns="0" rIns="0">
              <a:spAutoFit/>
            </a:bodyPr>
            <a:lstStyle/>
            <a:p>
              <a:pPr algn="l">
                <a:lnSpc>
                  <a:spcPts val="4477"/>
                </a:lnSpc>
              </a:pPr>
              <a:r>
                <a:rPr lang="en-US" sz="3731" b="true">
                  <a:solidFill>
                    <a:srgbClr val="000000"/>
                  </a:solidFill>
                  <a:latin typeface="HK Grotesk Bold"/>
                  <a:ea typeface="HK Grotesk Bold"/>
                  <a:cs typeface="HK Grotesk Bold"/>
                  <a:sym typeface="HK Grotesk Bold"/>
                </a:rPr>
                <a:t>VIVEKANANDA.N</a:t>
              </a:r>
            </a:p>
            <a:p>
              <a:pPr algn="l">
                <a:lnSpc>
                  <a:spcPts val="4477"/>
                </a:lnSpc>
              </a:pPr>
              <a:r>
                <a:rPr lang="en-US" sz="3731" b="true">
                  <a:solidFill>
                    <a:srgbClr val="000000"/>
                  </a:solidFill>
                  <a:latin typeface="HK Grotesk Bold"/>
                  <a:ea typeface="HK Grotesk Bold"/>
                  <a:cs typeface="HK Grotesk Bold"/>
                  <a:sym typeface="HK Grotesk Bold"/>
                </a:rPr>
                <a:t>AM.EN.U4ECE22028</a:t>
              </a:r>
            </a:p>
          </p:txBody>
        </p:sp>
        <p:sp>
          <p:nvSpPr>
            <p:cNvPr name="TextBox 10" id="10"/>
            <p:cNvSpPr txBox="true"/>
            <p:nvPr/>
          </p:nvSpPr>
          <p:spPr>
            <a:xfrm rot="0">
              <a:off x="0" y="1949733"/>
              <a:ext cx="7428882" cy="768738"/>
            </a:xfrm>
            <a:prstGeom prst="rect">
              <a:avLst/>
            </a:prstGeom>
          </p:spPr>
          <p:txBody>
            <a:bodyPr anchor="t" rtlCol="false" tIns="0" lIns="0" bIns="0" rIns="0">
              <a:spAutoFit/>
            </a:bodyPr>
            <a:lstStyle/>
            <a:p>
              <a:pPr algn="l">
                <a:lnSpc>
                  <a:spcPts val="4897"/>
                </a:lnSpc>
                <a:spcBef>
                  <a:spcPct val="0"/>
                </a:spcBef>
              </a:pPr>
              <a:r>
                <a:rPr lang="en-US" sz="3498" b="true">
                  <a:solidFill>
                    <a:srgbClr val="FFFFFF"/>
                  </a:solidFill>
                  <a:latin typeface="HK Grotesk Medium"/>
                  <a:ea typeface="HK Grotesk Medium"/>
                  <a:cs typeface="HK Grotesk Medium"/>
                  <a:sym typeface="HK Grotesk Medium"/>
                </a:rPr>
                <a:t>President</a:t>
              </a:r>
            </a:p>
          </p:txBody>
        </p:sp>
      </p:grpSp>
      <p:grpSp>
        <p:nvGrpSpPr>
          <p:cNvPr name="Group 11" id="11"/>
          <p:cNvGrpSpPr/>
          <p:nvPr/>
        </p:nvGrpSpPr>
        <p:grpSpPr>
          <a:xfrm rot="0">
            <a:off x="9852839" y="4154310"/>
            <a:ext cx="5571662" cy="2038853"/>
            <a:chOff x="0" y="0"/>
            <a:chExt cx="7428882" cy="2718471"/>
          </a:xfrm>
        </p:grpSpPr>
        <p:sp>
          <p:nvSpPr>
            <p:cNvPr name="TextBox 12" id="12"/>
            <p:cNvSpPr txBox="true"/>
            <p:nvPr/>
          </p:nvSpPr>
          <p:spPr>
            <a:xfrm rot="0">
              <a:off x="0" y="0"/>
              <a:ext cx="7428882" cy="1510616"/>
            </a:xfrm>
            <a:prstGeom prst="rect">
              <a:avLst/>
            </a:prstGeom>
          </p:spPr>
          <p:txBody>
            <a:bodyPr anchor="t" rtlCol="false" tIns="0" lIns="0" bIns="0" rIns="0">
              <a:spAutoFit/>
            </a:bodyPr>
            <a:lstStyle/>
            <a:p>
              <a:pPr algn="l">
                <a:lnSpc>
                  <a:spcPts val="4477"/>
                </a:lnSpc>
              </a:pPr>
              <a:r>
                <a:rPr lang="en-US" sz="3731" b="true">
                  <a:solidFill>
                    <a:srgbClr val="000000"/>
                  </a:solidFill>
                  <a:latin typeface="HK Grotesk Bold"/>
                  <a:ea typeface="HK Grotesk Bold"/>
                  <a:cs typeface="HK Grotesk Bold"/>
                  <a:sym typeface="HK Grotesk Bold"/>
                </a:rPr>
                <a:t>JHANSI LAKSHMI.P</a:t>
              </a:r>
            </a:p>
            <a:p>
              <a:pPr algn="l">
                <a:lnSpc>
                  <a:spcPts val="4477"/>
                </a:lnSpc>
              </a:pPr>
              <a:r>
                <a:rPr lang="en-US" sz="3731" b="true">
                  <a:solidFill>
                    <a:srgbClr val="000000"/>
                  </a:solidFill>
                  <a:latin typeface="HK Grotesk Bold"/>
                  <a:ea typeface="HK Grotesk Bold"/>
                  <a:cs typeface="HK Grotesk Bold"/>
                  <a:sym typeface="HK Grotesk Bold"/>
                </a:rPr>
                <a:t>AM.EN.U4ECE22035</a:t>
              </a:r>
            </a:p>
          </p:txBody>
        </p:sp>
        <p:sp>
          <p:nvSpPr>
            <p:cNvPr name="TextBox 13" id="13"/>
            <p:cNvSpPr txBox="true"/>
            <p:nvPr/>
          </p:nvSpPr>
          <p:spPr>
            <a:xfrm rot="0">
              <a:off x="0" y="1949733"/>
              <a:ext cx="7428882" cy="768738"/>
            </a:xfrm>
            <a:prstGeom prst="rect">
              <a:avLst/>
            </a:prstGeom>
          </p:spPr>
          <p:txBody>
            <a:bodyPr anchor="t" rtlCol="false" tIns="0" lIns="0" bIns="0" rIns="0">
              <a:spAutoFit/>
            </a:bodyPr>
            <a:lstStyle/>
            <a:p>
              <a:pPr algn="l">
                <a:lnSpc>
                  <a:spcPts val="4897"/>
                </a:lnSpc>
                <a:spcBef>
                  <a:spcPct val="0"/>
                </a:spcBef>
              </a:pPr>
              <a:r>
                <a:rPr lang="en-US" sz="3498" b="true">
                  <a:solidFill>
                    <a:srgbClr val="FFFFFF"/>
                  </a:solidFill>
                  <a:latin typeface="HK Grotesk Medium"/>
                  <a:ea typeface="HK Grotesk Medium"/>
                  <a:cs typeface="HK Grotesk Medium"/>
                  <a:sym typeface="HK Grotesk Medium"/>
                </a:rPr>
                <a:t>President</a:t>
              </a:r>
            </a:p>
          </p:txBody>
        </p:sp>
      </p:grpSp>
      <p:grpSp>
        <p:nvGrpSpPr>
          <p:cNvPr name="Group 14" id="14"/>
          <p:cNvGrpSpPr/>
          <p:nvPr/>
        </p:nvGrpSpPr>
        <p:grpSpPr>
          <a:xfrm rot="0">
            <a:off x="9852839" y="5957215"/>
            <a:ext cx="5571662" cy="2038853"/>
            <a:chOff x="0" y="0"/>
            <a:chExt cx="7428882" cy="2718471"/>
          </a:xfrm>
        </p:grpSpPr>
        <p:sp>
          <p:nvSpPr>
            <p:cNvPr name="TextBox 15" id="15"/>
            <p:cNvSpPr txBox="true"/>
            <p:nvPr/>
          </p:nvSpPr>
          <p:spPr>
            <a:xfrm rot="0">
              <a:off x="0" y="0"/>
              <a:ext cx="7428882" cy="1510616"/>
            </a:xfrm>
            <a:prstGeom prst="rect">
              <a:avLst/>
            </a:prstGeom>
          </p:spPr>
          <p:txBody>
            <a:bodyPr anchor="t" rtlCol="false" tIns="0" lIns="0" bIns="0" rIns="0">
              <a:spAutoFit/>
            </a:bodyPr>
            <a:lstStyle/>
            <a:p>
              <a:pPr algn="l">
                <a:lnSpc>
                  <a:spcPts val="4477"/>
                </a:lnSpc>
              </a:pPr>
              <a:r>
                <a:rPr lang="en-US" sz="3731" b="true">
                  <a:solidFill>
                    <a:srgbClr val="000000"/>
                  </a:solidFill>
                  <a:latin typeface="HK Grotesk Bold"/>
                  <a:ea typeface="HK Grotesk Bold"/>
                  <a:cs typeface="HK Grotesk Bold"/>
                  <a:sym typeface="HK Grotesk Bold"/>
                </a:rPr>
                <a:t>SASANK.K</a:t>
              </a:r>
            </a:p>
            <a:p>
              <a:pPr algn="l">
                <a:lnSpc>
                  <a:spcPts val="4477"/>
                </a:lnSpc>
              </a:pPr>
              <a:r>
                <a:rPr lang="en-US" sz="3731" b="true">
                  <a:solidFill>
                    <a:srgbClr val="000000"/>
                  </a:solidFill>
                  <a:latin typeface="HK Grotesk Bold"/>
                  <a:ea typeface="HK Grotesk Bold"/>
                  <a:cs typeface="HK Grotesk Bold"/>
                  <a:sym typeface="HK Grotesk Bold"/>
                </a:rPr>
                <a:t>AM.EN.U4ECE22055</a:t>
              </a:r>
            </a:p>
          </p:txBody>
        </p:sp>
        <p:sp>
          <p:nvSpPr>
            <p:cNvPr name="TextBox 16" id="16"/>
            <p:cNvSpPr txBox="true"/>
            <p:nvPr/>
          </p:nvSpPr>
          <p:spPr>
            <a:xfrm rot="0">
              <a:off x="0" y="1949733"/>
              <a:ext cx="7428882" cy="768738"/>
            </a:xfrm>
            <a:prstGeom prst="rect">
              <a:avLst/>
            </a:prstGeom>
          </p:spPr>
          <p:txBody>
            <a:bodyPr anchor="t" rtlCol="false" tIns="0" lIns="0" bIns="0" rIns="0">
              <a:spAutoFit/>
            </a:bodyPr>
            <a:lstStyle/>
            <a:p>
              <a:pPr algn="l">
                <a:lnSpc>
                  <a:spcPts val="4897"/>
                </a:lnSpc>
                <a:spcBef>
                  <a:spcPct val="0"/>
                </a:spcBef>
              </a:pPr>
              <a:r>
                <a:rPr lang="en-US" sz="3498" b="true">
                  <a:solidFill>
                    <a:srgbClr val="FFFFFF"/>
                  </a:solidFill>
                  <a:latin typeface="HK Grotesk Medium"/>
                  <a:ea typeface="HK Grotesk Medium"/>
                  <a:cs typeface="HK Grotesk Medium"/>
                  <a:sym typeface="HK Grotesk Medium"/>
                </a:rPr>
                <a:t>President</a:t>
              </a:r>
            </a:p>
          </p:txBody>
        </p:sp>
      </p:grpSp>
      <p:grpSp>
        <p:nvGrpSpPr>
          <p:cNvPr name="Group 17" id="17"/>
          <p:cNvGrpSpPr/>
          <p:nvPr/>
        </p:nvGrpSpPr>
        <p:grpSpPr>
          <a:xfrm rot="0">
            <a:off x="9852839" y="7733149"/>
            <a:ext cx="5571662" cy="2038853"/>
            <a:chOff x="0" y="0"/>
            <a:chExt cx="7428882" cy="2718471"/>
          </a:xfrm>
        </p:grpSpPr>
        <p:sp>
          <p:nvSpPr>
            <p:cNvPr name="TextBox 18" id="18"/>
            <p:cNvSpPr txBox="true"/>
            <p:nvPr/>
          </p:nvSpPr>
          <p:spPr>
            <a:xfrm rot="0">
              <a:off x="0" y="0"/>
              <a:ext cx="7428882" cy="1510616"/>
            </a:xfrm>
            <a:prstGeom prst="rect">
              <a:avLst/>
            </a:prstGeom>
          </p:spPr>
          <p:txBody>
            <a:bodyPr anchor="t" rtlCol="false" tIns="0" lIns="0" bIns="0" rIns="0">
              <a:spAutoFit/>
            </a:bodyPr>
            <a:lstStyle/>
            <a:p>
              <a:pPr algn="l">
                <a:lnSpc>
                  <a:spcPts val="4477"/>
                </a:lnSpc>
              </a:pPr>
              <a:r>
                <a:rPr lang="en-US" sz="3731" b="true">
                  <a:solidFill>
                    <a:srgbClr val="000000"/>
                  </a:solidFill>
                  <a:latin typeface="HK Grotesk Bold"/>
                  <a:ea typeface="HK Grotesk Bold"/>
                  <a:cs typeface="HK Grotesk Bold"/>
                  <a:sym typeface="HK Grotesk Bold"/>
                </a:rPr>
                <a:t>S.SAI SRI SAHITI</a:t>
              </a:r>
            </a:p>
            <a:p>
              <a:pPr algn="l">
                <a:lnSpc>
                  <a:spcPts val="4477"/>
                </a:lnSpc>
              </a:pPr>
              <a:r>
                <a:rPr lang="en-US" sz="3731" b="true">
                  <a:solidFill>
                    <a:srgbClr val="000000"/>
                  </a:solidFill>
                  <a:latin typeface="HK Grotesk Bold"/>
                  <a:ea typeface="HK Grotesk Bold"/>
                  <a:cs typeface="HK Grotesk Bold"/>
                  <a:sym typeface="HK Grotesk Bold"/>
                </a:rPr>
                <a:t>AM.EN.U4ECE22058</a:t>
              </a:r>
            </a:p>
          </p:txBody>
        </p:sp>
        <p:sp>
          <p:nvSpPr>
            <p:cNvPr name="TextBox 19" id="19"/>
            <p:cNvSpPr txBox="true"/>
            <p:nvPr/>
          </p:nvSpPr>
          <p:spPr>
            <a:xfrm rot="0">
              <a:off x="0" y="1949733"/>
              <a:ext cx="7428882" cy="768738"/>
            </a:xfrm>
            <a:prstGeom prst="rect">
              <a:avLst/>
            </a:prstGeom>
          </p:spPr>
          <p:txBody>
            <a:bodyPr anchor="t" rtlCol="false" tIns="0" lIns="0" bIns="0" rIns="0">
              <a:spAutoFit/>
            </a:bodyPr>
            <a:lstStyle/>
            <a:p>
              <a:pPr algn="l">
                <a:lnSpc>
                  <a:spcPts val="4897"/>
                </a:lnSpc>
                <a:spcBef>
                  <a:spcPct val="0"/>
                </a:spcBef>
              </a:pPr>
              <a:r>
                <a:rPr lang="en-US" sz="3498" b="true">
                  <a:solidFill>
                    <a:srgbClr val="FFFFFF"/>
                  </a:solidFill>
                  <a:latin typeface="HK Grotesk Medium"/>
                  <a:ea typeface="HK Grotesk Medium"/>
                  <a:cs typeface="HK Grotesk Medium"/>
                  <a:sym typeface="HK Grotesk Medium"/>
                </a:rPr>
                <a:t>President</a:t>
              </a:r>
            </a:p>
          </p:txBody>
        </p:sp>
      </p:grpSp>
    </p:spTree>
  </p:cSld>
  <p:clrMapOvr>
    <a:masterClrMapping/>
  </p:clrMapOvr>
</p:sld>
</file>

<file path=ppt/slides/slide14.xml><?xml version="1.0" encoding="utf-8"?>
<p:sld xmlns:p="http://schemas.openxmlformats.org/presentationml/2006/main" xmlns:a="http://schemas.openxmlformats.org/drawingml/2006/main">
  <p:cSld>
    <p:bg>
      <p:bgPr>
        <a:solidFill>
          <a:srgbClr val="62406B"/>
        </a:solidFill>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DAGZwlVhIlg</dc:identifier>
  <dcterms:modified xsi:type="dcterms:W3CDTF">2011-08-01T06:04:30Z</dcterms:modified>
  <cp:revision>1</cp:revision>
  <dc:title>i-TEAM</dc:title>
</cp:coreProperties>
</file>